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96"/>
  </p:notesMasterIdLst>
  <p:sldIdLst>
    <p:sldId id="256" r:id="rId2"/>
    <p:sldId id="259" r:id="rId3"/>
    <p:sldId id="374" r:id="rId4"/>
    <p:sldId id="375" r:id="rId5"/>
    <p:sldId id="278" r:id="rId6"/>
    <p:sldId id="269" r:id="rId7"/>
    <p:sldId id="268" r:id="rId8"/>
    <p:sldId id="270" r:id="rId9"/>
    <p:sldId id="272" r:id="rId10"/>
    <p:sldId id="271" r:id="rId11"/>
    <p:sldId id="273" r:id="rId12"/>
    <p:sldId id="274" r:id="rId13"/>
    <p:sldId id="257" r:id="rId14"/>
    <p:sldId id="258" r:id="rId15"/>
    <p:sldId id="261" r:id="rId16"/>
    <p:sldId id="262" r:id="rId17"/>
    <p:sldId id="263" r:id="rId18"/>
    <p:sldId id="264" r:id="rId19"/>
    <p:sldId id="265" r:id="rId20"/>
    <p:sldId id="266" r:id="rId21"/>
    <p:sldId id="267" r:id="rId22"/>
    <p:sldId id="279" r:id="rId23"/>
    <p:sldId id="275" r:id="rId24"/>
    <p:sldId id="277" r:id="rId25"/>
    <p:sldId id="288" r:id="rId26"/>
    <p:sldId id="363" r:id="rId27"/>
    <p:sldId id="276" r:id="rId28"/>
    <p:sldId id="303" r:id="rId29"/>
    <p:sldId id="304" r:id="rId30"/>
    <p:sldId id="287" r:id="rId31"/>
    <p:sldId id="307" r:id="rId32"/>
    <p:sldId id="308" r:id="rId33"/>
    <p:sldId id="316" r:id="rId34"/>
    <p:sldId id="310" r:id="rId35"/>
    <p:sldId id="317" r:id="rId36"/>
    <p:sldId id="325" r:id="rId37"/>
    <p:sldId id="324" r:id="rId38"/>
    <p:sldId id="319" r:id="rId39"/>
    <p:sldId id="320" r:id="rId40"/>
    <p:sldId id="321" r:id="rId41"/>
    <p:sldId id="322" r:id="rId42"/>
    <p:sldId id="323" r:id="rId43"/>
    <p:sldId id="309" r:id="rId44"/>
    <p:sldId id="318" r:id="rId45"/>
    <p:sldId id="315" r:id="rId46"/>
    <p:sldId id="332" r:id="rId47"/>
    <p:sldId id="333" r:id="rId48"/>
    <p:sldId id="337" r:id="rId49"/>
    <p:sldId id="336" r:id="rId50"/>
    <p:sldId id="338" r:id="rId51"/>
    <p:sldId id="339" r:id="rId52"/>
    <p:sldId id="330" r:id="rId53"/>
    <p:sldId id="334" r:id="rId54"/>
    <p:sldId id="335" r:id="rId55"/>
    <p:sldId id="340" r:id="rId56"/>
    <p:sldId id="285" r:id="rId57"/>
    <p:sldId id="286" r:id="rId58"/>
    <p:sldId id="284" r:id="rId59"/>
    <p:sldId id="282" r:id="rId60"/>
    <p:sldId id="283" r:id="rId61"/>
    <p:sldId id="280" r:id="rId62"/>
    <p:sldId id="281" r:id="rId63"/>
    <p:sldId id="350" r:id="rId64"/>
    <p:sldId id="289" r:id="rId65"/>
    <p:sldId id="290" r:id="rId66"/>
    <p:sldId id="291" r:id="rId67"/>
    <p:sldId id="296" r:id="rId68"/>
    <p:sldId id="297" r:id="rId69"/>
    <p:sldId id="298" r:id="rId70"/>
    <p:sldId id="299" r:id="rId71"/>
    <p:sldId id="292" r:id="rId72"/>
    <p:sldId id="293" r:id="rId73"/>
    <p:sldId id="294" r:id="rId74"/>
    <p:sldId id="295" r:id="rId75"/>
    <p:sldId id="351" r:id="rId76"/>
    <p:sldId id="352" r:id="rId77"/>
    <p:sldId id="353" r:id="rId78"/>
    <p:sldId id="354" r:id="rId79"/>
    <p:sldId id="349" r:id="rId80"/>
    <p:sldId id="355" r:id="rId81"/>
    <p:sldId id="356" r:id="rId82"/>
    <p:sldId id="357" r:id="rId83"/>
    <p:sldId id="358" r:id="rId84"/>
    <p:sldId id="359" r:id="rId85"/>
    <p:sldId id="360" r:id="rId86"/>
    <p:sldId id="364" r:id="rId87"/>
    <p:sldId id="361" r:id="rId88"/>
    <p:sldId id="365" r:id="rId89"/>
    <p:sldId id="371" r:id="rId90"/>
    <p:sldId id="372" r:id="rId91"/>
    <p:sldId id="366" r:id="rId92"/>
    <p:sldId id="367" r:id="rId93"/>
    <p:sldId id="369" r:id="rId94"/>
    <p:sldId id="370" r:id="rId9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C5D4588-1C03-4401-8097-F5E1536EC653}" type="datetimeFigureOut">
              <a:rPr lang="en-US" smtClean="0"/>
              <a:pPr/>
              <a:t>5/10/2022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36BB7C-AD8B-419F-9927-6473C7D98CC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Define the complete problem (what input, process, output)</a:t>
            </a:r>
            <a:br>
              <a:rPr lang="en-US" dirty="0"/>
            </a:br>
            <a:r>
              <a:rPr lang="en-US" dirty="0"/>
              <a:t>division of problem</a:t>
            </a:r>
          </a:p>
          <a:p>
            <a:r>
              <a:rPr lang="en-US" dirty="0"/>
              <a:t>Further sub-division’</a:t>
            </a:r>
          </a:p>
          <a:p>
            <a:r>
              <a:rPr lang="en-US" dirty="0"/>
              <a:t>repeat</a:t>
            </a:r>
          </a:p>
          <a:p>
            <a:r>
              <a:rPr lang="en-US" dirty="0"/>
              <a:t> </a:t>
            </a:r>
          </a:p>
        </p:txBody>
      </p:sp>
      <p:sp>
        <p:nvSpPr>
          <p:cNvPr id="4" name="Slide Number Placeholder 3"/>
          <p:cNvSpPr>
            <a:spLocks noGrp="1"/>
          </p:cNvSpPr>
          <p:nvPr>
            <p:ph type="sldNum" sz="quarter" idx="10"/>
          </p:nvPr>
        </p:nvSpPr>
        <p:spPr/>
        <p:txBody>
          <a:bodyPr/>
          <a:lstStyle/>
          <a:p>
            <a:fld id="{E636BB7C-AD8B-419F-9927-6473C7D98CC2}" type="slidenum">
              <a:rPr lang="en-US" smtClean="0"/>
              <a:pPr/>
              <a:t>10</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1985-90</a:t>
            </a:r>
          </a:p>
        </p:txBody>
      </p:sp>
      <p:sp>
        <p:nvSpPr>
          <p:cNvPr id="4" name="Slide Number Placeholder 3"/>
          <p:cNvSpPr>
            <a:spLocks noGrp="1"/>
          </p:cNvSpPr>
          <p:nvPr>
            <p:ph type="sldNum" sz="quarter" idx="10"/>
          </p:nvPr>
        </p:nvSpPr>
        <p:spPr/>
        <p:txBody>
          <a:bodyPr/>
          <a:lstStyle/>
          <a:p>
            <a:fld id="{E636BB7C-AD8B-419F-9927-6473C7D98CC2}" type="slidenum">
              <a:rPr lang="en-US" smtClean="0"/>
              <a:pPr/>
              <a:t>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C57C1B9-E37B-4051-AA96-7E5B0ACD6A96}" type="datetimeFigureOut">
              <a:rPr lang="en-US" smtClean="0"/>
              <a:pPr/>
              <a:t>5/10/2022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D69171-E460-43F5-96EA-ECE1B60346E2}" type="slidenum">
              <a:rPr lang="en-IN" smtClean="0"/>
              <a:pPr/>
              <a:t>‹#›</a:t>
            </a:fld>
            <a:endParaRPr lang="en-IN"/>
          </a:p>
        </p:txBody>
      </p:sp>
    </p:spTree>
    <p:extLst>
      <p:ext uri="{BB962C8B-B14F-4D97-AF65-F5344CB8AC3E}">
        <p14:creationId xmlns:p14="http://schemas.microsoft.com/office/powerpoint/2010/main" val="2572139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3C57C1B9-E37B-4051-AA96-7E5B0ACD6A96}" type="datetimeFigureOut">
              <a:rPr lang="en-US" smtClean="0"/>
              <a:pPr/>
              <a:t>5/10/2022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D69171-E460-43F5-96EA-ECE1B60346E2}" type="slidenum">
              <a:rPr lang="en-IN" smtClean="0"/>
              <a:pPr/>
              <a:t>‹#›</a:t>
            </a:fld>
            <a:endParaRPr lang="en-IN"/>
          </a:p>
        </p:txBody>
      </p:sp>
    </p:spTree>
    <p:extLst>
      <p:ext uri="{BB962C8B-B14F-4D97-AF65-F5344CB8AC3E}">
        <p14:creationId xmlns:p14="http://schemas.microsoft.com/office/powerpoint/2010/main" val="2924970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57C1B9-E37B-4051-AA96-7E5B0ACD6A96}" type="datetimeFigureOut">
              <a:rPr lang="en-US" smtClean="0"/>
              <a:pPr/>
              <a:t>5/10/2022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D69171-E460-43F5-96EA-ECE1B60346E2}" type="slidenum">
              <a:rPr lang="en-IN" smtClean="0"/>
              <a:pPr/>
              <a:t>‹#›</a:t>
            </a:fld>
            <a:endParaRPr lang="en-IN"/>
          </a:p>
        </p:txBody>
      </p:sp>
    </p:spTree>
    <p:extLst>
      <p:ext uri="{BB962C8B-B14F-4D97-AF65-F5344CB8AC3E}">
        <p14:creationId xmlns:p14="http://schemas.microsoft.com/office/powerpoint/2010/main" val="1664364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C57C1B9-E37B-4051-AA96-7E5B0ACD6A96}" type="datetimeFigureOut">
              <a:rPr lang="en-US" smtClean="0"/>
              <a:pPr/>
              <a:t>5/10/2022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D69171-E460-43F5-96EA-ECE1B60346E2}" type="slidenum">
              <a:rPr lang="en-IN" smtClean="0"/>
              <a:pPr/>
              <a:t>‹#›</a:t>
            </a:fld>
            <a:endParaRPr lang="en-IN"/>
          </a:p>
        </p:txBody>
      </p:sp>
    </p:spTree>
    <p:extLst>
      <p:ext uri="{BB962C8B-B14F-4D97-AF65-F5344CB8AC3E}">
        <p14:creationId xmlns:p14="http://schemas.microsoft.com/office/powerpoint/2010/main" val="38247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C57C1B9-E37B-4051-AA96-7E5B0ACD6A96}" type="datetimeFigureOut">
              <a:rPr lang="en-US" smtClean="0"/>
              <a:pPr/>
              <a:t>5/10/2022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4D69171-E460-43F5-96EA-ECE1B60346E2}" type="slidenum">
              <a:rPr lang="en-IN" smtClean="0"/>
              <a:pPr/>
              <a:t>‹#›</a:t>
            </a:fld>
            <a:endParaRPr lang="en-IN"/>
          </a:p>
        </p:txBody>
      </p:sp>
    </p:spTree>
    <p:extLst>
      <p:ext uri="{BB962C8B-B14F-4D97-AF65-F5344CB8AC3E}">
        <p14:creationId xmlns:p14="http://schemas.microsoft.com/office/powerpoint/2010/main" val="2329119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3C57C1B9-E37B-4051-AA96-7E5B0ACD6A96}" type="datetimeFigureOut">
              <a:rPr lang="en-US" smtClean="0"/>
              <a:pPr/>
              <a:t>5/10/2022</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24D69171-E460-43F5-96EA-ECE1B60346E2}" type="slidenum">
              <a:rPr lang="en-IN" smtClean="0"/>
              <a:pPr/>
              <a:t>‹#›</a:t>
            </a:fld>
            <a:endParaRPr lang="en-IN"/>
          </a:p>
        </p:txBody>
      </p:sp>
    </p:spTree>
    <p:extLst>
      <p:ext uri="{BB962C8B-B14F-4D97-AF65-F5344CB8AC3E}">
        <p14:creationId xmlns:p14="http://schemas.microsoft.com/office/powerpoint/2010/main" val="2807407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C57C1B9-E37B-4051-AA96-7E5B0ACD6A96}" type="datetimeFigureOut">
              <a:rPr lang="en-US" smtClean="0"/>
              <a:pPr/>
              <a:t>5/10/2022</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24D69171-E460-43F5-96EA-ECE1B60346E2}" type="slidenum">
              <a:rPr lang="en-IN" smtClean="0"/>
              <a:pPr/>
              <a:t>‹#›</a:t>
            </a:fld>
            <a:endParaRPr lang="en-IN"/>
          </a:p>
        </p:txBody>
      </p:sp>
    </p:spTree>
    <p:extLst>
      <p:ext uri="{BB962C8B-B14F-4D97-AF65-F5344CB8AC3E}">
        <p14:creationId xmlns:p14="http://schemas.microsoft.com/office/powerpoint/2010/main" val="3280210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3C57C1B9-E37B-4051-AA96-7E5B0ACD6A96}" type="datetimeFigureOut">
              <a:rPr lang="en-US" smtClean="0"/>
              <a:pPr/>
              <a:t>5/10/2022</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24D69171-E460-43F5-96EA-ECE1B60346E2}" type="slidenum">
              <a:rPr lang="en-IN" smtClean="0"/>
              <a:pPr/>
              <a:t>‹#›</a:t>
            </a:fld>
            <a:endParaRPr lang="en-IN"/>
          </a:p>
        </p:txBody>
      </p:sp>
    </p:spTree>
    <p:extLst>
      <p:ext uri="{BB962C8B-B14F-4D97-AF65-F5344CB8AC3E}">
        <p14:creationId xmlns:p14="http://schemas.microsoft.com/office/powerpoint/2010/main" val="3465470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C57C1B9-E37B-4051-AA96-7E5B0ACD6A96}" type="datetimeFigureOut">
              <a:rPr lang="en-US" smtClean="0"/>
              <a:pPr/>
              <a:t>5/10/2022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D69171-E460-43F5-96EA-ECE1B60346E2}" type="slidenum">
              <a:rPr lang="en-IN" smtClean="0"/>
              <a:pPr/>
              <a:t>‹#›</a:t>
            </a:fld>
            <a:endParaRPr lang="en-IN"/>
          </a:p>
        </p:txBody>
      </p:sp>
    </p:spTree>
    <p:extLst>
      <p:ext uri="{BB962C8B-B14F-4D97-AF65-F5344CB8AC3E}">
        <p14:creationId xmlns:p14="http://schemas.microsoft.com/office/powerpoint/2010/main" val="487591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C57C1B9-E37B-4051-AA96-7E5B0ACD6A96}" type="datetimeFigureOut">
              <a:rPr lang="en-US" smtClean="0"/>
              <a:pPr/>
              <a:t>5/10/2022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D69171-E460-43F5-96EA-ECE1B60346E2}" type="slidenum">
              <a:rPr lang="en-IN" smtClean="0"/>
              <a:pPr/>
              <a:t>‹#›</a:t>
            </a:fld>
            <a:endParaRPr lang="en-IN"/>
          </a:p>
        </p:txBody>
      </p:sp>
    </p:spTree>
    <p:extLst>
      <p:ext uri="{BB962C8B-B14F-4D97-AF65-F5344CB8AC3E}">
        <p14:creationId xmlns:p14="http://schemas.microsoft.com/office/powerpoint/2010/main" val="124607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3C57C1B9-E37B-4051-AA96-7E5B0ACD6A96}" type="datetimeFigureOut">
              <a:rPr lang="en-US" smtClean="0"/>
              <a:pPr/>
              <a:t>5/10/2022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D69171-E460-43F5-96EA-ECE1B60346E2}" type="slidenum">
              <a:rPr lang="en-IN" smtClean="0"/>
              <a:pPr/>
              <a:t>‹#›</a:t>
            </a:fld>
            <a:endParaRPr lang="en-IN"/>
          </a:p>
        </p:txBody>
      </p:sp>
    </p:spTree>
    <p:extLst>
      <p:ext uri="{BB962C8B-B14F-4D97-AF65-F5344CB8AC3E}">
        <p14:creationId xmlns:p14="http://schemas.microsoft.com/office/powerpoint/2010/main" val="11530910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3C57C1B9-E37B-4051-AA96-7E5B0ACD6A96}" type="datetimeFigureOut">
              <a:rPr lang="en-US" smtClean="0"/>
              <a:pPr/>
              <a:t>5/10/2022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D69171-E460-43F5-96EA-ECE1B60346E2}" type="slidenum">
              <a:rPr lang="en-IN" smtClean="0"/>
              <a:pPr/>
              <a:t>‹#›</a:t>
            </a:fld>
            <a:endParaRPr lang="en-IN"/>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25874247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57C1B9-E37B-4051-AA96-7E5B0ACD6A96}" type="datetimeFigureOut">
              <a:rPr lang="en-US" smtClean="0"/>
              <a:pPr/>
              <a:t>5/10/2022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D69171-E460-43F5-96EA-ECE1B60346E2}" type="slidenum">
              <a:rPr lang="en-IN" smtClean="0"/>
              <a:pPr/>
              <a:t>‹#›</a:t>
            </a:fld>
            <a:endParaRPr lang="en-IN"/>
          </a:p>
        </p:txBody>
      </p:sp>
    </p:spTree>
    <p:extLst>
      <p:ext uri="{BB962C8B-B14F-4D97-AF65-F5344CB8AC3E}">
        <p14:creationId xmlns:p14="http://schemas.microsoft.com/office/powerpoint/2010/main" val="945076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C57C1B9-E37B-4051-AA96-7E5B0ACD6A96}" type="datetimeFigureOut">
              <a:rPr lang="en-US" smtClean="0"/>
              <a:pPr/>
              <a:t>5/10/2022</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D69171-E460-43F5-96EA-ECE1B60346E2}" type="slidenum">
              <a:rPr lang="en-IN" smtClean="0"/>
              <a:pPr/>
              <a:t>‹#›</a:t>
            </a:fld>
            <a:endParaRPr lang="en-IN"/>
          </a:p>
        </p:txBody>
      </p:sp>
    </p:spTree>
    <p:extLst>
      <p:ext uri="{BB962C8B-B14F-4D97-AF65-F5344CB8AC3E}">
        <p14:creationId xmlns:p14="http://schemas.microsoft.com/office/powerpoint/2010/main" val="13495777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C57C1B9-E37B-4051-AA96-7E5B0ACD6A96}" type="datetimeFigureOut">
              <a:rPr lang="en-US" smtClean="0"/>
              <a:pPr/>
              <a:t>5/10/2022</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D69171-E460-43F5-96EA-ECE1B60346E2}" type="slidenum">
              <a:rPr lang="en-IN" smtClean="0"/>
              <a:pPr/>
              <a:t>‹#›</a:t>
            </a:fld>
            <a:endParaRPr lang="en-IN"/>
          </a:p>
        </p:txBody>
      </p:sp>
    </p:spTree>
    <p:extLst>
      <p:ext uri="{BB962C8B-B14F-4D97-AF65-F5344CB8AC3E}">
        <p14:creationId xmlns:p14="http://schemas.microsoft.com/office/powerpoint/2010/main" val="42850378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57C1B9-E37B-4051-AA96-7E5B0ACD6A96}" type="datetimeFigureOut">
              <a:rPr lang="en-US" smtClean="0"/>
              <a:pPr/>
              <a:t>5/10/2022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D69171-E460-43F5-96EA-ECE1B60346E2}" type="slidenum">
              <a:rPr lang="en-IN" smtClean="0"/>
              <a:pPr/>
              <a:t>‹#›</a:t>
            </a:fld>
            <a:endParaRPr lang="en-IN"/>
          </a:p>
        </p:txBody>
      </p:sp>
    </p:spTree>
    <p:extLst>
      <p:ext uri="{BB962C8B-B14F-4D97-AF65-F5344CB8AC3E}">
        <p14:creationId xmlns:p14="http://schemas.microsoft.com/office/powerpoint/2010/main" val="4764367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57C1B9-E37B-4051-AA96-7E5B0ACD6A96}" type="datetimeFigureOut">
              <a:rPr lang="en-US" smtClean="0"/>
              <a:pPr/>
              <a:t>5/10/2022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D69171-E460-43F5-96EA-ECE1B60346E2}" type="slidenum">
              <a:rPr lang="en-IN" smtClean="0"/>
              <a:pPr/>
              <a:t>‹#›</a:t>
            </a:fld>
            <a:endParaRPr lang="en-IN"/>
          </a:p>
        </p:txBody>
      </p:sp>
    </p:spTree>
    <p:extLst>
      <p:ext uri="{BB962C8B-B14F-4D97-AF65-F5344CB8AC3E}">
        <p14:creationId xmlns:p14="http://schemas.microsoft.com/office/powerpoint/2010/main" val="636488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3C57C1B9-E37B-4051-AA96-7E5B0ACD6A96}" type="datetimeFigureOut">
              <a:rPr lang="en-US" smtClean="0"/>
              <a:pPr/>
              <a:t>5/10/2022</a:t>
            </a:fld>
            <a:endParaRPr lang="en-IN"/>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24D69171-E460-43F5-96EA-ECE1B60346E2}" type="slidenum">
              <a:rPr lang="en-IN" smtClean="0"/>
              <a:pPr/>
              <a:t>‹#›</a:t>
            </a:fld>
            <a:endParaRPr lang="en-IN"/>
          </a:p>
        </p:txBody>
      </p:sp>
    </p:spTree>
    <p:extLst>
      <p:ext uri="{BB962C8B-B14F-4D97-AF65-F5344CB8AC3E}">
        <p14:creationId xmlns:p14="http://schemas.microsoft.com/office/powerpoint/2010/main" val="3039061295"/>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diveintopython.org/" TargetMode="External"/><Relationship Id="rId2" Type="http://schemas.openxmlformats.org/officeDocument/2006/relationships/hyperlink" Target="http://www.python.org/" TargetMode="External"/><Relationship Id="rId1" Type="http://schemas.openxmlformats.org/officeDocument/2006/relationships/slideLayout" Target="../slideLayouts/slideLayout2.xml"/><Relationship Id="rId5" Type="http://schemas.openxmlformats.org/officeDocument/2006/relationships/hyperlink" Target="http://webhelp.esri.com/arcgisdesktop/9.2/index.cfm?id=718&amp;pid=717&amp;topicname=About_getting_started_with_writing_geoprocessing_scripts" TargetMode="External"/><Relationship Id="rId4" Type="http://schemas.openxmlformats.org/officeDocument/2006/relationships/hyperlink" Target="http://www.oreilly.com/catalog/9780596513986/"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geeksforgeeks.org/object-oriented-programming-in-cpp/"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geeksforgeeks.org/object-oriented-programming-in-cpp/"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geeksforgeeks.org/encapsulation-in-c/"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geeksforgeeks.org/abstraction-in-c/"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geeksforgeeks.org/inheritance-in-c/"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hyperlink" Target="https://www.geeksforgeeks.org/python-list-remove/"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DE3FF-79E7-41FB-A038-04B9DDC534E0}"/>
              </a:ext>
            </a:extLst>
          </p:cNvPr>
          <p:cNvSpPr>
            <a:spLocks noGrp="1"/>
          </p:cNvSpPr>
          <p:nvPr>
            <p:ph type="ctrTitle"/>
          </p:nvPr>
        </p:nvSpPr>
        <p:spPr/>
        <p:txBody>
          <a:bodyPr/>
          <a:lstStyle/>
          <a:p>
            <a:r>
              <a:rPr lang="en-US" dirty="0"/>
              <a:t>Python</a:t>
            </a:r>
            <a:endParaRPr lang="en-IN" dirty="0"/>
          </a:p>
        </p:txBody>
      </p:sp>
      <p:sp>
        <p:nvSpPr>
          <p:cNvPr id="3" name="Subtitle 2">
            <a:extLst>
              <a:ext uri="{FF2B5EF4-FFF2-40B4-BE49-F238E27FC236}">
                <a16:creationId xmlns:a16="http://schemas.microsoft.com/office/drawing/2014/main" id="{F0472AC2-69BF-4E2C-A84A-064C0DE9853E}"/>
              </a:ext>
            </a:extLst>
          </p:cNvPr>
          <p:cNvSpPr>
            <a:spLocks noGrp="1"/>
          </p:cNvSpPr>
          <p:nvPr>
            <p:ph type="subTitle" idx="1"/>
          </p:nvPr>
        </p:nvSpPr>
        <p:spPr/>
        <p:txBody>
          <a:bodyPr/>
          <a:lstStyle/>
          <a:p>
            <a:r>
              <a:rPr lang="en-US" dirty="0"/>
              <a:t>(MCA 2022)</a:t>
            </a:r>
            <a:endParaRPr lang="en-IN" dirty="0"/>
          </a:p>
        </p:txBody>
      </p:sp>
    </p:spTree>
    <p:extLst>
      <p:ext uri="{BB962C8B-B14F-4D97-AF65-F5344CB8AC3E}">
        <p14:creationId xmlns:p14="http://schemas.microsoft.com/office/powerpoint/2010/main" val="951104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1CCCD064-EBAF-4D83-9D19-83E3F48B0896}"/>
              </a:ext>
            </a:extLst>
          </p:cNvPr>
          <p:cNvSpPr>
            <a:spLocks noGrp="1" noChangeArrowheads="1"/>
          </p:cNvSpPr>
          <p:nvPr>
            <p:ph type="title"/>
          </p:nvPr>
        </p:nvSpPr>
        <p:spPr/>
        <p:txBody>
          <a:bodyPr/>
          <a:lstStyle/>
          <a:p>
            <a:r>
              <a:rPr lang="en-US" altLang="en-US" dirty="0"/>
              <a:t>History of Python</a:t>
            </a:r>
          </a:p>
        </p:txBody>
      </p:sp>
      <p:sp>
        <p:nvSpPr>
          <p:cNvPr id="98307" name="Rectangle 3">
            <a:extLst>
              <a:ext uri="{FF2B5EF4-FFF2-40B4-BE49-F238E27FC236}">
                <a16:creationId xmlns:a16="http://schemas.microsoft.com/office/drawing/2014/main" id="{0D4F192B-EAF6-44BD-874A-14C4BD670543}"/>
              </a:ext>
            </a:extLst>
          </p:cNvPr>
          <p:cNvSpPr>
            <a:spLocks noGrp="1" noChangeArrowheads="1"/>
          </p:cNvSpPr>
          <p:nvPr>
            <p:ph idx="1"/>
          </p:nvPr>
        </p:nvSpPr>
        <p:spPr/>
        <p:txBody>
          <a:bodyPr/>
          <a:lstStyle/>
          <a:p>
            <a:r>
              <a:rPr lang="en-US" altLang="en-US" dirty="0"/>
              <a:t>Created in 1990 by Guido van Rossum</a:t>
            </a:r>
          </a:p>
          <a:p>
            <a:r>
              <a:rPr lang="en-US" altLang="en-US" dirty="0"/>
              <a:t>Named after Monty Python</a:t>
            </a:r>
          </a:p>
          <a:p>
            <a:r>
              <a:rPr lang="en-US" altLang="en-US" dirty="0"/>
              <a:t>First public release in 1991</a:t>
            </a:r>
          </a:p>
          <a:p>
            <a:pPr marL="0" indent="0">
              <a:buNone/>
            </a:pP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36E5265A-945B-4FBC-8704-3CE325349107}"/>
              </a:ext>
            </a:extLst>
          </p:cNvPr>
          <p:cNvSpPr>
            <a:spLocks noGrp="1"/>
          </p:cNvSpPr>
          <p:nvPr>
            <p:ph type="title"/>
          </p:nvPr>
        </p:nvSpPr>
        <p:spPr/>
        <p:txBody>
          <a:bodyPr/>
          <a:lstStyle/>
          <a:p>
            <a:r>
              <a:rPr lang="en-US" altLang="en-US"/>
              <a:t>Introduction to Python</a:t>
            </a:r>
          </a:p>
        </p:txBody>
      </p:sp>
      <p:sp>
        <p:nvSpPr>
          <p:cNvPr id="16387" name="Content Placeholder 2">
            <a:extLst>
              <a:ext uri="{FF2B5EF4-FFF2-40B4-BE49-F238E27FC236}">
                <a16:creationId xmlns:a16="http://schemas.microsoft.com/office/drawing/2014/main" id="{2D79188C-2A1F-43EF-884F-CDE0988D02AC}"/>
              </a:ext>
            </a:extLst>
          </p:cNvPr>
          <p:cNvSpPr>
            <a:spLocks noGrp="1"/>
          </p:cNvSpPr>
          <p:nvPr>
            <p:ph idx="1"/>
          </p:nvPr>
        </p:nvSpPr>
        <p:spPr/>
        <p:txBody>
          <a:bodyPr>
            <a:normAutofit/>
          </a:bodyPr>
          <a:lstStyle/>
          <a:p>
            <a:r>
              <a:rPr lang="en-US" altLang="en-US" dirty="0"/>
              <a:t>Python is a high-level programming language</a:t>
            </a:r>
          </a:p>
          <a:p>
            <a:r>
              <a:rPr lang="en-US" altLang="en-US" dirty="0"/>
              <a:t>Open source and community driven</a:t>
            </a:r>
          </a:p>
          <a:p>
            <a:r>
              <a:rPr lang="en-US" altLang="en-US" dirty="0"/>
              <a:t>Dynamic typed</a:t>
            </a:r>
          </a:p>
          <a:p>
            <a:r>
              <a:rPr lang="en-US" altLang="en-US" dirty="0"/>
              <a:t>Scripting Language</a:t>
            </a:r>
          </a:p>
          <a:p>
            <a:r>
              <a:rPr lang="en-US" altLang="en-US" dirty="0"/>
              <a:t>Object-Oriented</a:t>
            </a:r>
          </a:p>
          <a:p>
            <a:r>
              <a:rPr lang="en-US" altLang="en-US" dirty="0"/>
              <a:t>Portable </a:t>
            </a:r>
          </a:p>
          <a:p>
            <a:r>
              <a:rPr lang="en-US" altLang="en-US" dirty="0"/>
              <a:t>Powerful</a:t>
            </a:r>
          </a:p>
          <a:p>
            <a:r>
              <a:rPr lang="en-US" altLang="en-US" dirty="0"/>
              <a:t>Easy to learn and use</a:t>
            </a:r>
          </a:p>
          <a:p>
            <a:r>
              <a:rPr lang="en-US" altLang="en-US" dirty="0"/>
              <a:t>Mixes good features from Java, Perl and Scheme</a:t>
            </a:r>
          </a:p>
          <a:p>
            <a:endParaRPr lang="en-US" altLang="en-US" dirty="0"/>
          </a:p>
          <a:p>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ADBE15D1-45D7-47B8-9288-90E056E37F30}"/>
              </a:ext>
            </a:extLst>
          </p:cNvPr>
          <p:cNvSpPr>
            <a:spLocks noGrp="1" noChangeArrowheads="1"/>
          </p:cNvSpPr>
          <p:nvPr>
            <p:ph type="title"/>
          </p:nvPr>
        </p:nvSpPr>
        <p:spPr/>
        <p:txBody>
          <a:bodyPr/>
          <a:lstStyle/>
          <a:p>
            <a:r>
              <a:rPr lang="en-US" altLang="en-US"/>
              <a:t>Major Uses of Python</a:t>
            </a:r>
          </a:p>
        </p:txBody>
      </p:sp>
      <p:sp>
        <p:nvSpPr>
          <p:cNvPr id="97283" name="Rectangle 3">
            <a:extLst>
              <a:ext uri="{FF2B5EF4-FFF2-40B4-BE49-F238E27FC236}">
                <a16:creationId xmlns:a16="http://schemas.microsoft.com/office/drawing/2014/main" id="{F6C3485D-B7B2-4C72-A9F2-251B4FAC9ABB}"/>
              </a:ext>
            </a:extLst>
          </p:cNvPr>
          <p:cNvSpPr>
            <a:spLocks noGrp="1" noChangeArrowheads="1"/>
          </p:cNvSpPr>
          <p:nvPr>
            <p:ph idx="1"/>
          </p:nvPr>
        </p:nvSpPr>
        <p:spPr/>
        <p:txBody>
          <a:bodyPr/>
          <a:lstStyle/>
          <a:p>
            <a:r>
              <a:rPr lang="en-US" altLang="en-US"/>
              <a:t>System Utilities</a:t>
            </a:r>
          </a:p>
          <a:p>
            <a:r>
              <a:rPr lang="en-US" altLang="en-US"/>
              <a:t>GUIs (Tkinter, gtk, Qt, Windows)</a:t>
            </a:r>
          </a:p>
          <a:p>
            <a:r>
              <a:rPr lang="en-US" altLang="en-US"/>
              <a:t>Internet Scripting</a:t>
            </a:r>
          </a:p>
          <a:p>
            <a:r>
              <a:rPr lang="en-US" altLang="en-US"/>
              <a:t>Embedded Scripting</a:t>
            </a:r>
          </a:p>
          <a:p>
            <a:r>
              <a:rPr lang="en-US" altLang="en-US"/>
              <a:t>Database Programming</a:t>
            </a:r>
          </a:p>
          <a:p>
            <a:r>
              <a:rPr lang="en-US" altLang="en-US"/>
              <a:t>Artificial Intelligence</a:t>
            </a:r>
          </a:p>
          <a:p>
            <a:r>
              <a:rPr lang="en-US" altLang="en-US"/>
              <a:t>Image Processing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3A9A2831-D6BF-4EFE-A0F4-FF3EA7670AC3}"/>
              </a:ext>
            </a:extLst>
          </p:cNvPr>
          <p:cNvSpPr>
            <a:spLocks noGrp="1"/>
          </p:cNvSpPr>
          <p:nvPr>
            <p:ph type="title"/>
          </p:nvPr>
        </p:nvSpPr>
        <p:spPr/>
        <p:txBody>
          <a:bodyPr/>
          <a:lstStyle/>
          <a:p>
            <a:r>
              <a:rPr lang="en-US" altLang="en-US"/>
              <a:t>Additional Python Resources</a:t>
            </a:r>
          </a:p>
        </p:txBody>
      </p:sp>
      <p:sp>
        <p:nvSpPr>
          <p:cNvPr id="40963" name="Content Placeholder 2">
            <a:extLst>
              <a:ext uri="{FF2B5EF4-FFF2-40B4-BE49-F238E27FC236}">
                <a16:creationId xmlns:a16="http://schemas.microsoft.com/office/drawing/2014/main" id="{4726BD1E-6A3C-46C6-864E-BB795DB3F04E}"/>
              </a:ext>
            </a:extLst>
          </p:cNvPr>
          <p:cNvSpPr>
            <a:spLocks noGrp="1"/>
          </p:cNvSpPr>
          <p:nvPr>
            <p:ph idx="1"/>
          </p:nvPr>
        </p:nvSpPr>
        <p:spPr/>
        <p:txBody>
          <a:bodyPr/>
          <a:lstStyle/>
          <a:p>
            <a:r>
              <a:rPr lang="en-US" altLang="en-US" dirty="0"/>
              <a:t>Python Homepage</a:t>
            </a:r>
            <a:br>
              <a:rPr lang="en-US" altLang="en-US" dirty="0"/>
            </a:br>
            <a:r>
              <a:rPr lang="en-US" altLang="en-US" sz="2100" dirty="0">
                <a:hlinkClick r:id="rId2"/>
              </a:rPr>
              <a:t>http://www.python.org/</a:t>
            </a:r>
            <a:endParaRPr lang="en-US" altLang="en-US" dirty="0"/>
          </a:p>
          <a:p>
            <a:r>
              <a:rPr lang="en-US" altLang="en-US" dirty="0"/>
              <a:t>Dive Into Python</a:t>
            </a:r>
            <a:br>
              <a:rPr lang="en-US" altLang="en-US" dirty="0"/>
            </a:br>
            <a:r>
              <a:rPr lang="en-US" altLang="en-US" sz="2100" dirty="0">
                <a:hlinkClick r:id="rId3"/>
              </a:rPr>
              <a:t>http://www.diveintopython.org/</a:t>
            </a:r>
            <a:endParaRPr lang="en-US" altLang="en-US" dirty="0"/>
          </a:p>
          <a:p>
            <a:r>
              <a:rPr lang="en-US" altLang="en-US" dirty="0"/>
              <a:t>Learning Python, 3</a:t>
            </a:r>
            <a:r>
              <a:rPr lang="en-US" altLang="en-US" baseline="30000" dirty="0"/>
              <a:t>rd</a:t>
            </a:r>
            <a:r>
              <a:rPr lang="en-US" altLang="en-US" dirty="0"/>
              <a:t> Edition</a:t>
            </a:r>
            <a:br>
              <a:rPr lang="en-US" altLang="en-US" dirty="0"/>
            </a:br>
            <a:r>
              <a:rPr lang="en-US" altLang="en-US" sz="2100" dirty="0">
                <a:hlinkClick r:id="rId4"/>
              </a:rPr>
              <a:t>http://www.oreilly.com/catalog/9780596513986/</a:t>
            </a:r>
            <a:endParaRPr lang="en-US" altLang="en-US" sz="2100" dirty="0"/>
          </a:p>
          <a:p>
            <a:r>
              <a:rPr lang="en-US" altLang="en-US" dirty="0"/>
              <a:t>Getting Started Writing Geoprocessing Scripts</a:t>
            </a:r>
            <a:br>
              <a:rPr lang="en-US" altLang="en-US" sz="2100" dirty="0"/>
            </a:br>
            <a:r>
              <a:rPr lang="en-US" altLang="en-US" sz="2100" dirty="0">
                <a:hlinkClick r:id="rId5"/>
              </a:rPr>
              <a:t>Available on ESRI's support page</a:t>
            </a:r>
            <a:endParaRPr lang="en-US"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Paradigm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Paradigm</a:t>
            </a:r>
          </a:p>
        </p:txBody>
      </p:sp>
      <p:sp>
        <p:nvSpPr>
          <p:cNvPr id="3" name="Content Placeholder 2"/>
          <p:cNvSpPr>
            <a:spLocks noGrp="1"/>
          </p:cNvSpPr>
          <p:nvPr>
            <p:ph idx="1"/>
          </p:nvPr>
        </p:nvSpPr>
        <p:spPr/>
        <p:txBody>
          <a:bodyPr/>
          <a:lstStyle/>
          <a:p>
            <a:r>
              <a:rPr lang="en-US" dirty="0"/>
              <a:t>It is an approach to solve problem using tools &amp; techniques</a:t>
            </a:r>
          </a:p>
          <a:p>
            <a:r>
              <a:rPr lang="en-US" dirty="0"/>
              <a:t>There are many programming paradigms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Paradigm</a:t>
            </a:r>
          </a:p>
        </p:txBody>
      </p:sp>
      <p:sp>
        <p:nvSpPr>
          <p:cNvPr id="3" name="Content Placeholder 2"/>
          <p:cNvSpPr>
            <a:spLocks noGrp="1"/>
          </p:cNvSpPr>
          <p:nvPr>
            <p:ph idx="1"/>
          </p:nvPr>
        </p:nvSpPr>
        <p:spPr/>
        <p:txBody>
          <a:bodyPr/>
          <a:lstStyle/>
          <a:p>
            <a:r>
              <a:rPr lang="en-US" dirty="0"/>
              <a:t>Procedural</a:t>
            </a:r>
          </a:p>
          <a:p>
            <a:r>
              <a:rPr lang="en-US" dirty="0"/>
              <a:t>Functional</a:t>
            </a:r>
          </a:p>
          <a:p>
            <a:r>
              <a:rPr lang="en-US" dirty="0"/>
              <a:t>Logical</a:t>
            </a:r>
          </a:p>
          <a:p>
            <a:r>
              <a:rPr lang="en-US" dirty="0"/>
              <a:t>Object oriented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Structured Paradigm</a:t>
            </a:r>
          </a:p>
        </p:txBody>
      </p:sp>
      <p:sp>
        <p:nvSpPr>
          <p:cNvPr id="3" name="Content Placeholder 2"/>
          <p:cNvSpPr>
            <a:spLocks noGrp="1"/>
          </p:cNvSpPr>
          <p:nvPr>
            <p:ph idx="1"/>
          </p:nvPr>
        </p:nvSpPr>
        <p:spPr/>
        <p:txBody>
          <a:bodyPr/>
          <a:lstStyle/>
          <a:p>
            <a:pPr>
              <a:buNone/>
            </a:pPr>
            <a:r>
              <a:rPr lang="en-US" dirty="0"/>
              <a:t>Three phases</a:t>
            </a:r>
          </a:p>
          <a:p>
            <a:pPr>
              <a:buNone/>
            </a:pPr>
            <a:endParaRPr lang="en-US" dirty="0"/>
          </a:p>
          <a:p>
            <a:r>
              <a:rPr lang="en-US" dirty="0"/>
              <a:t>Top-down analysis</a:t>
            </a:r>
          </a:p>
          <a:p>
            <a:r>
              <a:rPr lang="en-US" dirty="0"/>
              <a:t>Modular programming</a:t>
            </a:r>
          </a:p>
          <a:p>
            <a:r>
              <a:rPr lang="en-US" dirty="0"/>
              <a:t>Structured code</a:t>
            </a:r>
          </a:p>
          <a:p>
            <a:pPr>
              <a:buNone/>
            </a:pPr>
            <a:endParaRPr lang="en-US"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Top-down analysis</a:t>
            </a:r>
          </a:p>
        </p:txBody>
      </p:sp>
      <p:sp>
        <p:nvSpPr>
          <p:cNvPr id="3" name="Content Placeholder 2"/>
          <p:cNvSpPr>
            <a:spLocks noGrp="1"/>
          </p:cNvSpPr>
          <p:nvPr>
            <p:ph idx="1"/>
          </p:nvPr>
        </p:nvSpPr>
        <p:spPr/>
        <p:txBody>
          <a:bodyPr/>
          <a:lstStyle/>
          <a:p>
            <a:r>
              <a:rPr lang="en-US" dirty="0"/>
              <a:t>Sub-division of program</a:t>
            </a:r>
          </a:p>
          <a:p>
            <a:r>
              <a:rPr lang="en-US" dirty="0"/>
              <a:t>Hierarchy of tasks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Modular programming</a:t>
            </a:r>
          </a:p>
        </p:txBody>
      </p:sp>
      <p:sp>
        <p:nvSpPr>
          <p:cNvPr id="3" name="Content Placeholder 2"/>
          <p:cNvSpPr>
            <a:spLocks noGrp="1"/>
          </p:cNvSpPr>
          <p:nvPr>
            <p:ph idx="1"/>
          </p:nvPr>
        </p:nvSpPr>
        <p:spPr/>
        <p:txBody>
          <a:bodyPr/>
          <a:lstStyle/>
          <a:p>
            <a:pPr>
              <a:buNone/>
            </a:pPr>
            <a:endParaRPr lang="en-US" dirty="0"/>
          </a:p>
          <a:p>
            <a:r>
              <a:rPr lang="en-US" dirty="0"/>
              <a:t>Program designing style</a:t>
            </a:r>
          </a:p>
          <a:p>
            <a:r>
              <a:rPr lang="en-US" dirty="0"/>
              <a:t>Each module can be developed independently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Structured code</a:t>
            </a:r>
          </a:p>
        </p:txBody>
      </p:sp>
      <p:sp>
        <p:nvSpPr>
          <p:cNvPr id="3" name="Content Placeholder 2"/>
          <p:cNvSpPr>
            <a:spLocks noGrp="1"/>
          </p:cNvSpPr>
          <p:nvPr>
            <p:ph idx="1"/>
          </p:nvPr>
        </p:nvSpPr>
        <p:spPr/>
        <p:txBody>
          <a:bodyPr/>
          <a:lstStyle/>
          <a:p>
            <a:pPr>
              <a:buNone/>
            </a:pPr>
            <a:r>
              <a:rPr lang="en-US" dirty="0"/>
              <a:t>If like structure</a:t>
            </a:r>
          </a:p>
          <a:p>
            <a:pPr>
              <a:buNone/>
            </a:pPr>
            <a:r>
              <a:rPr lang="en-US" dirty="0"/>
              <a:t>For-loop, while loop …are used for efficient code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0042"/>
            <a:ext cx="8229600" cy="896494"/>
          </a:xfrm>
        </p:spPr>
        <p:txBody>
          <a:bodyPr>
            <a:noAutofit/>
          </a:bodyPr>
          <a:lstStyle/>
          <a:p>
            <a:br>
              <a:rPr lang="en-IN" sz="3700" dirty="0"/>
            </a:br>
            <a:br>
              <a:rPr lang="en-IN" sz="3700" dirty="0"/>
            </a:br>
            <a:r>
              <a:rPr lang="en-IN" sz="3400" dirty="0"/>
              <a:t>Object Oriented Programming </a:t>
            </a:r>
            <a:br>
              <a:rPr lang="en-IN" sz="3700" dirty="0"/>
            </a:br>
            <a:endParaRPr lang="en-IN" sz="3700" dirty="0"/>
          </a:p>
        </p:txBody>
      </p:sp>
      <p:pic>
        <p:nvPicPr>
          <p:cNvPr id="1026" name="Picture 2"/>
          <p:cNvPicPr>
            <a:picLocks noGrp="1" noChangeAspect="1" noChangeArrowheads="1"/>
          </p:cNvPicPr>
          <p:nvPr>
            <p:ph idx="1"/>
          </p:nvPr>
        </p:nvPicPr>
        <p:blipFill>
          <a:blip r:embed="rId2"/>
          <a:stretch>
            <a:fillRect/>
          </a:stretch>
        </p:blipFill>
        <p:spPr bwMode="auto">
          <a:xfrm>
            <a:off x="2085182" y="2052638"/>
            <a:ext cx="4195762" cy="4195762"/>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i="1" dirty="0"/>
              <a:t>TABLE OF CONTENT</a:t>
            </a:r>
            <a:r>
              <a:rPr lang="en-IN" i="1" dirty="0"/>
              <a:t>:</a:t>
            </a:r>
            <a:br>
              <a:rPr lang="en-IN" i="1" dirty="0"/>
            </a:br>
            <a:endParaRPr lang="en-IN" dirty="0"/>
          </a:p>
        </p:txBody>
      </p:sp>
      <p:sp>
        <p:nvSpPr>
          <p:cNvPr id="3" name="Content Placeholder 2"/>
          <p:cNvSpPr>
            <a:spLocks noGrp="1"/>
          </p:cNvSpPr>
          <p:nvPr>
            <p:ph idx="1"/>
          </p:nvPr>
        </p:nvSpPr>
        <p:spPr/>
        <p:txBody>
          <a:bodyPr>
            <a:normAutofit/>
          </a:bodyPr>
          <a:lstStyle/>
          <a:p>
            <a:pPr fontAlgn="base"/>
            <a:r>
              <a:rPr lang="en-IN" i="1" dirty="0">
                <a:solidFill>
                  <a:schemeClr val="accent6">
                    <a:lumMod val="10000"/>
                  </a:schemeClr>
                </a:solidFill>
                <a:hlinkClick r:id="rId2"/>
              </a:rPr>
              <a:t>Introduction</a:t>
            </a:r>
            <a:endParaRPr lang="en-IN" i="1" dirty="0">
              <a:solidFill>
                <a:schemeClr val="accent6">
                  <a:lumMod val="10000"/>
                </a:schemeClr>
              </a:solidFill>
            </a:endParaRPr>
          </a:p>
          <a:p>
            <a:pPr fontAlgn="base"/>
            <a:r>
              <a:rPr lang="en-IN" i="1" dirty="0">
                <a:solidFill>
                  <a:schemeClr val="accent6">
                    <a:lumMod val="10000"/>
                  </a:schemeClr>
                </a:solidFill>
                <a:hlinkClick r:id="rId2"/>
              </a:rPr>
              <a:t>Class</a:t>
            </a:r>
            <a:endParaRPr lang="en-IN" i="1" dirty="0">
              <a:solidFill>
                <a:schemeClr val="accent6">
                  <a:lumMod val="10000"/>
                </a:schemeClr>
              </a:solidFill>
            </a:endParaRPr>
          </a:p>
          <a:p>
            <a:pPr fontAlgn="base"/>
            <a:r>
              <a:rPr lang="en-IN" i="1" dirty="0">
                <a:solidFill>
                  <a:schemeClr val="accent6">
                    <a:lumMod val="10000"/>
                  </a:schemeClr>
                </a:solidFill>
                <a:hlinkClick r:id="rId2"/>
              </a:rPr>
              <a:t>Objects</a:t>
            </a:r>
            <a:endParaRPr lang="en-IN" i="1" dirty="0">
              <a:solidFill>
                <a:schemeClr val="accent6">
                  <a:lumMod val="10000"/>
                </a:schemeClr>
              </a:solidFill>
            </a:endParaRPr>
          </a:p>
          <a:p>
            <a:pPr fontAlgn="base"/>
            <a:r>
              <a:rPr lang="en-IN" i="1" dirty="0">
                <a:solidFill>
                  <a:schemeClr val="accent6">
                    <a:lumMod val="10000"/>
                  </a:schemeClr>
                </a:solidFill>
                <a:hlinkClick r:id="rId2"/>
              </a:rPr>
              <a:t>Encapsulation</a:t>
            </a:r>
            <a:endParaRPr lang="en-IN" i="1" dirty="0">
              <a:solidFill>
                <a:schemeClr val="accent6">
                  <a:lumMod val="10000"/>
                </a:schemeClr>
              </a:solidFill>
            </a:endParaRPr>
          </a:p>
          <a:p>
            <a:pPr fontAlgn="base"/>
            <a:r>
              <a:rPr lang="en-IN" i="1" dirty="0">
                <a:solidFill>
                  <a:schemeClr val="accent6">
                    <a:lumMod val="10000"/>
                  </a:schemeClr>
                </a:solidFill>
                <a:hlinkClick r:id="rId2"/>
              </a:rPr>
              <a:t>Abstraction</a:t>
            </a:r>
            <a:endParaRPr lang="en-IN" i="1" dirty="0">
              <a:solidFill>
                <a:schemeClr val="accent6">
                  <a:lumMod val="10000"/>
                </a:schemeClr>
              </a:solidFill>
            </a:endParaRPr>
          </a:p>
          <a:p>
            <a:pPr fontAlgn="base"/>
            <a:r>
              <a:rPr lang="en-IN" i="1" dirty="0">
                <a:solidFill>
                  <a:schemeClr val="accent6">
                    <a:lumMod val="10000"/>
                  </a:schemeClr>
                </a:solidFill>
                <a:hlinkClick r:id="rId2"/>
              </a:rPr>
              <a:t>Polymorphism</a:t>
            </a:r>
            <a:endParaRPr lang="en-IN" i="1" dirty="0">
              <a:solidFill>
                <a:schemeClr val="accent6">
                  <a:lumMod val="10000"/>
                </a:schemeClr>
              </a:solidFill>
            </a:endParaRPr>
          </a:p>
          <a:p>
            <a:pPr fontAlgn="base"/>
            <a:r>
              <a:rPr lang="en-IN" i="1" dirty="0">
                <a:solidFill>
                  <a:schemeClr val="accent6">
                    <a:lumMod val="10000"/>
                  </a:schemeClr>
                </a:solidFill>
                <a:hlinkClick r:id="rId2"/>
              </a:rPr>
              <a:t>Inheritance</a:t>
            </a:r>
            <a:endParaRPr lang="en-IN" i="1" dirty="0">
              <a:solidFill>
                <a:schemeClr val="accent6">
                  <a:lumMod val="10000"/>
                </a:schemeClr>
              </a:solidFill>
            </a:endParaRPr>
          </a:p>
          <a:p>
            <a:pPr>
              <a:buNone/>
            </a:pP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a:t>
            </a:r>
          </a:p>
        </p:txBody>
      </p:sp>
      <p:sp>
        <p:nvSpPr>
          <p:cNvPr id="3" name="Content Placeholder 2"/>
          <p:cNvSpPr>
            <a:spLocks noGrp="1"/>
          </p:cNvSpPr>
          <p:nvPr>
            <p:ph idx="1"/>
          </p:nvPr>
        </p:nvSpPr>
        <p:spPr/>
        <p:txBody>
          <a:bodyPr>
            <a:normAutofit/>
          </a:bodyPr>
          <a:lstStyle/>
          <a:p>
            <a:r>
              <a:rPr lang="en-IN" dirty="0"/>
              <a:t>Object-oriented programming – As the name suggests uses </a:t>
            </a:r>
            <a:r>
              <a:rPr lang="en-IN" dirty="0">
                <a:hlinkClick r:id="rId2"/>
              </a:rPr>
              <a:t>objects</a:t>
            </a:r>
            <a:r>
              <a:rPr lang="en-IN" dirty="0"/>
              <a:t> in programming. </a:t>
            </a:r>
          </a:p>
          <a:p>
            <a:r>
              <a:rPr lang="en-IN" dirty="0"/>
              <a:t>Object-oriented programming aims to implement real-world entities like inheritance, hiding, polymorphism, etc in programming. </a:t>
            </a:r>
          </a:p>
          <a:p>
            <a:r>
              <a:rPr lang="en-IN" dirty="0"/>
              <a:t>The main aim of OOP is to bind together the data and the functions that operate on them so that no other part of the code can access this data except that function.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Class</a:t>
            </a:r>
          </a:p>
        </p:txBody>
      </p:sp>
      <p:sp>
        <p:nvSpPr>
          <p:cNvPr id="3" name="Content Placeholder 2"/>
          <p:cNvSpPr>
            <a:spLocks noGrp="1"/>
          </p:cNvSpPr>
          <p:nvPr>
            <p:ph idx="1"/>
          </p:nvPr>
        </p:nvSpPr>
        <p:spPr/>
        <p:txBody>
          <a:bodyPr>
            <a:normAutofit/>
          </a:bodyPr>
          <a:lstStyle/>
          <a:p>
            <a:pPr fontAlgn="base"/>
            <a:r>
              <a:rPr lang="en-IN" dirty="0"/>
              <a:t>A Class is a user-defined data-type </a:t>
            </a:r>
          </a:p>
          <a:p>
            <a:pPr fontAlgn="base"/>
            <a:r>
              <a:rPr lang="en-IN" dirty="0"/>
              <a:t>It  has data members and member functions.</a:t>
            </a:r>
          </a:p>
          <a:p>
            <a:pPr fontAlgn="base"/>
            <a:r>
              <a:rPr lang="en-IN" dirty="0"/>
              <a:t>Class can be accessed through only by instance of class</a:t>
            </a:r>
          </a:p>
          <a:p>
            <a:pPr fontAlgn="base"/>
            <a:r>
              <a:rPr lang="en-IN" dirty="0"/>
              <a:t> A class is like a blueprint ( or template) for an object.</a:t>
            </a:r>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Object</a:t>
            </a:r>
          </a:p>
        </p:txBody>
      </p:sp>
      <p:sp>
        <p:nvSpPr>
          <p:cNvPr id="3" name="Content Placeholder 2"/>
          <p:cNvSpPr>
            <a:spLocks noGrp="1"/>
          </p:cNvSpPr>
          <p:nvPr>
            <p:ph idx="1"/>
          </p:nvPr>
        </p:nvSpPr>
        <p:spPr/>
        <p:txBody>
          <a:bodyPr>
            <a:normAutofit/>
          </a:bodyPr>
          <a:lstStyle/>
          <a:p>
            <a:pPr fontAlgn="base"/>
            <a:r>
              <a:rPr lang="en-IN" dirty="0"/>
              <a:t>An  object is an instance of a class</a:t>
            </a:r>
          </a:p>
          <a:p>
            <a:r>
              <a:rPr lang="en-IN" dirty="0"/>
              <a:t>Each object has a class which defines its data and behaviour</a:t>
            </a:r>
          </a:p>
          <a:p>
            <a:endParaRPr lang="en-IN" dirty="0"/>
          </a:p>
          <a:p>
            <a:r>
              <a:rPr lang="en-IN" dirty="0"/>
              <a:t>Note:</a:t>
            </a:r>
          </a:p>
          <a:p>
            <a:pPr>
              <a:buNone/>
            </a:pPr>
            <a:r>
              <a:rPr lang="en-IN" dirty="0"/>
              <a:t>	When a class is defined, no memory is allocated but when it is instantiated (i.e. an object is created) memory is allocated.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hlinkClick r:id="rId2"/>
              </a:rPr>
              <a:t>Encapsulation</a:t>
            </a:r>
            <a:endParaRPr lang="en-IN" dirty="0"/>
          </a:p>
        </p:txBody>
      </p:sp>
      <p:sp>
        <p:nvSpPr>
          <p:cNvPr id="3" name="Content Placeholder 2"/>
          <p:cNvSpPr>
            <a:spLocks noGrp="1"/>
          </p:cNvSpPr>
          <p:nvPr>
            <p:ph idx="1"/>
          </p:nvPr>
        </p:nvSpPr>
        <p:spPr/>
        <p:txBody>
          <a:bodyPr>
            <a:normAutofit/>
          </a:bodyPr>
          <a:lstStyle/>
          <a:p>
            <a:pPr fontAlgn="base"/>
            <a:r>
              <a:rPr lang="en-IN" dirty="0"/>
              <a:t>Encapsulation is defined as wrapping up of data and information under a single unit. </a:t>
            </a:r>
          </a:p>
          <a:p>
            <a:pPr fontAlgn="base"/>
            <a:r>
              <a:rPr lang="en-IN" dirty="0"/>
              <a:t>In Object-Oriented Programming, Encapsulation is defined as binding together the data and the functions that manipulate them.</a:t>
            </a:r>
          </a:p>
          <a:p>
            <a:pPr fontAlgn="base"/>
            <a:r>
              <a:rPr lang="en-IN" dirty="0"/>
              <a:t>It binds variables and functions together inside a class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hlinkClick r:id="rId2"/>
              </a:rPr>
              <a:t>Abstraction</a:t>
            </a:r>
            <a:r>
              <a:rPr lang="en-IN" dirty="0"/>
              <a:t> </a:t>
            </a:r>
          </a:p>
        </p:txBody>
      </p:sp>
      <p:sp>
        <p:nvSpPr>
          <p:cNvPr id="3" name="Content Placeholder 2"/>
          <p:cNvSpPr>
            <a:spLocks noGrp="1"/>
          </p:cNvSpPr>
          <p:nvPr>
            <p:ph idx="1"/>
          </p:nvPr>
        </p:nvSpPr>
        <p:spPr/>
        <p:txBody>
          <a:bodyPr>
            <a:normAutofit/>
          </a:bodyPr>
          <a:lstStyle/>
          <a:p>
            <a:pPr fontAlgn="base"/>
            <a:r>
              <a:rPr lang="en-IN" dirty="0"/>
              <a:t>Abstraction means displaying only essential information and hiding the details.</a:t>
            </a:r>
          </a:p>
          <a:p>
            <a:pPr fontAlgn="base"/>
            <a:r>
              <a:rPr lang="en-IN" dirty="0"/>
              <a:t>Data abstraction refers to providing only essential information about the data to the outside world, hiding the background details or implementation.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Polymorphism</a:t>
            </a:r>
          </a:p>
        </p:txBody>
      </p:sp>
      <p:sp>
        <p:nvSpPr>
          <p:cNvPr id="3" name="Content Placeholder 2"/>
          <p:cNvSpPr>
            <a:spLocks noGrp="1"/>
          </p:cNvSpPr>
          <p:nvPr>
            <p:ph idx="1"/>
          </p:nvPr>
        </p:nvSpPr>
        <p:spPr/>
        <p:txBody>
          <a:bodyPr>
            <a:normAutofit/>
          </a:bodyPr>
          <a:lstStyle/>
          <a:p>
            <a:pPr fontAlgn="base"/>
            <a:r>
              <a:rPr lang="en-IN" dirty="0"/>
              <a:t>The word polymorphism means having many forms. </a:t>
            </a:r>
          </a:p>
          <a:p>
            <a:pPr fontAlgn="base"/>
            <a:r>
              <a:rPr lang="en-IN" dirty="0"/>
              <a:t>In simple words, we can define polymorphism as the ability of a message to be displayed in more than one form..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hlinkClick r:id="rId2"/>
              </a:rPr>
              <a:t> Inheritance</a:t>
            </a:r>
            <a:endParaRPr lang="en-IN" dirty="0"/>
          </a:p>
        </p:txBody>
      </p:sp>
      <p:sp>
        <p:nvSpPr>
          <p:cNvPr id="3" name="Content Placeholder 2"/>
          <p:cNvSpPr>
            <a:spLocks noGrp="1"/>
          </p:cNvSpPr>
          <p:nvPr>
            <p:ph idx="1"/>
          </p:nvPr>
        </p:nvSpPr>
        <p:spPr/>
        <p:txBody>
          <a:bodyPr>
            <a:normAutofit/>
          </a:bodyPr>
          <a:lstStyle/>
          <a:p>
            <a:pPr fontAlgn="base"/>
            <a:r>
              <a:rPr lang="en-IN" dirty="0"/>
              <a:t> The capability of a class to derive properties and characteristics from another class is called Inheritance. </a:t>
            </a:r>
          </a:p>
          <a:p>
            <a:pPr fontAlgn="base"/>
            <a:r>
              <a:rPr lang="en-IN" dirty="0"/>
              <a:t>Inheritance is one of the most important features of Object-Oriented Programming.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a:t>
            </a:r>
          </a:p>
        </p:txBody>
      </p:sp>
      <p:sp>
        <p:nvSpPr>
          <p:cNvPr id="3" name="Content Placeholder 2"/>
          <p:cNvSpPr>
            <a:spLocks noGrp="1"/>
          </p:cNvSpPr>
          <p:nvPr>
            <p:ph idx="1"/>
          </p:nvPr>
        </p:nvSpPr>
        <p:spPr/>
        <p:txBody>
          <a:bodyPr/>
          <a:lstStyle/>
          <a:p>
            <a:r>
              <a:rPr lang="en-US" dirty="0"/>
              <a:t>Designed by Guido Van </a:t>
            </a:r>
            <a:r>
              <a:rPr lang="en-US" dirty="0" err="1"/>
              <a:t>Rossum</a:t>
            </a:r>
            <a:r>
              <a:rPr lang="en-US" dirty="0"/>
              <a:t> (Netherlands)</a:t>
            </a:r>
          </a:p>
          <a:p>
            <a:r>
              <a:rPr lang="en-US" dirty="0"/>
              <a:t>Interpreted</a:t>
            </a:r>
          </a:p>
          <a:p>
            <a:r>
              <a:rPr lang="en-US" dirty="0"/>
              <a:t>High-level</a:t>
            </a:r>
          </a:p>
          <a:p>
            <a:r>
              <a:rPr lang="en-US" dirty="0"/>
              <a:t>Dynamic type</a:t>
            </a:r>
          </a:p>
          <a:p>
            <a:r>
              <a:rPr lang="en-US" dirty="0"/>
              <a:t>Object oriented language</a:t>
            </a:r>
          </a:p>
          <a:p>
            <a:r>
              <a:rPr lang="en-US" dirty="0"/>
              <a:t>Case sensitive</a:t>
            </a:r>
          </a:p>
          <a:p>
            <a:r>
              <a:rPr lang="en-US" dirty="0"/>
              <a:t>Spacing matters (not free-form)</a:t>
            </a:r>
          </a:p>
          <a:p>
            <a:r>
              <a:rPr lang="en-US" dirty="0"/>
              <a:t>Open source language</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Python Identifiers</a:t>
            </a:r>
          </a:p>
        </p:txBody>
      </p:sp>
      <p:sp>
        <p:nvSpPr>
          <p:cNvPr id="3" name="Content Placeholder 2"/>
          <p:cNvSpPr>
            <a:spLocks noGrp="1"/>
          </p:cNvSpPr>
          <p:nvPr>
            <p:ph idx="1"/>
          </p:nvPr>
        </p:nvSpPr>
        <p:spPr/>
        <p:txBody>
          <a:bodyPr>
            <a:normAutofit/>
          </a:bodyPr>
          <a:lstStyle/>
          <a:p>
            <a:r>
              <a:rPr lang="en-US" dirty="0"/>
              <a:t> Python identifier is a name used to identify a variable, function, class, module or other object.</a:t>
            </a:r>
          </a:p>
          <a:p>
            <a:r>
              <a:rPr lang="en-US" dirty="0"/>
              <a:t> An identifier starts with a letter A to Z or a to z or an underscore (_) followed by zero or more letters, underscores and digits (0 to 9)</a:t>
            </a:r>
          </a:p>
          <a:p>
            <a:r>
              <a:rPr lang="en-US" dirty="0"/>
              <a:t>Python does not allow punctuation characters such as @, $, and % within identifiers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Reserved Words</a:t>
            </a:r>
          </a:p>
        </p:txBody>
      </p:sp>
      <p:sp>
        <p:nvSpPr>
          <p:cNvPr id="3" name="Content Placeholder 2"/>
          <p:cNvSpPr>
            <a:spLocks noGrp="1"/>
          </p:cNvSpPr>
          <p:nvPr>
            <p:ph idx="1"/>
          </p:nvPr>
        </p:nvSpPr>
        <p:spPr/>
        <p:txBody>
          <a:bodyPr>
            <a:normAutofit/>
          </a:bodyPr>
          <a:lstStyle/>
          <a:p>
            <a:pPr>
              <a:buNone/>
            </a:pPr>
            <a:r>
              <a:rPr lang="en-US" dirty="0"/>
              <a:t>The following list shows the Python keywords</a:t>
            </a:r>
          </a:p>
          <a:p>
            <a:r>
              <a:rPr lang="en-US" dirty="0"/>
              <a:t>These are reserved words and we cannot use them as constant or variable or any other identifier names. </a:t>
            </a:r>
          </a:p>
          <a:p>
            <a:r>
              <a:rPr lang="en-US" dirty="0"/>
              <a:t>All the Python keywords contain lowercase letters only.</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a:t>Getting the Data Type</a:t>
            </a:r>
            <a:br>
              <a:rPr lang="en-US" b="0" dirty="0"/>
            </a:br>
            <a:endParaRPr lang="en-US" dirty="0"/>
          </a:p>
        </p:txBody>
      </p:sp>
      <p:sp>
        <p:nvSpPr>
          <p:cNvPr id="3" name="Content Placeholder 2"/>
          <p:cNvSpPr>
            <a:spLocks noGrp="1"/>
          </p:cNvSpPr>
          <p:nvPr>
            <p:ph idx="1"/>
          </p:nvPr>
        </p:nvSpPr>
        <p:spPr/>
        <p:txBody>
          <a:bodyPr/>
          <a:lstStyle/>
          <a:p>
            <a:r>
              <a:rPr lang="en-US" dirty="0"/>
              <a:t>x = 5</a:t>
            </a:r>
          </a:p>
          <a:p>
            <a:r>
              <a:rPr lang="en-US" dirty="0"/>
              <a:t>print(type(x))</a:t>
            </a:r>
          </a:p>
          <a:p>
            <a:r>
              <a:rPr lang="en-US" dirty="0"/>
              <a:t>print(type(</a:t>
            </a:r>
            <a:r>
              <a:rPr lang="en-US" dirty="0" err="1"/>
              <a:t>variable_name</a:t>
            </a:r>
            <a:r>
              <a:rPr lang="en-US" dirty="0"/>
              <a:t>))</a:t>
            </a:r>
          </a:p>
        </p:txBody>
      </p:sp>
    </p:spTree>
    <p:extLst>
      <p:ext uri="{BB962C8B-B14F-4D97-AF65-F5344CB8AC3E}">
        <p14:creationId xmlns:p14="http://schemas.microsoft.com/office/powerpoint/2010/main" val="33582899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08BD3-8099-4975-A3A8-74C863722E62}"/>
              </a:ext>
            </a:extLst>
          </p:cNvPr>
          <p:cNvSpPr>
            <a:spLocks noGrp="1"/>
          </p:cNvSpPr>
          <p:nvPr>
            <p:ph type="title"/>
          </p:nvPr>
        </p:nvSpPr>
        <p:spPr/>
        <p:txBody>
          <a:bodyPr/>
          <a:lstStyle/>
          <a:p>
            <a:r>
              <a:rPr lang="en-US" dirty="0"/>
              <a:t>Type Casting</a:t>
            </a:r>
            <a:endParaRPr lang="en-IN" dirty="0"/>
          </a:p>
        </p:txBody>
      </p:sp>
      <p:sp>
        <p:nvSpPr>
          <p:cNvPr id="3" name="Content Placeholder 2">
            <a:extLst>
              <a:ext uri="{FF2B5EF4-FFF2-40B4-BE49-F238E27FC236}">
                <a16:creationId xmlns:a16="http://schemas.microsoft.com/office/drawing/2014/main" id="{C49B066E-BE93-466E-8F75-C133BC703BE3}"/>
              </a:ext>
            </a:extLst>
          </p:cNvPr>
          <p:cNvSpPr>
            <a:spLocks noGrp="1"/>
          </p:cNvSpPr>
          <p:nvPr>
            <p:ph idx="1"/>
          </p:nvPr>
        </p:nvSpPr>
        <p:spPr/>
        <p:txBody>
          <a:bodyPr/>
          <a:lstStyle/>
          <a:p>
            <a:r>
              <a:rPr lang="en-US" dirty="0"/>
              <a:t>Datatype(var)</a:t>
            </a:r>
          </a:p>
          <a:p>
            <a:r>
              <a:rPr lang="en-US" dirty="0"/>
              <a:t>x  =7.8</a:t>
            </a:r>
          </a:p>
          <a:p>
            <a:r>
              <a:rPr lang="en-US" dirty="0"/>
              <a:t>Example int(x) # convert x into integer =&gt; 7</a:t>
            </a:r>
          </a:p>
          <a:p>
            <a:endParaRPr lang="en-US" dirty="0"/>
          </a:p>
          <a:p>
            <a:pPr marL="137160" indent="0">
              <a:buNone/>
            </a:pPr>
            <a:endParaRPr lang="en-US" dirty="0"/>
          </a:p>
        </p:txBody>
      </p:sp>
    </p:spTree>
    <p:extLst>
      <p:ext uri="{BB962C8B-B14F-4D97-AF65-F5344CB8AC3E}">
        <p14:creationId xmlns:p14="http://schemas.microsoft.com/office/powerpoint/2010/main" val="862825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Reserved Words</a:t>
            </a:r>
            <a:br>
              <a:rPr lang="en-US" dirty="0"/>
            </a:br>
            <a:endParaRPr lang="en-US" dirty="0"/>
          </a:p>
        </p:txBody>
      </p:sp>
      <p:sp>
        <p:nvSpPr>
          <p:cNvPr id="3" name="Content Placeholder 2"/>
          <p:cNvSpPr>
            <a:spLocks noGrp="1"/>
          </p:cNvSpPr>
          <p:nvPr>
            <p:ph idx="1"/>
          </p:nvPr>
        </p:nvSpPr>
        <p:spPr/>
        <p:txBody>
          <a:bodyPr numCol="2">
            <a:normAutofit fontScale="55000" lnSpcReduction="20000"/>
          </a:bodyPr>
          <a:lstStyle/>
          <a:p>
            <a:r>
              <a:rPr lang="en-US" dirty="0"/>
              <a:t>and</a:t>
            </a:r>
          </a:p>
          <a:p>
            <a:r>
              <a:rPr lang="en-US" dirty="0"/>
              <a:t>exec</a:t>
            </a:r>
          </a:p>
          <a:p>
            <a:r>
              <a:rPr lang="en-US" dirty="0"/>
              <a:t>not</a:t>
            </a:r>
          </a:p>
          <a:p>
            <a:r>
              <a:rPr lang="en-US" dirty="0"/>
              <a:t>assert</a:t>
            </a:r>
          </a:p>
          <a:p>
            <a:r>
              <a:rPr lang="en-US" dirty="0"/>
              <a:t>finally</a:t>
            </a:r>
          </a:p>
          <a:p>
            <a:r>
              <a:rPr lang="en-US" dirty="0"/>
              <a:t>or</a:t>
            </a:r>
          </a:p>
          <a:p>
            <a:r>
              <a:rPr lang="en-US" dirty="0"/>
              <a:t>break</a:t>
            </a:r>
          </a:p>
          <a:p>
            <a:r>
              <a:rPr lang="en-US" dirty="0"/>
              <a:t>for</a:t>
            </a:r>
          </a:p>
          <a:p>
            <a:r>
              <a:rPr lang="en-US" dirty="0"/>
              <a:t>pass</a:t>
            </a:r>
          </a:p>
          <a:p>
            <a:r>
              <a:rPr lang="en-US" dirty="0"/>
              <a:t>class</a:t>
            </a:r>
          </a:p>
          <a:p>
            <a:r>
              <a:rPr lang="en-US" dirty="0"/>
              <a:t>from</a:t>
            </a:r>
          </a:p>
          <a:p>
            <a:r>
              <a:rPr lang="en-US" dirty="0"/>
              <a:t>print</a:t>
            </a:r>
          </a:p>
          <a:p>
            <a:r>
              <a:rPr lang="en-US" dirty="0"/>
              <a:t>continue</a:t>
            </a:r>
          </a:p>
          <a:p>
            <a:r>
              <a:rPr lang="en-US" dirty="0"/>
              <a:t>global</a:t>
            </a:r>
          </a:p>
          <a:p>
            <a:r>
              <a:rPr lang="en-US" dirty="0"/>
              <a:t>raise</a:t>
            </a:r>
          </a:p>
          <a:p>
            <a:r>
              <a:rPr lang="en-US" dirty="0"/>
              <a:t>def</a:t>
            </a:r>
          </a:p>
          <a:p>
            <a:r>
              <a:rPr lang="en-US" dirty="0"/>
              <a:t>if</a:t>
            </a:r>
          </a:p>
          <a:p>
            <a:r>
              <a:rPr lang="en-US" dirty="0"/>
              <a:t>return</a:t>
            </a:r>
          </a:p>
          <a:p>
            <a:r>
              <a:rPr lang="en-US" dirty="0"/>
              <a:t>del</a:t>
            </a:r>
          </a:p>
          <a:p>
            <a:r>
              <a:rPr lang="en-US" dirty="0"/>
              <a:t>Import</a:t>
            </a:r>
          </a:p>
          <a:p>
            <a:r>
              <a:rPr lang="en-US" dirty="0"/>
              <a:t>try</a:t>
            </a:r>
          </a:p>
          <a:p>
            <a:r>
              <a:rPr lang="en-US" dirty="0" err="1"/>
              <a:t>elif</a:t>
            </a:r>
            <a:endParaRPr lang="en-US" dirty="0"/>
          </a:p>
          <a:p>
            <a:r>
              <a:rPr lang="en-US" dirty="0"/>
              <a:t>in</a:t>
            </a:r>
          </a:p>
          <a:p>
            <a:r>
              <a:rPr lang="en-US" dirty="0"/>
              <a:t>while</a:t>
            </a:r>
          </a:p>
          <a:p>
            <a:r>
              <a:rPr lang="en-US" dirty="0"/>
              <a:t>else</a:t>
            </a:r>
          </a:p>
          <a:p>
            <a:r>
              <a:rPr lang="en-US" dirty="0"/>
              <a:t>is</a:t>
            </a:r>
          </a:p>
          <a:p>
            <a:r>
              <a:rPr lang="en-US" dirty="0"/>
              <a:t>with</a:t>
            </a:r>
          </a:p>
          <a:p>
            <a:r>
              <a:rPr lang="en-US" dirty="0"/>
              <a:t>except</a:t>
            </a:r>
          </a:p>
          <a:p>
            <a:r>
              <a:rPr lang="en-US" dirty="0"/>
              <a:t>lambda</a:t>
            </a:r>
          </a:p>
          <a:p>
            <a:r>
              <a:rPr lang="en-US" dirty="0"/>
              <a:t>yield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185B2-E7ED-41CC-9412-73E2A58E60DA}"/>
              </a:ext>
            </a:extLst>
          </p:cNvPr>
          <p:cNvSpPr>
            <a:spLocks noGrp="1"/>
          </p:cNvSpPr>
          <p:nvPr>
            <p:ph type="title"/>
          </p:nvPr>
        </p:nvSpPr>
        <p:spPr/>
        <p:txBody>
          <a:bodyPr/>
          <a:lstStyle/>
          <a:p>
            <a:r>
              <a:rPr lang="en-US"/>
              <a:t>Input()</a:t>
            </a:r>
            <a:endParaRPr lang="en-IN" dirty="0"/>
          </a:p>
        </p:txBody>
      </p:sp>
      <p:sp>
        <p:nvSpPr>
          <p:cNvPr id="3" name="Content Placeholder 2">
            <a:extLst>
              <a:ext uri="{FF2B5EF4-FFF2-40B4-BE49-F238E27FC236}">
                <a16:creationId xmlns:a16="http://schemas.microsoft.com/office/drawing/2014/main" id="{F165D4F1-4BA0-49C2-B604-32D1B9EBF6A0}"/>
              </a:ext>
            </a:extLst>
          </p:cNvPr>
          <p:cNvSpPr>
            <a:spLocks noGrp="1"/>
          </p:cNvSpPr>
          <p:nvPr>
            <p:ph idx="1"/>
          </p:nvPr>
        </p:nvSpPr>
        <p:spPr/>
        <p:txBody>
          <a:bodyPr/>
          <a:lstStyle/>
          <a:p>
            <a:r>
              <a:rPr lang="en-US" dirty="0"/>
              <a:t>N = input()</a:t>
            </a:r>
          </a:p>
          <a:p>
            <a:r>
              <a:rPr lang="en-US" dirty="0"/>
              <a:t>N = input(“Enter the value”)</a:t>
            </a:r>
          </a:p>
          <a:p>
            <a:r>
              <a:rPr lang="en-US" dirty="0"/>
              <a:t>N = int(input(“Enter the Value”)) </a:t>
            </a:r>
            <a:endParaRPr lang="en-IN" dirty="0"/>
          </a:p>
        </p:txBody>
      </p:sp>
    </p:spTree>
    <p:extLst>
      <p:ext uri="{BB962C8B-B14F-4D97-AF65-F5344CB8AC3E}">
        <p14:creationId xmlns:p14="http://schemas.microsoft.com/office/powerpoint/2010/main" val="28549062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185B2-E7ED-41CC-9412-73E2A58E60DA}"/>
              </a:ext>
            </a:extLst>
          </p:cNvPr>
          <p:cNvSpPr>
            <a:spLocks noGrp="1"/>
          </p:cNvSpPr>
          <p:nvPr>
            <p:ph type="title"/>
          </p:nvPr>
        </p:nvSpPr>
        <p:spPr/>
        <p:txBody>
          <a:bodyPr/>
          <a:lstStyle/>
          <a:p>
            <a:r>
              <a:rPr lang="en-US" dirty="0"/>
              <a:t>print()</a:t>
            </a:r>
            <a:endParaRPr lang="en-IN" dirty="0"/>
          </a:p>
        </p:txBody>
      </p:sp>
      <p:sp>
        <p:nvSpPr>
          <p:cNvPr id="3" name="Content Placeholder 2">
            <a:extLst>
              <a:ext uri="{FF2B5EF4-FFF2-40B4-BE49-F238E27FC236}">
                <a16:creationId xmlns:a16="http://schemas.microsoft.com/office/drawing/2014/main" id="{F165D4F1-4BA0-49C2-B604-32D1B9EBF6A0}"/>
              </a:ext>
            </a:extLst>
          </p:cNvPr>
          <p:cNvSpPr>
            <a:spLocks noGrp="1"/>
          </p:cNvSpPr>
          <p:nvPr>
            <p:ph idx="1"/>
          </p:nvPr>
        </p:nvSpPr>
        <p:spPr/>
        <p:txBody>
          <a:bodyPr/>
          <a:lstStyle/>
          <a:p>
            <a:r>
              <a:rPr lang="en-US" dirty="0"/>
              <a:t>print(“Hello”)</a:t>
            </a:r>
          </a:p>
          <a:p>
            <a:r>
              <a:rPr lang="en-US" dirty="0"/>
              <a:t>print(a)</a:t>
            </a:r>
          </a:p>
          <a:p>
            <a:r>
              <a:rPr lang="en-US" dirty="0"/>
              <a:t>print(“The area of the rectangle is”, </a:t>
            </a:r>
            <a:r>
              <a:rPr lang="en-US"/>
              <a:t>area)</a:t>
            </a:r>
            <a:endParaRPr lang="en-US" dirty="0"/>
          </a:p>
        </p:txBody>
      </p:sp>
    </p:spTree>
    <p:extLst>
      <p:ext uri="{BB962C8B-B14F-4D97-AF65-F5344CB8AC3E}">
        <p14:creationId xmlns:p14="http://schemas.microsoft.com/office/powerpoint/2010/main" val="2990791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a:t>Data types in the Python programming language:</a:t>
            </a:r>
            <a:endParaRPr lang="en-US" dirty="0"/>
          </a:p>
        </p:txBody>
      </p:sp>
      <p:sp>
        <p:nvSpPr>
          <p:cNvPr id="3" name="Content Placeholder 2"/>
          <p:cNvSpPr>
            <a:spLocks noGrp="1"/>
          </p:cNvSpPr>
          <p:nvPr>
            <p:ph idx="1"/>
          </p:nvPr>
        </p:nvSpPr>
        <p:spPr/>
        <p:txBody>
          <a:bodyPr/>
          <a:lstStyle/>
          <a:p>
            <a:r>
              <a:rPr lang="en-US" dirty="0"/>
              <a:t>Text Type:		</a:t>
            </a:r>
            <a:r>
              <a:rPr lang="en-US" dirty="0" err="1"/>
              <a:t>str</a:t>
            </a:r>
            <a:endParaRPr lang="en-US" dirty="0"/>
          </a:p>
          <a:p>
            <a:r>
              <a:rPr lang="en-US" dirty="0"/>
              <a:t>Numeric Types:	</a:t>
            </a:r>
            <a:r>
              <a:rPr lang="en-US" dirty="0" err="1"/>
              <a:t>int</a:t>
            </a:r>
            <a:r>
              <a:rPr lang="en-US" dirty="0"/>
              <a:t>, float, complex</a:t>
            </a:r>
          </a:p>
          <a:p>
            <a:r>
              <a:rPr lang="en-US" dirty="0"/>
              <a:t>Sequence Types:	list, </a:t>
            </a:r>
            <a:r>
              <a:rPr lang="en-US" dirty="0" err="1"/>
              <a:t>tuple</a:t>
            </a:r>
            <a:r>
              <a:rPr lang="en-US" dirty="0"/>
              <a:t>, range</a:t>
            </a:r>
          </a:p>
          <a:p>
            <a:r>
              <a:rPr lang="en-US" dirty="0"/>
              <a:t>Mapping Type:	</a:t>
            </a:r>
            <a:r>
              <a:rPr lang="en-US" dirty="0" err="1"/>
              <a:t>dict</a:t>
            </a:r>
            <a:endParaRPr lang="en-US" dirty="0"/>
          </a:p>
          <a:p>
            <a:r>
              <a:rPr lang="en-US" dirty="0"/>
              <a:t>Set Types:		set, </a:t>
            </a:r>
            <a:r>
              <a:rPr lang="en-US" dirty="0" err="1"/>
              <a:t>frozenset</a:t>
            </a:r>
            <a:endParaRPr lang="en-US" dirty="0"/>
          </a:p>
          <a:p>
            <a:r>
              <a:rPr lang="en-US" dirty="0"/>
              <a:t>Boolean Type:	</a:t>
            </a:r>
            <a:r>
              <a:rPr lang="en-US" dirty="0" err="1"/>
              <a:t>bool</a:t>
            </a:r>
            <a:endParaRPr lang="en-US" dirty="0"/>
          </a:p>
          <a:p>
            <a:r>
              <a:rPr lang="en-US" dirty="0"/>
              <a:t>Binary Types:	</a:t>
            </a:r>
            <a:r>
              <a:rPr lang="en-US" sz="2400" dirty="0"/>
              <a:t>	bytes, </a:t>
            </a:r>
            <a:r>
              <a:rPr lang="en-US" sz="2400" dirty="0" err="1"/>
              <a:t>bytearray</a:t>
            </a:r>
            <a:r>
              <a:rPr lang="en-US" sz="2400" dirty="0"/>
              <a:t>, </a:t>
            </a:r>
            <a:r>
              <a:rPr lang="en-US" sz="2400" dirty="0" err="1"/>
              <a:t>memoryview</a:t>
            </a:r>
            <a:br>
              <a:rPr lang="en-US" sz="2400" dirty="0"/>
            </a:br>
            <a:endParaRPr lang="en-US" sz="2400" dirty="0"/>
          </a:p>
        </p:txBody>
      </p:sp>
    </p:spTree>
    <p:extLst>
      <p:ext uri="{BB962C8B-B14F-4D97-AF65-F5344CB8AC3E}">
        <p14:creationId xmlns:p14="http://schemas.microsoft.com/office/powerpoint/2010/main" val="5081112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185B2-E7ED-41CC-9412-73E2A58E60DA}"/>
              </a:ext>
            </a:extLst>
          </p:cNvPr>
          <p:cNvSpPr>
            <a:spLocks noGrp="1"/>
          </p:cNvSpPr>
          <p:nvPr>
            <p:ph type="title"/>
          </p:nvPr>
        </p:nvSpPr>
        <p:spPr/>
        <p:txBody>
          <a:bodyPr/>
          <a:lstStyle/>
          <a:p>
            <a:r>
              <a:rPr lang="en-US" dirty="0"/>
              <a:t>Operators</a:t>
            </a:r>
            <a:endParaRPr lang="en-IN" dirty="0"/>
          </a:p>
        </p:txBody>
      </p:sp>
      <p:sp>
        <p:nvSpPr>
          <p:cNvPr id="3" name="Content Placeholder 2">
            <a:extLst>
              <a:ext uri="{FF2B5EF4-FFF2-40B4-BE49-F238E27FC236}">
                <a16:creationId xmlns:a16="http://schemas.microsoft.com/office/drawing/2014/main" id="{F165D4F1-4BA0-49C2-B604-32D1B9EBF6A0}"/>
              </a:ext>
            </a:extLst>
          </p:cNvPr>
          <p:cNvSpPr>
            <a:spLocks noGrp="1"/>
          </p:cNvSpPr>
          <p:nvPr>
            <p:ph idx="1"/>
          </p:nvPr>
        </p:nvSpPr>
        <p:spPr/>
        <p:txBody>
          <a:bodyPr/>
          <a:lstStyle/>
          <a:p>
            <a:pPr marL="137160" indent="0">
              <a:buNone/>
            </a:pPr>
            <a:r>
              <a:rPr lang="en-US" dirty="0"/>
              <a:t>Assignment</a:t>
            </a:r>
          </a:p>
          <a:p>
            <a:pPr marL="137160" indent="0">
              <a:buNone/>
            </a:pPr>
            <a:r>
              <a:rPr lang="en-US" dirty="0"/>
              <a:t>Arithmetic Operators</a:t>
            </a:r>
          </a:p>
          <a:p>
            <a:pPr marL="137160" indent="0">
              <a:buNone/>
            </a:pPr>
            <a:r>
              <a:rPr lang="en-US" dirty="0"/>
              <a:t>Relational Operators</a:t>
            </a:r>
          </a:p>
          <a:p>
            <a:pPr marL="137160" indent="0">
              <a:buNone/>
            </a:pPr>
            <a:r>
              <a:rPr lang="en-US" dirty="0"/>
              <a:t>Logical Operators</a:t>
            </a:r>
          </a:p>
          <a:p>
            <a:pPr marL="137160" indent="0">
              <a:buNone/>
            </a:pPr>
            <a:endParaRPr lang="en-US" dirty="0"/>
          </a:p>
          <a:p>
            <a:pPr marL="137160" indent="0">
              <a:buNone/>
            </a:pPr>
            <a:endParaRPr lang="en-US" dirty="0"/>
          </a:p>
          <a:p>
            <a:pPr marL="137160" indent="0">
              <a:buNone/>
            </a:pPr>
            <a:endParaRPr lang="en-US" dirty="0"/>
          </a:p>
          <a:p>
            <a:pPr marL="137160" indent="0">
              <a:buNone/>
            </a:pPr>
            <a:endParaRPr lang="en-IN" dirty="0"/>
          </a:p>
        </p:txBody>
      </p:sp>
    </p:spTree>
    <p:extLst>
      <p:ext uri="{BB962C8B-B14F-4D97-AF65-F5344CB8AC3E}">
        <p14:creationId xmlns:p14="http://schemas.microsoft.com/office/powerpoint/2010/main" val="14455646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185B2-E7ED-41CC-9412-73E2A58E60DA}"/>
              </a:ext>
            </a:extLst>
          </p:cNvPr>
          <p:cNvSpPr>
            <a:spLocks noGrp="1"/>
          </p:cNvSpPr>
          <p:nvPr>
            <p:ph type="title"/>
          </p:nvPr>
        </p:nvSpPr>
        <p:spPr/>
        <p:txBody>
          <a:bodyPr/>
          <a:lstStyle/>
          <a:p>
            <a:r>
              <a:rPr lang="en-US" dirty="0"/>
              <a:t>Programs</a:t>
            </a:r>
            <a:endParaRPr lang="en-IN" dirty="0"/>
          </a:p>
        </p:txBody>
      </p:sp>
      <p:sp>
        <p:nvSpPr>
          <p:cNvPr id="3" name="Content Placeholder 2">
            <a:extLst>
              <a:ext uri="{FF2B5EF4-FFF2-40B4-BE49-F238E27FC236}">
                <a16:creationId xmlns:a16="http://schemas.microsoft.com/office/drawing/2014/main" id="{F165D4F1-4BA0-49C2-B604-32D1B9EBF6A0}"/>
              </a:ext>
            </a:extLst>
          </p:cNvPr>
          <p:cNvSpPr>
            <a:spLocks noGrp="1"/>
          </p:cNvSpPr>
          <p:nvPr>
            <p:ph idx="1"/>
          </p:nvPr>
        </p:nvSpPr>
        <p:spPr/>
        <p:txBody>
          <a:bodyPr>
            <a:normAutofit/>
          </a:bodyPr>
          <a:lstStyle/>
          <a:p>
            <a:pPr marL="137160" indent="0">
              <a:buNone/>
            </a:pPr>
            <a:r>
              <a:rPr lang="en-US" dirty="0"/>
              <a:t>Write a program to calculate salary of an employee given his basic pay (to be entered by the user), HRA=10% of basic pay, TA=5% of basic pay. Define HRA and TA as constants and use them to calculate the salary of the employee.</a:t>
            </a:r>
          </a:p>
        </p:txBody>
      </p:sp>
    </p:spTree>
    <p:extLst>
      <p:ext uri="{BB962C8B-B14F-4D97-AF65-F5344CB8AC3E}">
        <p14:creationId xmlns:p14="http://schemas.microsoft.com/office/powerpoint/2010/main" val="12663343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185B2-E7ED-41CC-9412-73E2A58E60DA}"/>
              </a:ext>
            </a:extLst>
          </p:cNvPr>
          <p:cNvSpPr>
            <a:spLocks noGrp="1"/>
          </p:cNvSpPr>
          <p:nvPr>
            <p:ph type="title"/>
          </p:nvPr>
        </p:nvSpPr>
        <p:spPr/>
        <p:txBody>
          <a:bodyPr/>
          <a:lstStyle/>
          <a:p>
            <a:r>
              <a:rPr lang="en-US" dirty="0"/>
              <a:t>Programs</a:t>
            </a:r>
            <a:endParaRPr lang="en-IN" dirty="0"/>
          </a:p>
        </p:txBody>
      </p:sp>
      <p:sp>
        <p:nvSpPr>
          <p:cNvPr id="3" name="Content Placeholder 2">
            <a:extLst>
              <a:ext uri="{FF2B5EF4-FFF2-40B4-BE49-F238E27FC236}">
                <a16:creationId xmlns:a16="http://schemas.microsoft.com/office/drawing/2014/main" id="{F165D4F1-4BA0-49C2-B604-32D1B9EBF6A0}"/>
              </a:ext>
            </a:extLst>
          </p:cNvPr>
          <p:cNvSpPr>
            <a:spLocks noGrp="1"/>
          </p:cNvSpPr>
          <p:nvPr>
            <p:ph idx="1"/>
          </p:nvPr>
        </p:nvSpPr>
        <p:spPr/>
        <p:txBody>
          <a:bodyPr>
            <a:normAutofit/>
          </a:bodyPr>
          <a:lstStyle/>
          <a:p>
            <a:pPr marL="137160" indent="0">
              <a:buNone/>
            </a:pPr>
            <a:r>
              <a:rPr lang="en-US" dirty="0"/>
              <a:t>Salary:</a:t>
            </a:r>
          </a:p>
          <a:p>
            <a:pPr marL="137160" indent="0">
              <a:buNone/>
            </a:pPr>
            <a:r>
              <a:rPr lang="en-US" dirty="0" err="1"/>
              <a:t>Net_Sal</a:t>
            </a:r>
            <a:r>
              <a:rPr lang="en-US" dirty="0"/>
              <a:t> = BP + Allowances - Deductions</a:t>
            </a:r>
          </a:p>
          <a:p>
            <a:pPr marL="137160" indent="0">
              <a:buNone/>
            </a:pPr>
            <a:r>
              <a:rPr lang="en-US" dirty="0"/>
              <a:t>Input:</a:t>
            </a:r>
          </a:p>
          <a:p>
            <a:pPr marL="137160" indent="0">
              <a:buNone/>
            </a:pPr>
            <a:r>
              <a:rPr lang="en-US" dirty="0"/>
              <a:t>  BP, HRA, TA</a:t>
            </a:r>
          </a:p>
          <a:p>
            <a:pPr marL="137160" indent="0">
              <a:buNone/>
            </a:pPr>
            <a:r>
              <a:rPr lang="en-US" dirty="0"/>
              <a:t>  HRA =   BP * HRA%</a:t>
            </a:r>
          </a:p>
          <a:p>
            <a:pPr marL="137160" indent="0">
              <a:buNone/>
            </a:pPr>
            <a:r>
              <a:rPr lang="en-US" dirty="0"/>
              <a:t>  TA     =  BP  * TA %</a:t>
            </a:r>
          </a:p>
          <a:p>
            <a:pPr marL="137160" indent="0">
              <a:buNone/>
            </a:pPr>
            <a:r>
              <a:rPr lang="en-US" dirty="0"/>
              <a:t>Salary = BP + HRA + TA</a:t>
            </a:r>
          </a:p>
          <a:p>
            <a:pPr marL="137160" indent="0">
              <a:buNone/>
            </a:pPr>
            <a:r>
              <a:rPr lang="en-US" dirty="0"/>
              <a:t>Output:</a:t>
            </a:r>
          </a:p>
          <a:p>
            <a:pPr marL="137160" indent="0">
              <a:buNone/>
            </a:pPr>
            <a:r>
              <a:rPr lang="en-US" dirty="0"/>
              <a:t> Salary</a:t>
            </a:r>
          </a:p>
        </p:txBody>
      </p:sp>
    </p:spTree>
    <p:extLst>
      <p:ext uri="{BB962C8B-B14F-4D97-AF65-F5344CB8AC3E}">
        <p14:creationId xmlns:p14="http://schemas.microsoft.com/office/powerpoint/2010/main" val="27331568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185B2-E7ED-41CC-9412-73E2A58E60DA}"/>
              </a:ext>
            </a:extLst>
          </p:cNvPr>
          <p:cNvSpPr>
            <a:spLocks noGrp="1"/>
          </p:cNvSpPr>
          <p:nvPr>
            <p:ph type="title"/>
          </p:nvPr>
        </p:nvSpPr>
        <p:spPr/>
        <p:txBody>
          <a:bodyPr/>
          <a:lstStyle/>
          <a:p>
            <a:r>
              <a:rPr lang="en-US" dirty="0"/>
              <a:t>Programs</a:t>
            </a:r>
            <a:endParaRPr lang="en-IN" dirty="0"/>
          </a:p>
        </p:txBody>
      </p:sp>
      <p:sp>
        <p:nvSpPr>
          <p:cNvPr id="3" name="Content Placeholder 2">
            <a:extLst>
              <a:ext uri="{FF2B5EF4-FFF2-40B4-BE49-F238E27FC236}">
                <a16:creationId xmlns:a16="http://schemas.microsoft.com/office/drawing/2014/main" id="{F165D4F1-4BA0-49C2-B604-32D1B9EBF6A0}"/>
              </a:ext>
            </a:extLst>
          </p:cNvPr>
          <p:cNvSpPr>
            <a:spLocks noGrp="1"/>
          </p:cNvSpPr>
          <p:nvPr>
            <p:ph idx="1"/>
          </p:nvPr>
        </p:nvSpPr>
        <p:spPr/>
        <p:txBody>
          <a:bodyPr/>
          <a:lstStyle/>
          <a:p>
            <a:pPr marL="137160" indent="0">
              <a:buNone/>
            </a:pPr>
            <a:r>
              <a:rPr lang="en-US" dirty="0"/>
              <a:t>Write a program to calculate the bill amount for an item given its quantity sold, value, discount and tax</a:t>
            </a:r>
          </a:p>
        </p:txBody>
      </p:sp>
    </p:spTree>
    <p:extLst>
      <p:ext uri="{BB962C8B-B14F-4D97-AF65-F5344CB8AC3E}">
        <p14:creationId xmlns:p14="http://schemas.microsoft.com/office/powerpoint/2010/main" val="9823367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185B2-E7ED-41CC-9412-73E2A58E60DA}"/>
              </a:ext>
            </a:extLst>
          </p:cNvPr>
          <p:cNvSpPr>
            <a:spLocks noGrp="1"/>
          </p:cNvSpPr>
          <p:nvPr>
            <p:ph type="title"/>
          </p:nvPr>
        </p:nvSpPr>
        <p:spPr/>
        <p:txBody>
          <a:bodyPr/>
          <a:lstStyle/>
          <a:p>
            <a:r>
              <a:rPr lang="en-US" dirty="0"/>
              <a:t>Programs</a:t>
            </a:r>
            <a:endParaRPr lang="en-IN" dirty="0"/>
          </a:p>
        </p:txBody>
      </p:sp>
      <p:sp>
        <p:nvSpPr>
          <p:cNvPr id="3" name="Content Placeholder 2">
            <a:extLst>
              <a:ext uri="{FF2B5EF4-FFF2-40B4-BE49-F238E27FC236}">
                <a16:creationId xmlns:a16="http://schemas.microsoft.com/office/drawing/2014/main" id="{F165D4F1-4BA0-49C2-B604-32D1B9EBF6A0}"/>
              </a:ext>
            </a:extLst>
          </p:cNvPr>
          <p:cNvSpPr>
            <a:spLocks noGrp="1"/>
          </p:cNvSpPr>
          <p:nvPr>
            <p:ph idx="1"/>
          </p:nvPr>
        </p:nvSpPr>
        <p:spPr/>
        <p:txBody>
          <a:bodyPr/>
          <a:lstStyle/>
          <a:p>
            <a:pPr marL="137160" indent="0">
              <a:buNone/>
            </a:pPr>
            <a:r>
              <a:rPr lang="en-US" dirty="0"/>
              <a:t>Bill:</a:t>
            </a:r>
          </a:p>
          <a:p>
            <a:pPr marL="137160" indent="0">
              <a:buNone/>
            </a:pPr>
            <a:r>
              <a:rPr lang="en-US" dirty="0"/>
              <a:t>Input :</a:t>
            </a:r>
          </a:p>
          <a:p>
            <a:pPr marL="137160" indent="0">
              <a:buNone/>
            </a:pPr>
            <a:r>
              <a:rPr lang="en-US" dirty="0"/>
              <a:t> amt = quantity X value   </a:t>
            </a:r>
            <a:br>
              <a:rPr lang="en-US" dirty="0"/>
            </a:br>
            <a:r>
              <a:rPr lang="en-US" dirty="0" err="1"/>
              <a:t>Disc_amt</a:t>
            </a:r>
            <a:r>
              <a:rPr lang="en-US" dirty="0"/>
              <a:t>= amount X discount/100 </a:t>
            </a:r>
            <a:br>
              <a:rPr lang="en-US" dirty="0"/>
            </a:br>
            <a:r>
              <a:rPr lang="en-US" dirty="0"/>
              <a:t>subtotal = amount – discount amount  </a:t>
            </a:r>
            <a:br>
              <a:rPr lang="en-US" dirty="0"/>
            </a:br>
            <a:r>
              <a:rPr lang="en-US" dirty="0" err="1"/>
              <a:t>Tax_amt</a:t>
            </a:r>
            <a:r>
              <a:rPr lang="en-US" dirty="0"/>
              <a:t>= subtotal X tax/100  </a:t>
            </a:r>
          </a:p>
          <a:p>
            <a:pPr marL="137160" indent="0">
              <a:buNone/>
            </a:pPr>
            <a:r>
              <a:rPr lang="en-US" dirty="0" err="1"/>
              <a:t>Bill_amt</a:t>
            </a:r>
            <a:r>
              <a:rPr lang="en-US" dirty="0"/>
              <a:t> = subtotal + tax amount</a:t>
            </a:r>
          </a:p>
        </p:txBody>
      </p:sp>
    </p:spTree>
    <p:extLst>
      <p:ext uri="{BB962C8B-B14F-4D97-AF65-F5344CB8AC3E}">
        <p14:creationId xmlns:p14="http://schemas.microsoft.com/office/powerpoint/2010/main" val="19416696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185B2-E7ED-41CC-9412-73E2A58E60DA}"/>
              </a:ext>
            </a:extLst>
          </p:cNvPr>
          <p:cNvSpPr>
            <a:spLocks noGrp="1"/>
          </p:cNvSpPr>
          <p:nvPr>
            <p:ph type="title"/>
          </p:nvPr>
        </p:nvSpPr>
        <p:spPr/>
        <p:txBody>
          <a:bodyPr/>
          <a:lstStyle/>
          <a:p>
            <a:r>
              <a:rPr lang="en-US" dirty="0"/>
              <a:t>Programs</a:t>
            </a:r>
            <a:endParaRPr lang="en-IN" dirty="0"/>
          </a:p>
        </p:txBody>
      </p:sp>
      <p:sp>
        <p:nvSpPr>
          <p:cNvPr id="3" name="Content Placeholder 2">
            <a:extLst>
              <a:ext uri="{FF2B5EF4-FFF2-40B4-BE49-F238E27FC236}">
                <a16:creationId xmlns:a16="http://schemas.microsoft.com/office/drawing/2014/main" id="{F165D4F1-4BA0-49C2-B604-32D1B9EBF6A0}"/>
              </a:ext>
            </a:extLst>
          </p:cNvPr>
          <p:cNvSpPr>
            <a:spLocks noGrp="1"/>
          </p:cNvSpPr>
          <p:nvPr>
            <p:ph idx="1"/>
          </p:nvPr>
        </p:nvSpPr>
        <p:spPr/>
        <p:txBody>
          <a:bodyPr/>
          <a:lstStyle/>
          <a:p>
            <a:pPr marL="137160" indent="0">
              <a:buNone/>
            </a:pPr>
            <a:r>
              <a:rPr lang="en-US" dirty="0"/>
              <a:t>Bill:</a:t>
            </a:r>
          </a:p>
          <a:p>
            <a:pPr marL="137160" indent="0">
              <a:buNone/>
            </a:pPr>
            <a:r>
              <a:rPr lang="en-US" dirty="0"/>
              <a:t>Input :</a:t>
            </a:r>
          </a:p>
          <a:p>
            <a:pPr marL="137160" indent="0">
              <a:buNone/>
            </a:pPr>
            <a:r>
              <a:rPr lang="en-US" dirty="0"/>
              <a:t> amt = 2 X 100</a:t>
            </a:r>
            <a:br>
              <a:rPr lang="en-US" dirty="0"/>
            </a:br>
            <a:r>
              <a:rPr lang="en-US" dirty="0" err="1"/>
              <a:t>Disc_amt</a:t>
            </a:r>
            <a:r>
              <a:rPr lang="en-US" dirty="0"/>
              <a:t>= 200 X 2/100  = 4</a:t>
            </a:r>
            <a:br>
              <a:rPr lang="en-US" dirty="0"/>
            </a:br>
            <a:r>
              <a:rPr lang="en-US" dirty="0"/>
              <a:t>subtotal = 200 – 4</a:t>
            </a:r>
            <a:br>
              <a:rPr lang="en-US" dirty="0"/>
            </a:br>
            <a:r>
              <a:rPr lang="en-US" dirty="0" err="1"/>
              <a:t>Tax_amt</a:t>
            </a:r>
            <a:r>
              <a:rPr lang="en-US" dirty="0"/>
              <a:t>= 196 X 3/100  </a:t>
            </a:r>
          </a:p>
          <a:p>
            <a:pPr marL="137160" indent="0">
              <a:buNone/>
            </a:pPr>
            <a:r>
              <a:rPr lang="en-US" dirty="0" err="1"/>
              <a:t>Bill_amt</a:t>
            </a:r>
            <a:r>
              <a:rPr lang="en-US" dirty="0"/>
              <a:t> = 196 + 6 = 202</a:t>
            </a:r>
          </a:p>
        </p:txBody>
      </p:sp>
    </p:spTree>
    <p:extLst>
      <p:ext uri="{BB962C8B-B14F-4D97-AF65-F5344CB8AC3E}">
        <p14:creationId xmlns:p14="http://schemas.microsoft.com/office/powerpoint/2010/main" val="24068947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185B2-E7ED-41CC-9412-73E2A58E60DA}"/>
              </a:ext>
            </a:extLst>
          </p:cNvPr>
          <p:cNvSpPr>
            <a:spLocks noGrp="1"/>
          </p:cNvSpPr>
          <p:nvPr>
            <p:ph type="title"/>
          </p:nvPr>
        </p:nvSpPr>
        <p:spPr/>
        <p:txBody>
          <a:bodyPr/>
          <a:lstStyle/>
          <a:p>
            <a:r>
              <a:rPr lang="en-US" dirty="0"/>
              <a:t>Programs</a:t>
            </a:r>
            <a:endParaRPr lang="en-IN" dirty="0"/>
          </a:p>
        </p:txBody>
      </p:sp>
      <p:sp>
        <p:nvSpPr>
          <p:cNvPr id="3" name="Content Placeholder 2">
            <a:extLst>
              <a:ext uri="{FF2B5EF4-FFF2-40B4-BE49-F238E27FC236}">
                <a16:creationId xmlns:a16="http://schemas.microsoft.com/office/drawing/2014/main" id="{F165D4F1-4BA0-49C2-B604-32D1B9EBF6A0}"/>
              </a:ext>
            </a:extLst>
          </p:cNvPr>
          <p:cNvSpPr>
            <a:spLocks noGrp="1"/>
          </p:cNvSpPr>
          <p:nvPr>
            <p:ph idx="1"/>
          </p:nvPr>
        </p:nvSpPr>
        <p:spPr/>
        <p:txBody>
          <a:bodyPr>
            <a:normAutofit/>
          </a:bodyPr>
          <a:lstStyle/>
          <a:p>
            <a:pPr marL="137160" indent="0">
              <a:buNone/>
            </a:pPr>
            <a:r>
              <a:rPr lang="en-US" dirty="0"/>
              <a:t>Bill:</a:t>
            </a:r>
          </a:p>
          <a:p>
            <a:pPr marL="137160" indent="0">
              <a:buNone/>
            </a:pPr>
            <a:r>
              <a:rPr lang="en-US" dirty="0"/>
              <a:t>Input :</a:t>
            </a:r>
          </a:p>
          <a:p>
            <a:pPr marL="137160" indent="0">
              <a:buNone/>
            </a:pPr>
            <a:r>
              <a:rPr lang="en-US" dirty="0"/>
              <a:t> quantity </a:t>
            </a:r>
          </a:p>
          <a:p>
            <a:pPr marL="137160" indent="0">
              <a:buNone/>
            </a:pPr>
            <a:r>
              <a:rPr lang="en-US" dirty="0"/>
              <a:t> value </a:t>
            </a:r>
          </a:p>
          <a:p>
            <a:pPr marL="137160" indent="0">
              <a:buNone/>
            </a:pPr>
            <a:r>
              <a:rPr lang="en-US" dirty="0"/>
              <a:t>Discount</a:t>
            </a:r>
          </a:p>
          <a:p>
            <a:pPr marL="137160" indent="0">
              <a:buNone/>
            </a:pPr>
            <a:r>
              <a:rPr lang="en-US" dirty="0"/>
              <a:t>Tax </a:t>
            </a:r>
          </a:p>
          <a:p>
            <a:pPr marL="137160" indent="0">
              <a:buNone/>
            </a:pPr>
            <a:r>
              <a:rPr lang="en-US" dirty="0"/>
              <a:t>  </a:t>
            </a:r>
            <a:br>
              <a:rPr lang="en-US" dirty="0"/>
            </a:br>
            <a:endParaRPr lang="en-US" dirty="0"/>
          </a:p>
        </p:txBody>
      </p:sp>
    </p:spTree>
    <p:extLst>
      <p:ext uri="{BB962C8B-B14F-4D97-AF65-F5344CB8AC3E}">
        <p14:creationId xmlns:p14="http://schemas.microsoft.com/office/powerpoint/2010/main" val="33833950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6E786-27AD-413D-B01A-ADB044237A7C}"/>
              </a:ext>
            </a:extLst>
          </p:cNvPr>
          <p:cNvSpPr>
            <a:spLocks noGrp="1"/>
          </p:cNvSpPr>
          <p:nvPr>
            <p:ph type="title"/>
          </p:nvPr>
        </p:nvSpPr>
        <p:spPr/>
        <p:txBody>
          <a:bodyPr/>
          <a:lstStyle/>
          <a:p>
            <a:r>
              <a:rPr lang="en-US" dirty="0"/>
              <a:t>Programs</a:t>
            </a:r>
            <a:endParaRPr lang="en-IN" dirty="0"/>
          </a:p>
        </p:txBody>
      </p:sp>
      <p:sp>
        <p:nvSpPr>
          <p:cNvPr id="3" name="Content Placeholder 2">
            <a:extLst>
              <a:ext uri="{FF2B5EF4-FFF2-40B4-BE49-F238E27FC236}">
                <a16:creationId xmlns:a16="http://schemas.microsoft.com/office/drawing/2014/main" id="{0CE4F13F-D3C2-4F97-A3E9-2C1C1EB73594}"/>
              </a:ext>
            </a:extLst>
          </p:cNvPr>
          <p:cNvSpPr>
            <a:spLocks noGrp="1"/>
          </p:cNvSpPr>
          <p:nvPr>
            <p:ph idx="1"/>
          </p:nvPr>
        </p:nvSpPr>
        <p:spPr/>
        <p:txBody>
          <a:bodyPr>
            <a:normAutofit/>
          </a:bodyPr>
          <a:lstStyle/>
          <a:p>
            <a:r>
              <a:rPr lang="en-US" dirty="0"/>
              <a:t>Write a program to enter the marks of a student in four subjects. Then calculate the total and aggregate, and display the grade obtained by the student. If the student scores an aggregate greater than 75%, then the grade is Distinction. If aggregate is greater than equal 60% and less than 75%, then the grade is First Division. If aggregate is greater than equal 50% and less than 60%, then the grade is Second Division. If aggregate is greater than equal 40% and less than 50%, then the grade is Third Division. Else the grade is Fail.</a:t>
            </a:r>
            <a:endParaRPr lang="en-IN" dirty="0"/>
          </a:p>
        </p:txBody>
      </p:sp>
    </p:spTree>
    <p:extLst>
      <p:ext uri="{BB962C8B-B14F-4D97-AF65-F5344CB8AC3E}">
        <p14:creationId xmlns:p14="http://schemas.microsoft.com/office/powerpoint/2010/main" val="19148259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6E786-27AD-413D-B01A-ADB044237A7C}"/>
              </a:ext>
            </a:extLst>
          </p:cNvPr>
          <p:cNvSpPr>
            <a:spLocks noGrp="1"/>
          </p:cNvSpPr>
          <p:nvPr>
            <p:ph type="title"/>
          </p:nvPr>
        </p:nvSpPr>
        <p:spPr/>
        <p:txBody>
          <a:bodyPr/>
          <a:lstStyle/>
          <a:p>
            <a:r>
              <a:rPr lang="en-US" dirty="0"/>
              <a:t>Programs</a:t>
            </a:r>
            <a:endParaRPr lang="en-IN" dirty="0"/>
          </a:p>
        </p:txBody>
      </p:sp>
      <p:sp>
        <p:nvSpPr>
          <p:cNvPr id="3" name="Content Placeholder 2">
            <a:extLst>
              <a:ext uri="{FF2B5EF4-FFF2-40B4-BE49-F238E27FC236}">
                <a16:creationId xmlns:a16="http://schemas.microsoft.com/office/drawing/2014/main" id="{0CE4F13F-D3C2-4F97-A3E9-2C1C1EB73594}"/>
              </a:ext>
            </a:extLst>
          </p:cNvPr>
          <p:cNvSpPr>
            <a:spLocks noGrp="1"/>
          </p:cNvSpPr>
          <p:nvPr>
            <p:ph idx="1"/>
          </p:nvPr>
        </p:nvSpPr>
        <p:spPr/>
        <p:txBody>
          <a:bodyPr>
            <a:normAutofit/>
          </a:bodyPr>
          <a:lstStyle/>
          <a:p>
            <a:pPr marL="137160" indent="0">
              <a:buNone/>
            </a:pPr>
            <a:r>
              <a:rPr lang="en-US" dirty="0"/>
              <a:t> Write a program to calculate tax given the following conditions: If income is less than 1, 50, 000 then no tax. If income is 1, 50, 001 – 3, 00, 000 then charge 10% tax. If income is 3, 00, 001 – 5, 00, 000 then charge 20% tax. If income is above 5, 00, 000 then charge 30% tax</a:t>
            </a:r>
            <a:endParaRPr lang="en-IN" dirty="0"/>
          </a:p>
        </p:txBody>
      </p:sp>
    </p:spTree>
    <p:extLst>
      <p:ext uri="{BB962C8B-B14F-4D97-AF65-F5344CB8AC3E}">
        <p14:creationId xmlns:p14="http://schemas.microsoft.com/office/powerpoint/2010/main" val="13896205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6E786-27AD-413D-B01A-ADB044237A7C}"/>
              </a:ext>
            </a:extLst>
          </p:cNvPr>
          <p:cNvSpPr>
            <a:spLocks noGrp="1"/>
          </p:cNvSpPr>
          <p:nvPr>
            <p:ph type="title"/>
          </p:nvPr>
        </p:nvSpPr>
        <p:spPr/>
        <p:txBody>
          <a:bodyPr/>
          <a:lstStyle/>
          <a:p>
            <a:r>
              <a:rPr lang="en-US" dirty="0"/>
              <a:t>Programs</a:t>
            </a:r>
            <a:endParaRPr lang="en-IN" dirty="0"/>
          </a:p>
        </p:txBody>
      </p:sp>
      <p:sp>
        <p:nvSpPr>
          <p:cNvPr id="3" name="Content Placeholder 2">
            <a:extLst>
              <a:ext uri="{FF2B5EF4-FFF2-40B4-BE49-F238E27FC236}">
                <a16:creationId xmlns:a16="http://schemas.microsoft.com/office/drawing/2014/main" id="{0CE4F13F-D3C2-4F97-A3E9-2C1C1EB73594}"/>
              </a:ext>
            </a:extLst>
          </p:cNvPr>
          <p:cNvSpPr>
            <a:spLocks noGrp="1"/>
          </p:cNvSpPr>
          <p:nvPr>
            <p:ph idx="1"/>
          </p:nvPr>
        </p:nvSpPr>
        <p:spPr/>
        <p:txBody>
          <a:bodyPr>
            <a:normAutofit/>
          </a:bodyPr>
          <a:lstStyle/>
          <a:p>
            <a:pPr marL="137160" indent="0">
              <a:buNone/>
            </a:pPr>
            <a:r>
              <a:rPr lang="en-US" dirty="0"/>
              <a:t>Write a program to calculate the sum of numbers from m to n</a:t>
            </a:r>
          </a:p>
          <a:p>
            <a:pPr marL="137160" indent="0">
              <a:buNone/>
            </a:pPr>
            <a:endParaRPr lang="en-US" dirty="0"/>
          </a:p>
          <a:p>
            <a:pPr marL="137160" indent="0">
              <a:buNone/>
            </a:pPr>
            <a:r>
              <a:rPr lang="en-US" dirty="0"/>
              <a:t>Write a program to calculate the factorial of a number</a:t>
            </a:r>
          </a:p>
          <a:p>
            <a:pPr marL="137160" indent="0">
              <a:buNone/>
            </a:pPr>
            <a:endParaRPr lang="en-US" dirty="0"/>
          </a:p>
          <a:p>
            <a:pPr marL="137160" indent="0">
              <a:buNone/>
            </a:pPr>
            <a:r>
              <a:rPr lang="en-US" dirty="0"/>
              <a:t>Write a program to find whether the given number is an Armstrong number</a:t>
            </a:r>
            <a:endParaRPr lang="en-IN" dirty="0"/>
          </a:p>
        </p:txBody>
      </p:sp>
    </p:spTree>
    <p:extLst>
      <p:ext uri="{BB962C8B-B14F-4D97-AF65-F5344CB8AC3E}">
        <p14:creationId xmlns:p14="http://schemas.microsoft.com/office/powerpoint/2010/main" val="3468936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6E786-27AD-413D-B01A-ADB044237A7C}"/>
              </a:ext>
            </a:extLst>
          </p:cNvPr>
          <p:cNvSpPr>
            <a:spLocks noGrp="1"/>
          </p:cNvSpPr>
          <p:nvPr>
            <p:ph type="title"/>
          </p:nvPr>
        </p:nvSpPr>
        <p:spPr/>
        <p:txBody>
          <a:bodyPr/>
          <a:lstStyle/>
          <a:p>
            <a:r>
              <a:rPr lang="en-US" dirty="0"/>
              <a:t>Programs</a:t>
            </a:r>
            <a:endParaRPr lang="en-IN" dirty="0"/>
          </a:p>
        </p:txBody>
      </p:sp>
      <p:sp>
        <p:nvSpPr>
          <p:cNvPr id="3" name="Content Placeholder 2">
            <a:extLst>
              <a:ext uri="{FF2B5EF4-FFF2-40B4-BE49-F238E27FC236}">
                <a16:creationId xmlns:a16="http://schemas.microsoft.com/office/drawing/2014/main" id="{0CE4F13F-D3C2-4F97-A3E9-2C1C1EB73594}"/>
              </a:ext>
            </a:extLst>
          </p:cNvPr>
          <p:cNvSpPr>
            <a:spLocks noGrp="1"/>
          </p:cNvSpPr>
          <p:nvPr>
            <p:ph idx="1"/>
          </p:nvPr>
        </p:nvSpPr>
        <p:spPr/>
        <p:txBody>
          <a:bodyPr>
            <a:normAutofit/>
          </a:bodyPr>
          <a:lstStyle/>
          <a:p>
            <a:pPr marL="137160" indent="0">
              <a:buNone/>
            </a:pPr>
            <a:r>
              <a:rPr lang="en-US" dirty="0"/>
              <a:t>Write a program using function to print the Fibonacci series.</a:t>
            </a:r>
          </a:p>
          <a:p>
            <a:pPr marL="137160" indent="0">
              <a:buNone/>
            </a:pPr>
            <a:endParaRPr lang="en-US" dirty="0"/>
          </a:p>
          <a:p>
            <a:pPr marL="137160" indent="0">
              <a:buNone/>
            </a:pPr>
            <a:r>
              <a:rPr lang="en-IN" dirty="0"/>
              <a:t>Write a program to sum the series: </a:t>
            </a:r>
          </a:p>
          <a:p>
            <a:pPr marL="137160" indent="0">
              <a:buNone/>
            </a:pPr>
            <a:r>
              <a:rPr lang="en-IN" dirty="0"/>
              <a:t>1/2 + 2/3+ …………………… + n/ (n+1) </a:t>
            </a:r>
          </a:p>
        </p:txBody>
      </p:sp>
    </p:spTree>
    <p:extLst>
      <p:ext uri="{BB962C8B-B14F-4D97-AF65-F5344CB8AC3E}">
        <p14:creationId xmlns:p14="http://schemas.microsoft.com/office/powerpoint/2010/main" val="24190811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6E786-27AD-413D-B01A-ADB044237A7C}"/>
              </a:ext>
            </a:extLst>
          </p:cNvPr>
          <p:cNvSpPr>
            <a:spLocks noGrp="1"/>
          </p:cNvSpPr>
          <p:nvPr>
            <p:ph type="title"/>
          </p:nvPr>
        </p:nvSpPr>
        <p:spPr/>
        <p:txBody>
          <a:bodyPr/>
          <a:lstStyle/>
          <a:p>
            <a:r>
              <a:rPr lang="en-US" dirty="0"/>
              <a:t>Programs</a:t>
            </a:r>
            <a:endParaRPr lang="en-IN" dirty="0"/>
          </a:p>
        </p:txBody>
      </p:sp>
      <p:sp>
        <p:nvSpPr>
          <p:cNvPr id="3" name="Content Placeholder 2">
            <a:extLst>
              <a:ext uri="{FF2B5EF4-FFF2-40B4-BE49-F238E27FC236}">
                <a16:creationId xmlns:a16="http://schemas.microsoft.com/office/drawing/2014/main" id="{0CE4F13F-D3C2-4F97-A3E9-2C1C1EB73594}"/>
              </a:ext>
            </a:extLst>
          </p:cNvPr>
          <p:cNvSpPr>
            <a:spLocks noGrp="1"/>
          </p:cNvSpPr>
          <p:nvPr>
            <p:ph idx="1"/>
          </p:nvPr>
        </p:nvSpPr>
        <p:spPr/>
        <p:txBody>
          <a:bodyPr>
            <a:normAutofit/>
          </a:bodyPr>
          <a:lstStyle/>
          <a:p>
            <a:pPr marL="137160" indent="0">
              <a:buNone/>
            </a:pPr>
            <a:r>
              <a:rPr lang="en-US" dirty="0"/>
              <a:t>Write a program to swap two integers using call by reference method</a:t>
            </a:r>
            <a:endParaRPr lang="en-IN" dirty="0"/>
          </a:p>
        </p:txBody>
      </p:sp>
    </p:spTree>
    <p:extLst>
      <p:ext uri="{BB962C8B-B14F-4D97-AF65-F5344CB8AC3E}">
        <p14:creationId xmlns:p14="http://schemas.microsoft.com/office/powerpoint/2010/main" val="42156769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185B2-E7ED-41CC-9412-73E2A58E60DA}"/>
              </a:ext>
            </a:extLst>
          </p:cNvPr>
          <p:cNvSpPr>
            <a:spLocks noGrp="1"/>
          </p:cNvSpPr>
          <p:nvPr>
            <p:ph type="title"/>
          </p:nvPr>
        </p:nvSpPr>
        <p:spPr/>
        <p:txBody>
          <a:bodyPr/>
          <a:lstStyle/>
          <a:p>
            <a:r>
              <a:rPr lang="en-US" dirty="0"/>
              <a:t>Programs</a:t>
            </a:r>
            <a:endParaRPr lang="en-IN" dirty="0"/>
          </a:p>
        </p:txBody>
      </p:sp>
      <p:sp>
        <p:nvSpPr>
          <p:cNvPr id="3" name="Content Placeholder 2">
            <a:extLst>
              <a:ext uri="{FF2B5EF4-FFF2-40B4-BE49-F238E27FC236}">
                <a16:creationId xmlns:a16="http://schemas.microsoft.com/office/drawing/2014/main" id="{F165D4F1-4BA0-49C2-B604-32D1B9EBF6A0}"/>
              </a:ext>
            </a:extLst>
          </p:cNvPr>
          <p:cNvSpPr>
            <a:spLocks noGrp="1"/>
          </p:cNvSpPr>
          <p:nvPr>
            <p:ph idx="1"/>
          </p:nvPr>
        </p:nvSpPr>
        <p:spPr/>
        <p:txBody>
          <a:bodyPr/>
          <a:lstStyle/>
          <a:p>
            <a:pPr marL="137160" indent="0">
              <a:buNone/>
            </a:pPr>
            <a:r>
              <a:rPr lang="en-US" dirty="0"/>
              <a:t>Write a program the distance between two points</a:t>
            </a:r>
          </a:p>
        </p:txBody>
      </p:sp>
    </p:spTree>
    <p:extLst>
      <p:ext uri="{BB962C8B-B14F-4D97-AF65-F5344CB8AC3E}">
        <p14:creationId xmlns:p14="http://schemas.microsoft.com/office/powerpoint/2010/main" val="17646791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185B2-E7ED-41CC-9412-73E2A58E60DA}"/>
              </a:ext>
            </a:extLst>
          </p:cNvPr>
          <p:cNvSpPr>
            <a:spLocks noGrp="1"/>
          </p:cNvSpPr>
          <p:nvPr>
            <p:ph type="title"/>
          </p:nvPr>
        </p:nvSpPr>
        <p:spPr/>
        <p:txBody>
          <a:bodyPr/>
          <a:lstStyle/>
          <a:p>
            <a:r>
              <a:rPr lang="en-US" dirty="0"/>
              <a:t>Programs</a:t>
            </a:r>
            <a:endParaRPr lang="en-IN" dirty="0"/>
          </a:p>
        </p:txBody>
      </p:sp>
      <p:sp>
        <p:nvSpPr>
          <p:cNvPr id="3" name="Content Placeholder 2">
            <a:extLst>
              <a:ext uri="{FF2B5EF4-FFF2-40B4-BE49-F238E27FC236}">
                <a16:creationId xmlns:a16="http://schemas.microsoft.com/office/drawing/2014/main" id="{F165D4F1-4BA0-49C2-B604-32D1B9EBF6A0}"/>
              </a:ext>
            </a:extLst>
          </p:cNvPr>
          <p:cNvSpPr>
            <a:spLocks noGrp="1"/>
          </p:cNvSpPr>
          <p:nvPr>
            <p:ph idx="1"/>
          </p:nvPr>
        </p:nvSpPr>
        <p:spPr/>
        <p:txBody>
          <a:bodyPr/>
          <a:lstStyle/>
          <a:p>
            <a:pPr marL="137160" indent="0">
              <a:buNone/>
            </a:pPr>
            <a:endParaRPr lang="en-US" dirty="0"/>
          </a:p>
          <a:p>
            <a:pPr marL="137160" indent="0">
              <a:buNone/>
            </a:pPr>
            <a:r>
              <a:rPr lang="en-US" dirty="0"/>
              <a:t>Distance can be calculated using the two points (x</a:t>
            </a:r>
            <a:r>
              <a:rPr lang="en-US" baseline="-25000" dirty="0"/>
              <a:t>1</a:t>
            </a:r>
            <a:r>
              <a:rPr lang="en-US" dirty="0"/>
              <a:t>, y</a:t>
            </a:r>
            <a:r>
              <a:rPr lang="en-US" baseline="-25000" dirty="0"/>
              <a:t>1</a:t>
            </a:r>
            <a:r>
              <a:rPr lang="en-US" dirty="0"/>
              <a:t>) and (x</a:t>
            </a:r>
            <a:r>
              <a:rPr lang="en-US" baseline="-25000" dirty="0"/>
              <a:t>2</a:t>
            </a:r>
            <a:r>
              <a:rPr lang="en-US" dirty="0"/>
              <a:t>, y</a:t>
            </a:r>
            <a:r>
              <a:rPr lang="en-US" baseline="-25000" dirty="0"/>
              <a:t>2</a:t>
            </a:r>
            <a:r>
              <a:rPr lang="en-US" dirty="0"/>
              <a:t>), the distance d between these points is given by the formula:</a:t>
            </a:r>
            <a:endParaRPr lang="en-IN" dirty="0"/>
          </a:p>
        </p:txBody>
      </p:sp>
      <p:pic>
        <p:nvPicPr>
          <p:cNvPr id="1026" name="Picture 2" descr="Find the average distance between two points on a unit square : askmath">
            <a:extLst>
              <a:ext uri="{FF2B5EF4-FFF2-40B4-BE49-F238E27FC236}">
                <a16:creationId xmlns:a16="http://schemas.microsoft.com/office/drawing/2014/main" id="{36596748-C797-4CD1-8785-FA8976329D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3781400"/>
            <a:ext cx="3162300" cy="144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7592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185B2-E7ED-41CC-9412-73E2A58E60DA}"/>
              </a:ext>
            </a:extLst>
          </p:cNvPr>
          <p:cNvSpPr>
            <a:spLocks noGrp="1"/>
          </p:cNvSpPr>
          <p:nvPr>
            <p:ph type="title"/>
          </p:nvPr>
        </p:nvSpPr>
        <p:spPr/>
        <p:txBody>
          <a:bodyPr/>
          <a:lstStyle/>
          <a:p>
            <a:r>
              <a:rPr lang="en-US" dirty="0"/>
              <a:t>Programs</a:t>
            </a:r>
            <a:endParaRPr lang="en-IN" dirty="0"/>
          </a:p>
        </p:txBody>
      </p:sp>
      <p:sp>
        <p:nvSpPr>
          <p:cNvPr id="3" name="Content Placeholder 2">
            <a:extLst>
              <a:ext uri="{FF2B5EF4-FFF2-40B4-BE49-F238E27FC236}">
                <a16:creationId xmlns:a16="http://schemas.microsoft.com/office/drawing/2014/main" id="{F165D4F1-4BA0-49C2-B604-32D1B9EBF6A0}"/>
              </a:ext>
            </a:extLst>
          </p:cNvPr>
          <p:cNvSpPr>
            <a:spLocks noGrp="1"/>
          </p:cNvSpPr>
          <p:nvPr>
            <p:ph idx="1"/>
          </p:nvPr>
        </p:nvSpPr>
        <p:spPr/>
        <p:txBody>
          <a:bodyPr/>
          <a:lstStyle/>
          <a:p>
            <a:pPr marL="137160" indent="0">
              <a:buNone/>
            </a:pPr>
            <a:r>
              <a:rPr lang="en-US" dirty="0"/>
              <a:t>D1  = (x2 – x1)**2 </a:t>
            </a:r>
          </a:p>
          <a:p>
            <a:pPr marL="137160" indent="0">
              <a:buNone/>
            </a:pPr>
            <a:r>
              <a:rPr lang="en-US" dirty="0"/>
              <a:t>D2 = (y2 – y1)**2</a:t>
            </a:r>
          </a:p>
          <a:p>
            <a:pPr marL="137160" indent="0">
              <a:buNone/>
            </a:pPr>
            <a:r>
              <a:rPr lang="en-US" dirty="0"/>
              <a:t>Ans = (D1 + D2)**0.5</a:t>
            </a:r>
          </a:p>
        </p:txBody>
      </p:sp>
      <p:pic>
        <p:nvPicPr>
          <p:cNvPr id="1026" name="Picture 2" descr="Find the average distance between two points on a unit square : askmath">
            <a:extLst>
              <a:ext uri="{FF2B5EF4-FFF2-40B4-BE49-F238E27FC236}">
                <a16:creationId xmlns:a16="http://schemas.microsoft.com/office/drawing/2014/main" id="{36596748-C797-4CD1-8785-FA8976329D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3781400"/>
            <a:ext cx="3162300" cy="144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85125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DD99D-F2A5-4B7C-A881-73335C16C9A4}"/>
              </a:ext>
            </a:extLst>
          </p:cNvPr>
          <p:cNvSpPr>
            <a:spLocks noGrp="1"/>
          </p:cNvSpPr>
          <p:nvPr>
            <p:ph type="title"/>
          </p:nvPr>
        </p:nvSpPr>
        <p:spPr/>
        <p:txBody>
          <a:bodyPr/>
          <a:lstStyle/>
          <a:p>
            <a:r>
              <a:rPr lang="en-US" dirty="0"/>
              <a:t>If structure</a:t>
            </a:r>
            <a:endParaRPr lang="en-IN" dirty="0"/>
          </a:p>
        </p:txBody>
      </p:sp>
      <p:sp>
        <p:nvSpPr>
          <p:cNvPr id="3" name="Content Placeholder 2">
            <a:extLst>
              <a:ext uri="{FF2B5EF4-FFF2-40B4-BE49-F238E27FC236}">
                <a16:creationId xmlns:a16="http://schemas.microsoft.com/office/drawing/2014/main" id="{47B34BE5-97F5-439D-B61C-199F5FAB8296}"/>
              </a:ext>
            </a:extLst>
          </p:cNvPr>
          <p:cNvSpPr>
            <a:spLocks noGrp="1"/>
          </p:cNvSpPr>
          <p:nvPr>
            <p:ph idx="1"/>
          </p:nvPr>
        </p:nvSpPr>
        <p:spPr/>
        <p:txBody>
          <a:bodyPr/>
          <a:lstStyle/>
          <a:p>
            <a:pPr marL="137160" indent="0">
              <a:buNone/>
            </a:pPr>
            <a:r>
              <a:rPr lang="en-US" dirty="0"/>
              <a:t> if (condition):</a:t>
            </a:r>
          </a:p>
          <a:p>
            <a:pPr marL="137160" indent="0">
              <a:buNone/>
            </a:pPr>
            <a:r>
              <a:rPr lang="en-US" dirty="0"/>
              <a:t>      statement(s)</a:t>
            </a:r>
          </a:p>
          <a:p>
            <a:pPr marL="137160" indent="0">
              <a:buNone/>
            </a:pPr>
            <a:r>
              <a:rPr lang="en-US" dirty="0" err="1"/>
              <a:t>elif</a:t>
            </a:r>
            <a:r>
              <a:rPr lang="en-US" dirty="0"/>
              <a:t> (condition):</a:t>
            </a:r>
          </a:p>
          <a:p>
            <a:pPr marL="137160" indent="0">
              <a:buNone/>
            </a:pPr>
            <a:r>
              <a:rPr lang="en-US" dirty="0"/>
              <a:t>       statement(s)</a:t>
            </a:r>
          </a:p>
          <a:p>
            <a:pPr marL="137160" indent="0">
              <a:buNone/>
            </a:pPr>
            <a:endParaRPr lang="en-US" dirty="0"/>
          </a:p>
          <a:p>
            <a:pPr marL="137160" indent="0">
              <a:buNone/>
            </a:pPr>
            <a:r>
              <a:rPr lang="en-US" dirty="0"/>
              <a:t>…………..</a:t>
            </a:r>
          </a:p>
          <a:p>
            <a:pPr marL="137160" indent="0">
              <a:buNone/>
            </a:pPr>
            <a:r>
              <a:rPr lang="en-US" dirty="0"/>
              <a:t>else:</a:t>
            </a:r>
          </a:p>
          <a:p>
            <a:pPr marL="137160" indent="0">
              <a:buNone/>
            </a:pPr>
            <a:r>
              <a:rPr lang="en-US" dirty="0"/>
              <a:t>      statement(s)</a:t>
            </a:r>
            <a:endParaRPr lang="en-IN" dirty="0"/>
          </a:p>
        </p:txBody>
      </p:sp>
    </p:spTree>
    <p:extLst>
      <p:ext uri="{BB962C8B-B14F-4D97-AF65-F5344CB8AC3E}">
        <p14:creationId xmlns:p14="http://schemas.microsoft.com/office/powerpoint/2010/main" val="16509372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DD99D-F2A5-4B7C-A881-73335C16C9A4}"/>
              </a:ext>
            </a:extLst>
          </p:cNvPr>
          <p:cNvSpPr>
            <a:spLocks noGrp="1"/>
          </p:cNvSpPr>
          <p:nvPr>
            <p:ph type="title"/>
          </p:nvPr>
        </p:nvSpPr>
        <p:spPr/>
        <p:txBody>
          <a:bodyPr/>
          <a:lstStyle/>
          <a:p>
            <a:r>
              <a:rPr lang="en-US" dirty="0"/>
              <a:t>For loop</a:t>
            </a:r>
            <a:endParaRPr lang="en-IN" dirty="0"/>
          </a:p>
        </p:txBody>
      </p:sp>
      <p:sp>
        <p:nvSpPr>
          <p:cNvPr id="3" name="Content Placeholder 2">
            <a:extLst>
              <a:ext uri="{FF2B5EF4-FFF2-40B4-BE49-F238E27FC236}">
                <a16:creationId xmlns:a16="http://schemas.microsoft.com/office/drawing/2014/main" id="{47B34BE5-97F5-439D-B61C-199F5FAB8296}"/>
              </a:ext>
            </a:extLst>
          </p:cNvPr>
          <p:cNvSpPr>
            <a:spLocks noGrp="1"/>
          </p:cNvSpPr>
          <p:nvPr>
            <p:ph idx="1"/>
          </p:nvPr>
        </p:nvSpPr>
        <p:spPr/>
        <p:txBody>
          <a:bodyPr/>
          <a:lstStyle/>
          <a:p>
            <a:pPr marL="137160" indent="0">
              <a:buNone/>
            </a:pPr>
            <a:r>
              <a:rPr lang="en-US" dirty="0"/>
              <a:t>for  variable in range(start, end, step):</a:t>
            </a:r>
          </a:p>
          <a:p>
            <a:pPr marL="137160" indent="0">
              <a:buNone/>
            </a:pPr>
            <a:r>
              <a:rPr lang="en-US" dirty="0"/>
              <a:t>	statement(s)</a:t>
            </a:r>
            <a:endParaRPr lang="en-IN" dirty="0"/>
          </a:p>
        </p:txBody>
      </p:sp>
    </p:spTree>
    <p:extLst>
      <p:ext uri="{BB962C8B-B14F-4D97-AF65-F5344CB8AC3E}">
        <p14:creationId xmlns:p14="http://schemas.microsoft.com/office/powerpoint/2010/main" val="17642851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DD99D-F2A5-4B7C-A881-73335C16C9A4}"/>
              </a:ext>
            </a:extLst>
          </p:cNvPr>
          <p:cNvSpPr>
            <a:spLocks noGrp="1"/>
          </p:cNvSpPr>
          <p:nvPr>
            <p:ph type="title"/>
          </p:nvPr>
        </p:nvSpPr>
        <p:spPr/>
        <p:txBody>
          <a:bodyPr/>
          <a:lstStyle/>
          <a:p>
            <a:r>
              <a:rPr lang="en-US" dirty="0"/>
              <a:t>For loop</a:t>
            </a:r>
            <a:endParaRPr lang="en-IN" dirty="0"/>
          </a:p>
        </p:txBody>
      </p:sp>
      <p:sp>
        <p:nvSpPr>
          <p:cNvPr id="3" name="Content Placeholder 2">
            <a:extLst>
              <a:ext uri="{FF2B5EF4-FFF2-40B4-BE49-F238E27FC236}">
                <a16:creationId xmlns:a16="http://schemas.microsoft.com/office/drawing/2014/main" id="{47B34BE5-97F5-439D-B61C-199F5FAB8296}"/>
              </a:ext>
            </a:extLst>
          </p:cNvPr>
          <p:cNvSpPr>
            <a:spLocks noGrp="1"/>
          </p:cNvSpPr>
          <p:nvPr>
            <p:ph idx="1"/>
          </p:nvPr>
        </p:nvSpPr>
        <p:spPr/>
        <p:txBody>
          <a:bodyPr/>
          <a:lstStyle/>
          <a:p>
            <a:pPr marL="137160" indent="0">
              <a:buNone/>
            </a:pPr>
            <a:r>
              <a:rPr lang="en-US" dirty="0"/>
              <a:t>for  x in range(3): #value of x will be 0,1,2</a:t>
            </a:r>
          </a:p>
          <a:p>
            <a:pPr marL="137160" indent="0">
              <a:buNone/>
            </a:pPr>
            <a:r>
              <a:rPr lang="en-US" dirty="0"/>
              <a:t>	print(“hello”) -&gt; will print 3 times</a:t>
            </a:r>
            <a:endParaRPr lang="en-IN" dirty="0"/>
          </a:p>
        </p:txBody>
      </p:sp>
    </p:spTree>
    <p:extLst>
      <p:ext uri="{BB962C8B-B14F-4D97-AF65-F5344CB8AC3E}">
        <p14:creationId xmlns:p14="http://schemas.microsoft.com/office/powerpoint/2010/main" val="21478950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DD99D-F2A5-4B7C-A881-73335C16C9A4}"/>
              </a:ext>
            </a:extLst>
          </p:cNvPr>
          <p:cNvSpPr>
            <a:spLocks noGrp="1"/>
          </p:cNvSpPr>
          <p:nvPr>
            <p:ph type="title"/>
          </p:nvPr>
        </p:nvSpPr>
        <p:spPr/>
        <p:txBody>
          <a:bodyPr/>
          <a:lstStyle/>
          <a:p>
            <a:r>
              <a:rPr lang="en-US" dirty="0"/>
              <a:t>For loop</a:t>
            </a:r>
            <a:endParaRPr lang="en-IN" dirty="0"/>
          </a:p>
        </p:txBody>
      </p:sp>
      <p:sp>
        <p:nvSpPr>
          <p:cNvPr id="3" name="Content Placeholder 2">
            <a:extLst>
              <a:ext uri="{FF2B5EF4-FFF2-40B4-BE49-F238E27FC236}">
                <a16:creationId xmlns:a16="http://schemas.microsoft.com/office/drawing/2014/main" id="{47B34BE5-97F5-439D-B61C-199F5FAB8296}"/>
              </a:ext>
            </a:extLst>
          </p:cNvPr>
          <p:cNvSpPr>
            <a:spLocks noGrp="1"/>
          </p:cNvSpPr>
          <p:nvPr>
            <p:ph idx="1"/>
          </p:nvPr>
        </p:nvSpPr>
        <p:spPr/>
        <p:txBody>
          <a:bodyPr/>
          <a:lstStyle/>
          <a:p>
            <a:pPr marL="137160" indent="0">
              <a:buNone/>
            </a:pPr>
            <a:r>
              <a:rPr lang="en-US" dirty="0"/>
              <a:t>for  x in range(1,5,1) :</a:t>
            </a:r>
          </a:p>
          <a:p>
            <a:pPr marL="137160" indent="0">
              <a:buNone/>
            </a:pPr>
            <a:r>
              <a:rPr lang="en-US" dirty="0"/>
              <a:t># x starting value is 1 , ending value is 4 (5-1), </a:t>
            </a:r>
            <a:r>
              <a:rPr lang="en-US" dirty="0" err="1"/>
              <a:t>step_value</a:t>
            </a:r>
            <a:r>
              <a:rPr lang="en-US" dirty="0"/>
              <a:t> is 1 (increment value)</a:t>
            </a:r>
          </a:p>
          <a:p>
            <a:pPr marL="137160" indent="0">
              <a:buNone/>
            </a:pPr>
            <a:r>
              <a:rPr lang="en-US" dirty="0"/>
              <a:t>	print(“hello”) -&gt; will print 4 times</a:t>
            </a:r>
            <a:endParaRPr lang="en-IN" dirty="0"/>
          </a:p>
        </p:txBody>
      </p:sp>
    </p:spTree>
    <p:extLst>
      <p:ext uri="{BB962C8B-B14F-4D97-AF65-F5344CB8AC3E}">
        <p14:creationId xmlns:p14="http://schemas.microsoft.com/office/powerpoint/2010/main" val="40421267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DD99D-F2A5-4B7C-A881-73335C16C9A4}"/>
              </a:ext>
            </a:extLst>
          </p:cNvPr>
          <p:cNvSpPr>
            <a:spLocks noGrp="1"/>
          </p:cNvSpPr>
          <p:nvPr>
            <p:ph type="title"/>
          </p:nvPr>
        </p:nvSpPr>
        <p:spPr/>
        <p:txBody>
          <a:bodyPr/>
          <a:lstStyle/>
          <a:p>
            <a:r>
              <a:rPr lang="en-US" dirty="0"/>
              <a:t>For loop</a:t>
            </a:r>
            <a:endParaRPr lang="en-IN" dirty="0"/>
          </a:p>
        </p:txBody>
      </p:sp>
      <p:sp>
        <p:nvSpPr>
          <p:cNvPr id="3" name="Content Placeholder 2">
            <a:extLst>
              <a:ext uri="{FF2B5EF4-FFF2-40B4-BE49-F238E27FC236}">
                <a16:creationId xmlns:a16="http://schemas.microsoft.com/office/drawing/2014/main" id="{47B34BE5-97F5-439D-B61C-199F5FAB8296}"/>
              </a:ext>
            </a:extLst>
          </p:cNvPr>
          <p:cNvSpPr>
            <a:spLocks noGrp="1"/>
          </p:cNvSpPr>
          <p:nvPr>
            <p:ph idx="1"/>
          </p:nvPr>
        </p:nvSpPr>
        <p:spPr/>
        <p:txBody>
          <a:bodyPr/>
          <a:lstStyle/>
          <a:p>
            <a:pPr marL="137160" indent="0">
              <a:buNone/>
            </a:pPr>
            <a:r>
              <a:rPr lang="en-US" dirty="0"/>
              <a:t>for  x in range(0,10,2): </a:t>
            </a:r>
          </a:p>
          <a:p>
            <a:pPr marL="137160" indent="0">
              <a:buNone/>
            </a:pPr>
            <a:r>
              <a:rPr lang="en-US" dirty="0"/>
              <a:t># x starting value is 0 , ending value is 9 (10-1), </a:t>
            </a:r>
            <a:r>
              <a:rPr lang="en-US" dirty="0" err="1"/>
              <a:t>step_value</a:t>
            </a:r>
            <a:r>
              <a:rPr lang="en-US" dirty="0"/>
              <a:t> is 2 (increment value)</a:t>
            </a:r>
          </a:p>
          <a:p>
            <a:pPr marL="137160" indent="0">
              <a:buNone/>
            </a:pPr>
            <a:r>
              <a:rPr lang="en-US" dirty="0"/>
              <a:t>	print(x) -&gt; will print 0 ,2,4,6,8</a:t>
            </a:r>
            <a:endParaRPr lang="en-IN" dirty="0"/>
          </a:p>
        </p:txBody>
      </p:sp>
    </p:spTree>
    <p:extLst>
      <p:ext uri="{BB962C8B-B14F-4D97-AF65-F5344CB8AC3E}">
        <p14:creationId xmlns:p14="http://schemas.microsoft.com/office/powerpoint/2010/main" val="15994156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DD99D-F2A5-4B7C-A881-73335C16C9A4}"/>
              </a:ext>
            </a:extLst>
          </p:cNvPr>
          <p:cNvSpPr>
            <a:spLocks noGrp="1"/>
          </p:cNvSpPr>
          <p:nvPr>
            <p:ph type="title"/>
          </p:nvPr>
        </p:nvSpPr>
        <p:spPr/>
        <p:txBody>
          <a:bodyPr/>
          <a:lstStyle/>
          <a:p>
            <a:r>
              <a:rPr lang="en-US" dirty="0"/>
              <a:t>For loop</a:t>
            </a:r>
            <a:endParaRPr lang="en-IN" dirty="0"/>
          </a:p>
        </p:txBody>
      </p:sp>
      <p:sp>
        <p:nvSpPr>
          <p:cNvPr id="3" name="Content Placeholder 2">
            <a:extLst>
              <a:ext uri="{FF2B5EF4-FFF2-40B4-BE49-F238E27FC236}">
                <a16:creationId xmlns:a16="http://schemas.microsoft.com/office/drawing/2014/main" id="{47B34BE5-97F5-439D-B61C-199F5FAB8296}"/>
              </a:ext>
            </a:extLst>
          </p:cNvPr>
          <p:cNvSpPr>
            <a:spLocks noGrp="1"/>
          </p:cNvSpPr>
          <p:nvPr>
            <p:ph idx="1"/>
          </p:nvPr>
        </p:nvSpPr>
        <p:spPr/>
        <p:txBody>
          <a:bodyPr/>
          <a:lstStyle/>
          <a:p>
            <a:pPr marL="137160" indent="0">
              <a:buNone/>
            </a:pPr>
            <a:r>
              <a:rPr lang="en-US" dirty="0"/>
              <a:t>for  x in range(0,10,3): </a:t>
            </a:r>
          </a:p>
          <a:p>
            <a:pPr marL="137160" indent="0">
              <a:buNone/>
            </a:pPr>
            <a:r>
              <a:rPr lang="en-US" dirty="0"/>
              <a:t># x starting value is 0 , ending value is 9 (10-1), </a:t>
            </a:r>
            <a:r>
              <a:rPr lang="en-US" dirty="0" err="1"/>
              <a:t>step_value</a:t>
            </a:r>
            <a:r>
              <a:rPr lang="en-US" dirty="0"/>
              <a:t> is 3 (increment value)</a:t>
            </a:r>
          </a:p>
          <a:p>
            <a:pPr marL="137160" indent="0">
              <a:buNone/>
            </a:pPr>
            <a:r>
              <a:rPr lang="en-US" dirty="0"/>
              <a:t>	print(x) -&gt; will print 0 ,3,6,9</a:t>
            </a:r>
            <a:endParaRPr lang="en-IN" dirty="0"/>
          </a:p>
        </p:txBody>
      </p:sp>
    </p:spTree>
    <p:extLst>
      <p:ext uri="{BB962C8B-B14F-4D97-AF65-F5344CB8AC3E}">
        <p14:creationId xmlns:p14="http://schemas.microsoft.com/office/powerpoint/2010/main" val="7115286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9F47-4605-4E8E-9C09-AD18B5DCE2BB}"/>
              </a:ext>
            </a:extLst>
          </p:cNvPr>
          <p:cNvSpPr>
            <a:spLocks noGrp="1"/>
          </p:cNvSpPr>
          <p:nvPr>
            <p:ph type="title"/>
          </p:nvPr>
        </p:nvSpPr>
        <p:spPr/>
        <p:txBody>
          <a:bodyPr/>
          <a:lstStyle/>
          <a:p>
            <a:r>
              <a:rPr lang="en-US" dirty="0"/>
              <a:t>Sum of numbers</a:t>
            </a:r>
            <a:endParaRPr lang="en-IN" dirty="0"/>
          </a:p>
        </p:txBody>
      </p:sp>
      <p:sp>
        <p:nvSpPr>
          <p:cNvPr id="3" name="Content Placeholder 2">
            <a:extLst>
              <a:ext uri="{FF2B5EF4-FFF2-40B4-BE49-F238E27FC236}">
                <a16:creationId xmlns:a16="http://schemas.microsoft.com/office/drawing/2014/main" id="{28187C41-500C-489A-8ADE-112D1985CF9F}"/>
              </a:ext>
            </a:extLst>
          </p:cNvPr>
          <p:cNvSpPr>
            <a:spLocks noGrp="1"/>
          </p:cNvSpPr>
          <p:nvPr>
            <p:ph idx="1"/>
          </p:nvPr>
        </p:nvSpPr>
        <p:spPr/>
        <p:txBody>
          <a:bodyPr/>
          <a:lstStyle/>
          <a:p>
            <a:r>
              <a:rPr lang="en-US" dirty="0"/>
              <a:t>m</a:t>
            </a:r>
          </a:p>
          <a:p>
            <a:r>
              <a:rPr lang="en-US" dirty="0"/>
              <a:t>n</a:t>
            </a:r>
          </a:p>
          <a:p>
            <a:r>
              <a:rPr lang="en-US" dirty="0"/>
              <a:t>s =0</a:t>
            </a:r>
          </a:p>
          <a:p>
            <a:r>
              <a:rPr lang="en-US" dirty="0"/>
              <a:t>for </a:t>
            </a:r>
            <a:r>
              <a:rPr lang="en-US" dirty="0" err="1"/>
              <a:t>i</a:t>
            </a:r>
            <a:r>
              <a:rPr lang="en-US" dirty="0"/>
              <a:t> in range(m,n+1,1):</a:t>
            </a:r>
          </a:p>
          <a:p>
            <a:r>
              <a:rPr lang="en-US" dirty="0"/>
              <a:t>     s = s + </a:t>
            </a:r>
            <a:r>
              <a:rPr lang="en-US" dirty="0" err="1"/>
              <a:t>i</a:t>
            </a:r>
            <a:endParaRPr lang="en-IN" dirty="0"/>
          </a:p>
        </p:txBody>
      </p:sp>
    </p:spTree>
    <p:extLst>
      <p:ext uri="{BB962C8B-B14F-4D97-AF65-F5344CB8AC3E}">
        <p14:creationId xmlns:p14="http://schemas.microsoft.com/office/powerpoint/2010/main" val="15438556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DD99D-F2A5-4B7C-A881-73335C16C9A4}"/>
              </a:ext>
            </a:extLst>
          </p:cNvPr>
          <p:cNvSpPr>
            <a:spLocks noGrp="1"/>
          </p:cNvSpPr>
          <p:nvPr>
            <p:ph type="title"/>
          </p:nvPr>
        </p:nvSpPr>
        <p:spPr/>
        <p:txBody>
          <a:bodyPr/>
          <a:lstStyle/>
          <a:p>
            <a:r>
              <a:rPr lang="en-US" dirty="0"/>
              <a:t>While loop</a:t>
            </a:r>
            <a:endParaRPr lang="en-IN" dirty="0"/>
          </a:p>
        </p:txBody>
      </p:sp>
      <p:sp>
        <p:nvSpPr>
          <p:cNvPr id="3" name="Content Placeholder 2">
            <a:extLst>
              <a:ext uri="{FF2B5EF4-FFF2-40B4-BE49-F238E27FC236}">
                <a16:creationId xmlns:a16="http://schemas.microsoft.com/office/drawing/2014/main" id="{47B34BE5-97F5-439D-B61C-199F5FAB8296}"/>
              </a:ext>
            </a:extLst>
          </p:cNvPr>
          <p:cNvSpPr>
            <a:spLocks noGrp="1"/>
          </p:cNvSpPr>
          <p:nvPr>
            <p:ph idx="1"/>
          </p:nvPr>
        </p:nvSpPr>
        <p:spPr/>
        <p:txBody>
          <a:bodyPr/>
          <a:lstStyle/>
          <a:p>
            <a:pPr marL="137160" indent="0">
              <a:buNone/>
            </a:pPr>
            <a:r>
              <a:rPr lang="en-US" dirty="0"/>
              <a:t> </a:t>
            </a:r>
          </a:p>
          <a:p>
            <a:pPr marL="137160" indent="0">
              <a:buNone/>
            </a:pPr>
            <a:r>
              <a:rPr lang="en-US" dirty="0"/>
              <a:t>while condition:</a:t>
            </a:r>
          </a:p>
          <a:p>
            <a:pPr marL="137160" indent="0">
              <a:buNone/>
            </a:pPr>
            <a:r>
              <a:rPr lang="en-US" dirty="0"/>
              <a:t>           statement(s)</a:t>
            </a:r>
          </a:p>
          <a:p>
            <a:pPr marL="137160" indent="0">
              <a:buNone/>
            </a:pPr>
            <a:r>
              <a:rPr lang="en-US" dirty="0"/>
              <a:t>===================================</a:t>
            </a:r>
          </a:p>
          <a:p>
            <a:pPr marL="137160" indent="0">
              <a:buNone/>
            </a:pPr>
            <a:r>
              <a:rPr lang="en-US" dirty="0"/>
              <a:t>while condition:</a:t>
            </a:r>
          </a:p>
          <a:p>
            <a:pPr marL="137160" indent="0">
              <a:buNone/>
            </a:pPr>
            <a:r>
              <a:rPr lang="en-US" dirty="0"/>
              <a:t>	# execute these statements</a:t>
            </a:r>
          </a:p>
          <a:p>
            <a:pPr marL="137160" indent="0">
              <a:buNone/>
            </a:pPr>
            <a:r>
              <a:rPr lang="en-US" dirty="0"/>
              <a:t>else:</a:t>
            </a:r>
          </a:p>
          <a:p>
            <a:pPr marL="137160" indent="0">
              <a:buNone/>
            </a:pPr>
            <a:r>
              <a:rPr lang="en-US" dirty="0"/>
              <a:t>	# execute these statements</a:t>
            </a:r>
          </a:p>
          <a:p>
            <a:pPr marL="137160" indent="0">
              <a:buNone/>
            </a:pPr>
            <a:endParaRPr lang="en-IN" dirty="0"/>
          </a:p>
        </p:txBody>
      </p:sp>
    </p:spTree>
    <p:extLst>
      <p:ext uri="{BB962C8B-B14F-4D97-AF65-F5344CB8AC3E}">
        <p14:creationId xmlns:p14="http://schemas.microsoft.com/office/powerpoint/2010/main" val="13060261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DD99D-F2A5-4B7C-A881-73335C16C9A4}"/>
              </a:ext>
            </a:extLst>
          </p:cNvPr>
          <p:cNvSpPr>
            <a:spLocks noGrp="1"/>
          </p:cNvSpPr>
          <p:nvPr>
            <p:ph type="title"/>
          </p:nvPr>
        </p:nvSpPr>
        <p:spPr/>
        <p:txBody>
          <a:bodyPr/>
          <a:lstStyle/>
          <a:p>
            <a:r>
              <a:rPr lang="en-US" dirty="0"/>
              <a:t>While loop</a:t>
            </a:r>
            <a:endParaRPr lang="en-IN" dirty="0"/>
          </a:p>
        </p:txBody>
      </p:sp>
      <p:sp>
        <p:nvSpPr>
          <p:cNvPr id="3" name="Content Placeholder 2">
            <a:extLst>
              <a:ext uri="{FF2B5EF4-FFF2-40B4-BE49-F238E27FC236}">
                <a16:creationId xmlns:a16="http://schemas.microsoft.com/office/drawing/2014/main" id="{47B34BE5-97F5-439D-B61C-199F5FAB8296}"/>
              </a:ext>
            </a:extLst>
          </p:cNvPr>
          <p:cNvSpPr>
            <a:spLocks noGrp="1"/>
          </p:cNvSpPr>
          <p:nvPr>
            <p:ph idx="1"/>
          </p:nvPr>
        </p:nvSpPr>
        <p:spPr/>
        <p:txBody>
          <a:bodyPr/>
          <a:lstStyle/>
          <a:p>
            <a:pPr marL="137160" indent="0">
              <a:buNone/>
            </a:pPr>
            <a:r>
              <a:rPr lang="en-US" dirty="0"/>
              <a:t> initialization(of variable)</a:t>
            </a:r>
          </a:p>
          <a:p>
            <a:pPr marL="137160" indent="0">
              <a:buNone/>
            </a:pPr>
            <a:r>
              <a:rPr lang="en-US" dirty="0"/>
              <a:t>while (condition):</a:t>
            </a:r>
          </a:p>
          <a:p>
            <a:pPr marL="137160" indent="0">
              <a:buNone/>
            </a:pPr>
            <a:r>
              <a:rPr lang="en-US" dirty="0"/>
              <a:t>           statement(s)</a:t>
            </a:r>
          </a:p>
          <a:p>
            <a:pPr marL="137160" indent="0">
              <a:buNone/>
            </a:pPr>
            <a:r>
              <a:rPr lang="en-US" dirty="0"/>
              <a:t>           </a:t>
            </a:r>
            <a:r>
              <a:rPr lang="en-US" dirty="0" err="1"/>
              <a:t>step_value</a:t>
            </a:r>
            <a:r>
              <a:rPr lang="en-US" dirty="0"/>
              <a:t>(of variable)</a:t>
            </a:r>
          </a:p>
          <a:p>
            <a:pPr marL="137160" indent="0">
              <a:buNone/>
            </a:pPr>
            <a:endParaRPr lang="en-IN" dirty="0"/>
          </a:p>
        </p:txBody>
      </p:sp>
    </p:spTree>
    <p:extLst>
      <p:ext uri="{BB962C8B-B14F-4D97-AF65-F5344CB8AC3E}">
        <p14:creationId xmlns:p14="http://schemas.microsoft.com/office/powerpoint/2010/main" val="22624335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DD99D-F2A5-4B7C-A881-73335C16C9A4}"/>
              </a:ext>
            </a:extLst>
          </p:cNvPr>
          <p:cNvSpPr>
            <a:spLocks noGrp="1"/>
          </p:cNvSpPr>
          <p:nvPr>
            <p:ph type="title"/>
          </p:nvPr>
        </p:nvSpPr>
        <p:spPr/>
        <p:txBody>
          <a:bodyPr/>
          <a:lstStyle/>
          <a:p>
            <a:r>
              <a:rPr lang="en-US" dirty="0"/>
              <a:t>While loop</a:t>
            </a:r>
            <a:endParaRPr lang="en-IN" dirty="0"/>
          </a:p>
        </p:txBody>
      </p:sp>
      <p:sp>
        <p:nvSpPr>
          <p:cNvPr id="3" name="Content Placeholder 2">
            <a:extLst>
              <a:ext uri="{FF2B5EF4-FFF2-40B4-BE49-F238E27FC236}">
                <a16:creationId xmlns:a16="http://schemas.microsoft.com/office/drawing/2014/main" id="{47B34BE5-97F5-439D-B61C-199F5FAB8296}"/>
              </a:ext>
            </a:extLst>
          </p:cNvPr>
          <p:cNvSpPr>
            <a:spLocks noGrp="1"/>
          </p:cNvSpPr>
          <p:nvPr>
            <p:ph idx="1"/>
          </p:nvPr>
        </p:nvSpPr>
        <p:spPr/>
        <p:txBody>
          <a:bodyPr/>
          <a:lstStyle/>
          <a:p>
            <a:pPr marL="137160" indent="0">
              <a:buNone/>
            </a:pPr>
            <a:r>
              <a:rPr lang="en-US" dirty="0"/>
              <a:t>x  = 1</a:t>
            </a:r>
          </a:p>
          <a:p>
            <a:pPr marL="137160" indent="0">
              <a:buNone/>
            </a:pPr>
            <a:r>
              <a:rPr lang="en-US" dirty="0"/>
              <a:t>while (x&lt;=5):</a:t>
            </a:r>
          </a:p>
          <a:p>
            <a:pPr marL="137160" indent="0">
              <a:buNone/>
            </a:pPr>
            <a:r>
              <a:rPr lang="en-US" dirty="0"/>
              <a:t>	  print(“hello”)</a:t>
            </a:r>
          </a:p>
          <a:p>
            <a:pPr marL="137160" indent="0">
              <a:buNone/>
            </a:pPr>
            <a:r>
              <a:rPr lang="en-US" dirty="0"/>
              <a:t>          print(x)</a:t>
            </a:r>
          </a:p>
          <a:p>
            <a:pPr marL="137160" indent="0">
              <a:buNone/>
            </a:pPr>
            <a:r>
              <a:rPr lang="en-US" dirty="0"/>
              <a:t>          x = x+1</a:t>
            </a:r>
            <a:endParaRPr lang="en-IN" dirty="0"/>
          </a:p>
        </p:txBody>
      </p:sp>
    </p:spTree>
    <p:extLst>
      <p:ext uri="{BB962C8B-B14F-4D97-AF65-F5344CB8AC3E}">
        <p14:creationId xmlns:p14="http://schemas.microsoft.com/office/powerpoint/2010/main" val="8576014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Strings</a:t>
            </a:r>
          </a:p>
        </p:txBody>
      </p:sp>
      <p:sp>
        <p:nvSpPr>
          <p:cNvPr id="3" name="Content Placeholder 2"/>
          <p:cNvSpPr>
            <a:spLocks noGrp="1"/>
          </p:cNvSpPr>
          <p:nvPr>
            <p:ph idx="1"/>
          </p:nvPr>
        </p:nvSpPr>
        <p:spPr/>
        <p:txBody>
          <a:bodyPr>
            <a:normAutofit/>
          </a:bodyPr>
          <a:lstStyle/>
          <a:p>
            <a:r>
              <a:rPr lang="en-US" dirty="0"/>
              <a:t>In Python, individual characters of a String can be accessed by using the method of Indexing.</a:t>
            </a:r>
          </a:p>
          <a:p>
            <a:r>
              <a:rPr lang="en-US" dirty="0"/>
              <a:t>Indexing allows negative address references to access characters from the back of the String, e.g.</a:t>
            </a:r>
          </a:p>
          <a:p>
            <a:pPr lvl="1"/>
            <a:r>
              <a:rPr lang="en-US" dirty="0"/>
              <a:t> -1 refers to the last character, </a:t>
            </a:r>
          </a:p>
          <a:p>
            <a:pPr lvl="1"/>
            <a:r>
              <a:rPr lang="en-US" dirty="0"/>
              <a:t>-2 refers to the second last character and so on.</a:t>
            </a:r>
          </a:p>
          <a:p>
            <a:r>
              <a:rPr lang="en-US" dirty="0"/>
              <a:t>While accessing an index out of the range will cause an </a:t>
            </a:r>
            <a:r>
              <a:rPr lang="en-US" b="1" dirty="0" err="1"/>
              <a:t>IndexError</a:t>
            </a:r>
            <a:r>
              <a:rPr lang="en-US" dirty="0"/>
              <a:t>.</a:t>
            </a:r>
          </a:p>
          <a:p>
            <a:r>
              <a:rPr lang="en-US" dirty="0"/>
              <a:t> Only Integers are allowed to be passed as an index, float or other types will cause a </a:t>
            </a:r>
            <a:r>
              <a:rPr lang="en-US" b="1" dirty="0" err="1"/>
              <a:t>TypeError</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Accessing characters in Python</a:t>
            </a:r>
          </a:p>
        </p:txBody>
      </p:sp>
      <p:pic>
        <p:nvPicPr>
          <p:cNvPr id="1026" name="Picture 2"/>
          <p:cNvPicPr>
            <a:picLocks noGrp="1" noChangeAspect="1" noChangeArrowheads="1"/>
          </p:cNvPicPr>
          <p:nvPr>
            <p:ph idx="1"/>
          </p:nvPr>
        </p:nvPicPr>
        <p:blipFill>
          <a:blip r:embed="rId2"/>
          <a:srcRect/>
          <a:stretch>
            <a:fillRect/>
          </a:stretch>
        </p:blipFill>
        <p:spPr bwMode="auto">
          <a:xfrm>
            <a:off x="785786" y="2428868"/>
            <a:ext cx="7914718" cy="2924703"/>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Deleting/Updating from a String</a:t>
            </a:r>
            <a:br>
              <a:rPr lang="en-US" dirty="0"/>
            </a:br>
            <a:endParaRPr lang="en-US" dirty="0"/>
          </a:p>
        </p:txBody>
      </p:sp>
      <p:sp>
        <p:nvSpPr>
          <p:cNvPr id="3" name="Content Placeholder 2"/>
          <p:cNvSpPr>
            <a:spLocks noGrp="1"/>
          </p:cNvSpPr>
          <p:nvPr>
            <p:ph idx="1"/>
          </p:nvPr>
        </p:nvSpPr>
        <p:spPr/>
        <p:txBody>
          <a:bodyPr>
            <a:normAutofit/>
          </a:bodyPr>
          <a:lstStyle/>
          <a:p>
            <a:r>
              <a:rPr lang="en-US" dirty="0"/>
              <a:t>In Python, </a:t>
            </a:r>
            <a:r>
              <a:rPr lang="en-US" dirty="0" err="1"/>
              <a:t>Updation</a:t>
            </a:r>
            <a:r>
              <a:rPr lang="en-US" dirty="0"/>
              <a:t> or deletion of </a:t>
            </a:r>
            <a:r>
              <a:rPr lang="en-US" b="1" dirty="0">
                <a:solidFill>
                  <a:srgbClr val="00B0F0"/>
                </a:solidFill>
              </a:rPr>
              <a:t>characters</a:t>
            </a:r>
            <a:r>
              <a:rPr lang="en-US" dirty="0"/>
              <a:t> from a String is not allowed.</a:t>
            </a:r>
          </a:p>
          <a:p>
            <a:r>
              <a:rPr lang="en-US" dirty="0"/>
              <a:t> This will cause an error because item assignment or item deletion from a String is not supported. </a:t>
            </a:r>
          </a:p>
          <a:p>
            <a:r>
              <a:rPr lang="en-US" dirty="0"/>
              <a:t>Although deletion of entire String is possible with the use of a built-in del keyword. </a:t>
            </a:r>
          </a:p>
          <a:p>
            <a:r>
              <a:rPr lang="en-US" dirty="0"/>
              <a:t>This is because Strings are immutable, hence elements of a String cannot be changed once it has been assigned.</a:t>
            </a:r>
          </a:p>
          <a:p>
            <a:r>
              <a:rPr lang="en-US" dirty="0"/>
              <a:t> Only new strings can be reassigned to the same name.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endParaRPr lang="en-US" dirty="0"/>
          </a:p>
          <a:p>
            <a:pPr lvl="1">
              <a:buNone/>
            </a:pPr>
            <a:r>
              <a:rPr lang="en-US" dirty="0" err="1"/>
              <a:t>your_text.capitalize</a:t>
            </a:r>
            <a:r>
              <a:rPr lang="en-US" dirty="0"/>
              <a:t>() </a:t>
            </a:r>
          </a:p>
          <a:p>
            <a:pPr lvl="1">
              <a:buNone/>
            </a:pPr>
            <a:r>
              <a:rPr lang="en-US" dirty="0" err="1"/>
              <a:t>your_string.title</a:t>
            </a:r>
            <a:r>
              <a:rPr lang="en-US" dirty="0"/>
              <a:t>()</a:t>
            </a:r>
          </a:p>
          <a:p>
            <a:pPr lvl="1">
              <a:buNone/>
            </a:pPr>
            <a:r>
              <a:rPr lang="en-US" dirty="0" err="1"/>
              <a:t>your_text.lower</a:t>
            </a:r>
            <a:r>
              <a:rPr lang="en-US" dirty="0"/>
              <a:t>() //</a:t>
            </a:r>
            <a:r>
              <a:rPr lang="en-US" dirty="0" err="1"/>
              <a:t>your_string.casefold</a:t>
            </a:r>
            <a:r>
              <a:rPr lang="en-US" dirty="0"/>
              <a:t>()</a:t>
            </a:r>
          </a:p>
          <a:p>
            <a:pPr lvl="1">
              <a:buNone/>
            </a:pPr>
            <a:r>
              <a:rPr lang="en-US" dirty="0" err="1"/>
              <a:t>your_text.upper</a:t>
            </a:r>
            <a:r>
              <a:rPr lang="en-US" dirty="0"/>
              <a:t>()</a:t>
            </a:r>
          </a:p>
          <a:p>
            <a:pPr lvl="1">
              <a:buNone/>
            </a:pPr>
            <a:r>
              <a:rPr lang="en-US" dirty="0" err="1"/>
              <a:t>your_string.swapcase</a:t>
            </a:r>
            <a:r>
              <a:rPr lang="en-US" dirty="0"/>
              <a:t>()</a:t>
            </a:r>
          </a:p>
          <a:p>
            <a:pPr lvl="1">
              <a:buNone/>
            </a:pPr>
            <a:r>
              <a:rPr lang="en-US" dirty="0" err="1"/>
              <a:t>text.isalpha</a:t>
            </a:r>
            <a:r>
              <a:rPr lang="en-US" dirty="0"/>
              <a:t>()</a:t>
            </a:r>
          </a:p>
          <a:p>
            <a:pPr lvl="1">
              <a:buNone/>
            </a:pPr>
            <a:r>
              <a:rPr lang="en-US" dirty="0" err="1"/>
              <a:t>text.isdigit</a:t>
            </a:r>
            <a:r>
              <a:rPr lang="en-US" dirty="0"/>
              <a:t>()</a:t>
            </a:r>
          </a:p>
          <a:p>
            <a:pPr lvl="1">
              <a:buNone/>
            </a:pPr>
            <a:r>
              <a:rPr lang="en-US" dirty="0" err="1"/>
              <a:t>text.isdecimal</a:t>
            </a:r>
            <a:r>
              <a:rPr lang="en-US" dirty="0"/>
              <a:t>()</a:t>
            </a:r>
          </a:p>
          <a:p>
            <a:pPr lvl="1">
              <a:buNone/>
            </a:pPr>
            <a:r>
              <a:rPr lang="en-US" dirty="0" err="1"/>
              <a:t>your_string.islower</a:t>
            </a:r>
            <a:r>
              <a:rPr lang="en-US" dirty="0"/>
              <a:t>()</a:t>
            </a:r>
          </a:p>
          <a:p>
            <a:pPr lvl="1">
              <a:buNone/>
            </a:pPr>
            <a:r>
              <a:rPr lang="en-US" dirty="0" err="1"/>
              <a:t>your_string.isupper</a:t>
            </a:r>
            <a:r>
              <a:rPr lang="en-US" dirty="0"/>
              <a:t>()</a:t>
            </a:r>
          </a:p>
          <a:p>
            <a:pPr lvl="1">
              <a:buNone/>
            </a:pPr>
            <a:r>
              <a:rPr lang="en-US" dirty="0" err="1"/>
              <a:t>your_string.istitle</a:t>
            </a:r>
            <a:r>
              <a:rPr lang="en-US" dirty="0"/>
              <a:t>()</a:t>
            </a:r>
          </a:p>
          <a:p>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err="1"/>
              <a:t>string.count</a:t>
            </a:r>
            <a:r>
              <a:rPr lang="en-US" dirty="0"/>
              <a:t>(substring, </a:t>
            </a:r>
            <a:r>
              <a:rPr lang="en-US" dirty="0" err="1"/>
              <a:t>start_integer</a:t>
            </a:r>
            <a:r>
              <a:rPr lang="en-US" dirty="0"/>
              <a:t>, </a:t>
            </a:r>
            <a:r>
              <a:rPr lang="en-US" dirty="0" err="1"/>
              <a:t>end_integer</a:t>
            </a:r>
            <a:r>
              <a:rPr lang="en-US" dirty="0"/>
              <a:t>)</a:t>
            </a:r>
          </a:p>
          <a:p>
            <a:endParaRPr lang="en-US" dirty="0"/>
          </a:p>
          <a:p>
            <a:r>
              <a:rPr lang="en-US" dirty="0" err="1"/>
              <a:t>string.find</a:t>
            </a:r>
            <a:r>
              <a:rPr lang="en-US" dirty="0"/>
              <a:t>(substring, </a:t>
            </a:r>
            <a:r>
              <a:rPr lang="en-US" dirty="0" err="1"/>
              <a:t>start_integer</a:t>
            </a:r>
            <a:r>
              <a:rPr lang="en-US" dirty="0"/>
              <a:t>, </a:t>
            </a:r>
            <a:r>
              <a:rPr lang="en-US" dirty="0" err="1"/>
              <a:t>end_integer</a:t>
            </a:r>
            <a:r>
              <a:rPr lang="en-US" dirty="0"/>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Math</a:t>
            </a:r>
            <a:br>
              <a:rPr lang="en-US" dirty="0"/>
            </a:br>
            <a:endParaRPr lang="en-US" dirty="0"/>
          </a:p>
        </p:txBody>
      </p:sp>
      <p:sp>
        <p:nvSpPr>
          <p:cNvPr id="3" name="Content Placeholder 2"/>
          <p:cNvSpPr>
            <a:spLocks noGrp="1"/>
          </p:cNvSpPr>
          <p:nvPr>
            <p:ph idx="1"/>
          </p:nvPr>
        </p:nvSpPr>
        <p:spPr>
          <a:xfrm>
            <a:off x="457200" y="1214422"/>
            <a:ext cx="8229600" cy="4709160"/>
          </a:xfrm>
        </p:spPr>
        <p:txBody>
          <a:bodyPr>
            <a:normAutofit/>
          </a:bodyPr>
          <a:lstStyle/>
          <a:p>
            <a:pPr>
              <a:buNone/>
            </a:pPr>
            <a:r>
              <a:rPr lang="en-US" dirty="0"/>
              <a:t>Function		Description</a:t>
            </a:r>
          </a:p>
          <a:p>
            <a:r>
              <a:rPr lang="en-US" dirty="0"/>
              <a:t>abs()		Returns absolute value of a number</a:t>
            </a:r>
          </a:p>
          <a:p>
            <a:r>
              <a:rPr lang="en-US" dirty="0" err="1"/>
              <a:t>divmod</a:t>
            </a:r>
            <a:r>
              <a:rPr lang="en-US" dirty="0"/>
              <a:t>()	Returns quotient and remainder of 			integer division</a:t>
            </a:r>
          </a:p>
          <a:p>
            <a:r>
              <a:rPr lang="en-US" dirty="0"/>
              <a:t>max()		Returns the largest of the given 			arguments or items in an </a:t>
            </a:r>
            <a:r>
              <a:rPr lang="en-US" dirty="0" err="1"/>
              <a:t>iterable</a:t>
            </a:r>
            <a:endParaRPr lang="en-US" dirty="0"/>
          </a:p>
          <a:p>
            <a:r>
              <a:rPr lang="en-US" dirty="0"/>
              <a:t>min()		Returns the smallest of the given 			arguments or items in an </a:t>
            </a:r>
            <a:r>
              <a:rPr lang="en-US" dirty="0" err="1"/>
              <a:t>iterable</a:t>
            </a:r>
            <a:endParaRPr lang="en-US" dirty="0"/>
          </a:p>
          <a:p>
            <a:r>
              <a:rPr lang="en-US" dirty="0" err="1"/>
              <a:t>pow</a:t>
            </a:r>
            <a:r>
              <a:rPr lang="en-US" dirty="0"/>
              <a:t>()		Raises a number to a power</a:t>
            </a:r>
          </a:p>
          <a:p>
            <a:r>
              <a:rPr lang="en-US" dirty="0"/>
              <a:t>round()		Rounds a floating-point value</a:t>
            </a:r>
          </a:p>
          <a:p>
            <a:r>
              <a:rPr lang="en-US" dirty="0"/>
              <a:t>sum()		Sums the items of an </a:t>
            </a:r>
            <a:r>
              <a:rPr lang="en-US" dirty="0" err="1"/>
              <a:t>iterable</a:t>
            </a: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Distance = √(x2 – x1)2 + (y2-y1)2</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D45FD-06D8-4E24-BB7E-FF6DEDF2E53C}"/>
              </a:ext>
            </a:extLst>
          </p:cNvPr>
          <p:cNvSpPr>
            <a:spLocks noGrp="1"/>
          </p:cNvSpPr>
          <p:nvPr>
            <p:ph type="title"/>
          </p:nvPr>
        </p:nvSpPr>
        <p:spPr/>
        <p:txBody>
          <a:bodyPr/>
          <a:lstStyle/>
          <a:p>
            <a:r>
              <a:rPr lang="en-US" dirty="0"/>
              <a:t>Calendar</a:t>
            </a:r>
            <a:endParaRPr lang="en-IN" dirty="0"/>
          </a:p>
        </p:txBody>
      </p:sp>
      <p:sp>
        <p:nvSpPr>
          <p:cNvPr id="3" name="Content Placeholder 2">
            <a:extLst>
              <a:ext uri="{FF2B5EF4-FFF2-40B4-BE49-F238E27FC236}">
                <a16:creationId xmlns:a16="http://schemas.microsoft.com/office/drawing/2014/main" id="{6CD3DEE5-AD57-40FC-A2C9-BEB1994AC95C}"/>
              </a:ext>
            </a:extLst>
          </p:cNvPr>
          <p:cNvSpPr>
            <a:spLocks noGrp="1"/>
          </p:cNvSpPr>
          <p:nvPr>
            <p:ph idx="1"/>
          </p:nvPr>
        </p:nvSpPr>
        <p:spPr/>
        <p:txBody>
          <a:bodyPr/>
          <a:lstStyle/>
          <a:p>
            <a:pPr marL="137160" indent="0">
              <a:buNone/>
            </a:pPr>
            <a:r>
              <a:rPr lang="en-US" dirty="0"/>
              <a:t>#</a:t>
            </a:r>
            <a:r>
              <a:rPr lang="en-US" dirty="0" err="1"/>
              <a:t>calender</a:t>
            </a:r>
            <a:r>
              <a:rPr lang="en-US" dirty="0"/>
              <a:t> module</a:t>
            </a:r>
          </a:p>
          <a:p>
            <a:pPr marL="137160" indent="0">
              <a:buNone/>
            </a:pPr>
            <a:endParaRPr lang="en-US" dirty="0"/>
          </a:p>
          <a:p>
            <a:pPr marL="137160" indent="0">
              <a:buNone/>
            </a:pPr>
            <a:r>
              <a:rPr lang="en-US" dirty="0"/>
              <a:t>import calendar </a:t>
            </a:r>
          </a:p>
          <a:p>
            <a:pPr marL="137160" indent="0">
              <a:buNone/>
            </a:pPr>
            <a:r>
              <a:rPr lang="en-US" dirty="0"/>
              <a:t>    </a:t>
            </a:r>
          </a:p>
          <a:p>
            <a:pPr marL="137160" indent="0">
              <a:buNone/>
            </a:pPr>
            <a:r>
              <a:rPr lang="en-US" dirty="0"/>
              <a:t>y = int(input("Enter the year"))</a:t>
            </a:r>
          </a:p>
          <a:p>
            <a:pPr marL="137160" indent="0">
              <a:buNone/>
            </a:pPr>
            <a:r>
              <a:rPr lang="en-US" dirty="0"/>
              <a:t>m = int(input("Enter the month"))</a:t>
            </a:r>
          </a:p>
          <a:p>
            <a:pPr marL="137160" indent="0">
              <a:buNone/>
            </a:pPr>
            <a:r>
              <a:rPr lang="en-US" dirty="0" err="1"/>
              <a:t>calendar.setfirstweekday</a:t>
            </a:r>
            <a:r>
              <a:rPr lang="en-US" dirty="0"/>
              <a:t>(</a:t>
            </a:r>
            <a:r>
              <a:rPr lang="en-US" dirty="0" err="1"/>
              <a:t>calendar.SUNDAY</a:t>
            </a:r>
            <a:r>
              <a:rPr lang="en-US" dirty="0"/>
              <a:t>)    </a:t>
            </a:r>
          </a:p>
          <a:p>
            <a:pPr marL="137160" indent="0">
              <a:buNone/>
            </a:pPr>
            <a:r>
              <a:rPr lang="en-US" dirty="0"/>
              <a:t># display the calendar </a:t>
            </a:r>
          </a:p>
          <a:p>
            <a:pPr marL="137160" indent="0">
              <a:buNone/>
            </a:pPr>
            <a:r>
              <a:rPr lang="en-US" dirty="0"/>
              <a:t>print(</a:t>
            </a:r>
            <a:r>
              <a:rPr lang="en-US" dirty="0" err="1"/>
              <a:t>calendar.month</a:t>
            </a:r>
            <a:r>
              <a:rPr lang="en-US" dirty="0"/>
              <a:t>(</a:t>
            </a:r>
            <a:r>
              <a:rPr lang="en-US" dirty="0" err="1"/>
              <a:t>yy,mm</a:t>
            </a:r>
            <a:r>
              <a:rPr lang="en-US" dirty="0"/>
              <a:t>))</a:t>
            </a:r>
            <a:endParaRPr lang="en-IN" dirty="0"/>
          </a:p>
        </p:txBody>
      </p:sp>
    </p:spTree>
    <p:extLst>
      <p:ext uri="{BB962C8B-B14F-4D97-AF65-F5344CB8AC3E}">
        <p14:creationId xmlns:p14="http://schemas.microsoft.com/office/powerpoint/2010/main" val="22209955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Lists</a:t>
            </a:r>
          </a:p>
        </p:txBody>
      </p:sp>
      <p:sp>
        <p:nvSpPr>
          <p:cNvPr id="3" name="Content Placeholder 2"/>
          <p:cNvSpPr>
            <a:spLocks noGrp="1"/>
          </p:cNvSpPr>
          <p:nvPr>
            <p:ph idx="1"/>
          </p:nvPr>
        </p:nvSpPr>
        <p:spPr>
          <a:xfrm>
            <a:off x="457200" y="1285860"/>
            <a:ext cx="8229600" cy="4709160"/>
          </a:xfrm>
        </p:spPr>
        <p:txBody>
          <a:bodyPr>
            <a:normAutofit/>
          </a:bodyPr>
          <a:lstStyle/>
          <a:p>
            <a:endParaRPr lang="en-US" b="1" dirty="0"/>
          </a:p>
          <a:p>
            <a:r>
              <a:rPr lang="en-US" b="1" dirty="0"/>
              <a:t>Lists </a:t>
            </a:r>
            <a:r>
              <a:rPr lang="en-US" dirty="0"/>
              <a:t>are just like the arrays, declared in other languages.</a:t>
            </a:r>
          </a:p>
          <a:p>
            <a:r>
              <a:rPr lang="en-US" dirty="0"/>
              <a:t>Lists </a:t>
            </a:r>
            <a:r>
              <a:rPr lang="en-US" dirty="0">
                <a:solidFill>
                  <a:schemeClr val="accent4">
                    <a:lumMod val="75000"/>
                  </a:schemeClr>
                </a:solidFill>
              </a:rPr>
              <a:t>need not be </a:t>
            </a:r>
            <a:r>
              <a:rPr lang="en-US" dirty="0"/>
              <a:t>homogeneous always which makes it a most powerful tool in Python</a:t>
            </a:r>
          </a:p>
          <a:p>
            <a:r>
              <a:rPr lang="en-US" dirty="0"/>
              <a:t>A single list may contain Data types like Integers, Strings, as well as Objects. </a:t>
            </a:r>
          </a:p>
          <a:p>
            <a:r>
              <a:rPr lang="en-US" dirty="0"/>
              <a:t>Lists are mutable, and hence, they can be altered even after their creation.</a:t>
            </a:r>
            <a:endParaRPr lang="en-US" b="1" dirty="0"/>
          </a:p>
          <a:p>
            <a:r>
              <a:rPr lang="en-US" b="1" dirty="0"/>
              <a:t>List</a:t>
            </a:r>
            <a:r>
              <a:rPr lang="en-US" dirty="0"/>
              <a:t> is a collection which is ordered and changeable. </a:t>
            </a:r>
          </a:p>
          <a:p>
            <a:r>
              <a:rPr lang="en-US" dirty="0"/>
              <a:t>Allows duplicate members.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0" dirty="0"/>
              <a:t>How to Create Python List?</a:t>
            </a:r>
            <a:br>
              <a:rPr lang="en-US" b="0" dirty="0"/>
            </a:br>
            <a:endParaRPr lang="en-US" dirty="0"/>
          </a:p>
        </p:txBody>
      </p:sp>
      <p:sp>
        <p:nvSpPr>
          <p:cNvPr id="3" name="Content Placeholder 2"/>
          <p:cNvSpPr>
            <a:spLocks noGrp="1"/>
          </p:cNvSpPr>
          <p:nvPr>
            <p:ph idx="1"/>
          </p:nvPr>
        </p:nvSpPr>
        <p:spPr/>
        <p:txBody>
          <a:bodyPr/>
          <a:lstStyle/>
          <a:p>
            <a:r>
              <a:rPr lang="en-US" dirty="0"/>
              <a:t>Colors=['</a:t>
            </a:r>
            <a:r>
              <a:rPr lang="en-US" dirty="0" err="1"/>
              <a:t>red','green','blue</a:t>
            </a:r>
            <a:r>
              <a:rPr lang="en-US" dirty="0"/>
              <a:t>']</a:t>
            </a:r>
          </a:p>
          <a:p>
            <a:r>
              <a:rPr lang="en-US" sz="2400" dirty="0"/>
              <a:t>Days=['Monday','Tuesday','Wednesday',4,5,6,7.0]</a:t>
            </a:r>
          </a:p>
          <a:p>
            <a:r>
              <a:rPr lang="en-US" sz="2400" dirty="0"/>
              <a:t>List1 = [[‘Python', 'For'] , [‘Beginners‘ ,’all’]] // multi-dim</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0" dirty="0"/>
              <a:t>How to Access Python List?</a:t>
            </a:r>
            <a:br>
              <a:rPr lang="en-US" b="0" dirty="0"/>
            </a:br>
            <a:endParaRPr lang="en-US" dirty="0"/>
          </a:p>
        </p:txBody>
      </p:sp>
      <p:sp>
        <p:nvSpPr>
          <p:cNvPr id="3" name="Content Placeholder 2"/>
          <p:cNvSpPr>
            <a:spLocks noGrp="1"/>
          </p:cNvSpPr>
          <p:nvPr>
            <p:ph idx="1"/>
          </p:nvPr>
        </p:nvSpPr>
        <p:spPr>
          <a:xfrm>
            <a:off x="457200" y="1600200"/>
            <a:ext cx="8258204" cy="4972072"/>
          </a:xfrm>
        </p:spPr>
        <p:txBody>
          <a:bodyPr>
            <a:normAutofit fontScale="92500" lnSpcReduction="10000"/>
          </a:bodyPr>
          <a:lstStyle/>
          <a:p>
            <a:pPr fontAlgn="base">
              <a:buNone/>
            </a:pPr>
            <a:endParaRPr lang="en-US" dirty="0"/>
          </a:p>
          <a:p>
            <a:pPr fontAlgn="base">
              <a:buNone/>
            </a:pPr>
            <a:r>
              <a:rPr lang="en-US" dirty="0"/>
              <a:t>List = [1, 2, 'One',  'Two', 6, 'Six']</a:t>
            </a:r>
          </a:p>
          <a:p>
            <a:pPr fontAlgn="base">
              <a:buNone/>
            </a:pPr>
            <a:r>
              <a:rPr lang="en-US" dirty="0"/>
              <a:t>List1 = [['Python', 'For'] , ['Beginners']] </a:t>
            </a:r>
          </a:p>
          <a:p>
            <a:pPr fontAlgn="base">
              <a:buNone/>
            </a:pPr>
            <a:r>
              <a:rPr lang="en-US" dirty="0"/>
              <a:t>print("\n List with the use of Mixed Values: ") </a:t>
            </a:r>
          </a:p>
          <a:p>
            <a:pPr fontAlgn="base">
              <a:buNone/>
            </a:pPr>
            <a:r>
              <a:rPr lang="en-US" dirty="0"/>
              <a:t>print(List) </a:t>
            </a:r>
          </a:p>
          <a:p>
            <a:pPr fontAlgn="base">
              <a:buNone/>
            </a:pPr>
            <a:r>
              <a:rPr lang="en-US" dirty="0"/>
              <a:t>print(List[1:3])</a:t>
            </a:r>
          </a:p>
          <a:p>
            <a:pPr fontAlgn="base">
              <a:buNone/>
            </a:pPr>
            <a:r>
              <a:rPr lang="en-US" dirty="0"/>
              <a:t>print(List[2]) </a:t>
            </a:r>
          </a:p>
          <a:p>
            <a:pPr fontAlgn="base">
              <a:buNone/>
            </a:pPr>
            <a:r>
              <a:rPr lang="en-US" dirty="0"/>
              <a:t>print(List[-1])</a:t>
            </a:r>
          </a:p>
          <a:p>
            <a:pPr fontAlgn="base">
              <a:buNone/>
            </a:pPr>
            <a:r>
              <a:rPr lang="en-US" sz="2400" dirty="0"/>
              <a:t>print("Accessing a element from a Multi-Dimensional list") </a:t>
            </a:r>
          </a:p>
          <a:p>
            <a:pPr fontAlgn="base">
              <a:buNone/>
            </a:pPr>
            <a:r>
              <a:rPr lang="en-US" dirty="0"/>
              <a:t>print(List1[0][1]) </a:t>
            </a:r>
          </a:p>
          <a:p>
            <a:pPr fontAlgn="base">
              <a:buNone/>
            </a:pPr>
            <a:r>
              <a:rPr lang="en-US" dirty="0"/>
              <a:t>print(List1[1][0])</a:t>
            </a:r>
          </a:p>
          <a:p>
            <a:pPr fontAlgn="base">
              <a:buNone/>
            </a:pPr>
            <a:r>
              <a:rPr lang="en-US" dirty="0"/>
              <a:t>print(List[::-1]) //?</a:t>
            </a:r>
          </a:p>
          <a:p>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Removing Elements from the List</a:t>
            </a:r>
            <a:br>
              <a:rPr lang="en-US" dirty="0"/>
            </a:br>
            <a:endParaRPr lang="en-US" dirty="0"/>
          </a:p>
        </p:txBody>
      </p:sp>
      <p:sp>
        <p:nvSpPr>
          <p:cNvPr id="3" name="Content Placeholder 2"/>
          <p:cNvSpPr>
            <a:spLocks noGrp="1"/>
          </p:cNvSpPr>
          <p:nvPr>
            <p:ph idx="1"/>
          </p:nvPr>
        </p:nvSpPr>
        <p:spPr/>
        <p:txBody>
          <a:bodyPr>
            <a:normAutofit/>
          </a:bodyPr>
          <a:lstStyle/>
          <a:p>
            <a:pPr fontAlgn="base"/>
            <a:r>
              <a:rPr lang="en-US" dirty="0"/>
              <a:t>Elements can be removed from the List by using built-in </a:t>
            </a:r>
            <a:r>
              <a:rPr lang="en-US" b="1" dirty="0">
                <a:hlinkClick r:id="rId2"/>
              </a:rPr>
              <a:t>remove()</a:t>
            </a:r>
            <a:r>
              <a:rPr lang="en-US" dirty="0"/>
              <a:t> function but an Error arises if element doesn’t exist in the set. </a:t>
            </a:r>
          </a:p>
          <a:p>
            <a:pPr fontAlgn="base"/>
            <a:r>
              <a:rPr lang="en-US" dirty="0"/>
              <a:t>The remove() method removes the specified item.</a:t>
            </a:r>
          </a:p>
          <a:p>
            <a:pPr fontAlgn="base"/>
            <a:r>
              <a:rPr lang="en-US" b="1" dirty="0"/>
              <a:t>Note </a:t>
            </a:r>
          </a:p>
          <a:p>
            <a:pPr lvl="1" fontAlgn="base"/>
            <a:r>
              <a:rPr lang="en-US" b="1" dirty="0"/>
              <a:t> </a:t>
            </a:r>
            <a:r>
              <a:rPr lang="en-US" dirty="0"/>
              <a:t>Remove method in List will only remove the first occurrence of the searched element.</a:t>
            </a:r>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Remove()</a:t>
            </a:r>
          </a:p>
        </p:txBody>
      </p:sp>
      <p:sp>
        <p:nvSpPr>
          <p:cNvPr id="3" name="Content Placeholder 2"/>
          <p:cNvSpPr>
            <a:spLocks noGrp="1"/>
          </p:cNvSpPr>
          <p:nvPr>
            <p:ph idx="1"/>
          </p:nvPr>
        </p:nvSpPr>
        <p:spPr/>
        <p:txBody>
          <a:bodyPr/>
          <a:lstStyle/>
          <a:p>
            <a:pPr fontAlgn="base"/>
            <a:r>
              <a:rPr lang="en-US" dirty="0" err="1"/>
              <a:t>List.remove</a:t>
            </a:r>
            <a:r>
              <a:rPr lang="en-US" dirty="0"/>
              <a:t>(5) </a:t>
            </a:r>
          </a:p>
          <a:p>
            <a:pPr fontAlgn="base"/>
            <a:r>
              <a:rPr lang="en-US" dirty="0" err="1"/>
              <a:t>List.remove</a:t>
            </a:r>
            <a:r>
              <a:rPr lang="en-US" dirty="0"/>
              <a:t>(6) </a:t>
            </a:r>
          </a:p>
          <a:p>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Delete</a:t>
            </a:r>
          </a:p>
        </p:txBody>
      </p:sp>
      <p:sp>
        <p:nvSpPr>
          <p:cNvPr id="3" name="Content Placeholder 2"/>
          <p:cNvSpPr>
            <a:spLocks noGrp="1"/>
          </p:cNvSpPr>
          <p:nvPr>
            <p:ph idx="1"/>
          </p:nvPr>
        </p:nvSpPr>
        <p:spPr/>
        <p:txBody>
          <a:bodyPr/>
          <a:lstStyle/>
          <a:p>
            <a:pPr>
              <a:buNone/>
            </a:pPr>
            <a:r>
              <a:rPr lang="en-US" b="1" dirty="0"/>
              <a:t>del[a : b]</a:t>
            </a:r>
            <a:r>
              <a:rPr lang="en-US" dirty="0"/>
              <a:t> :</a:t>
            </a:r>
          </a:p>
          <a:p>
            <a:r>
              <a:rPr lang="en-US" dirty="0"/>
              <a:t>This method </a:t>
            </a:r>
            <a:r>
              <a:rPr lang="en-US" b="1" dirty="0"/>
              <a:t>deletes all the elements in range</a:t>
            </a:r>
            <a:r>
              <a:rPr lang="en-US" dirty="0"/>
              <a:t> starting from index ‘a’ till ‘b’ mentioned in arguments.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delete</a:t>
            </a:r>
          </a:p>
        </p:txBody>
      </p:sp>
      <p:sp>
        <p:nvSpPr>
          <p:cNvPr id="3" name="Content Placeholder 2"/>
          <p:cNvSpPr>
            <a:spLocks noGrp="1"/>
          </p:cNvSpPr>
          <p:nvPr>
            <p:ph idx="1"/>
          </p:nvPr>
        </p:nvSpPr>
        <p:spPr/>
        <p:txBody>
          <a:bodyPr/>
          <a:lstStyle/>
          <a:p>
            <a:pPr fontAlgn="base"/>
            <a:r>
              <a:rPr lang="en-US" dirty="0" err="1"/>
              <a:t>lis</a:t>
            </a:r>
            <a:r>
              <a:rPr lang="en-US" dirty="0"/>
              <a:t> = [2, 1, 3, 5, 4, 3, 8]</a:t>
            </a:r>
          </a:p>
          <a:p>
            <a:pPr fontAlgn="base"/>
            <a:r>
              <a:rPr lang="en-US" dirty="0"/>
              <a:t>print(</a:t>
            </a:r>
            <a:r>
              <a:rPr lang="en-US" dirty="0" err="1"/>
              <a:t>lis</a:t>
            </a:r>
            <a:r>
              <a:rPr lang="en-US" dirty="0"/>
              <a:t>)</a:t>
            </a:r>
          </a:p>
          <a:p>
            <a:pPr fontAlgn="base"/>
            <a:r>
              <a:rPr lang="en-US" dirty="0"/>
              <a:t>del </a:t>
            </a:r>
            <a:r>
              <a:rPr lang="en-US" dirty="0" err="1"/>
              <a:t>lis</a:t>
            </a:r>
            <a:r>
              <a:rPr lang="en-US" dirty="0"/>
              <a:t>[1 : 5] </a:t>
            </a:r>
          </a:p>
          <a:p>
            <a:pPr fontAlgn="base"/>
            <a:r>
              <a:rPr lang="en-US" dirty="0"/>
              <a:t>print(</a:t>
            </a:r>
            <a:r>
              <a:rPr lang="en-US" dirty="0" err="1"/>
              <a:t>lis</a:t>
            </a:r>
            <a:r>
              <a:rPr lang="en-US" dirty="0"/>
              <a:t>)</a:t>
            </a:r>
          </a:p>
          <a:p>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normAutofit fontScale="90000"/>
          </a:bodyPr>
          <a:lstStyle/>
          <a:p>
            <a:r>
              <a:rPr lang="en-US" dirty="0"/>
              <a:t>Adding Elements to a List</a:t>
            </a:r>
            <a:br>
              <a:rPr lang="en-US" dirty="0"/>
            </a:br>
            <a:endParaRPr lang="en-US" dirty="0"/>
          </a:p>
        </p:txBody>
      </p:sp>
      <p:sp>
        <p:nvSpPr>
          <p:cNvPr id="3" name="Content Placeholder 2"/>
          <p:cNvSpPr>
            <a:spLocks noGrp="1"/>
          </p:cNvSpPr>
          <p:nvPr>
            <p:ph idx="1"/>
          </p:nvPr>
        </p:nvSpPr>
        <p:spPr/>
        <p:txBody>
          <a:bodyPr>
            <a:normAutofit lnSpcReduction="10000"/>
          </a:bodyPr>
          <a:lstStyle/>
          <a:p>
            <a:pPr>
              <a:buNone/>
            </a:pPr>
            <a:r>
              <a:rPr lang="en-US" b="1" dirty="0"/>
              <a:t>append() method</a:t>
            </a:r>
          </a:p>
          <a:p>
            <a:pPr>
              <a:buNone/>
            </a:pPr>
            <a:r>
              <a:rPr lang="en-US" b="1" dirty="0"/>
              <a:t>insert() method</a:t>
            </a:r>
          </a:p>
          <a:p>
            <a:pPr>
              <a:buNone/>
            </a:pPr>
            <a:r>
              <a:rPr lang="en-US" b="1" dirty="0"/>
              <a:t>extend() method</a:t>
            </a:r>
          </a:p>
          <a:p>
            <a:r>
              <a:rPr lang="en-US" dirty="0"/>
              <a:t>append() method only works for addition of elements at the end of the List, </a:t>
            </a:r>
          </a:p>
          <a:p>
            <a:r>
              <a:rPr lang="en-US" dirty="0"/>
              <a:t> insert() for addition of element at the desired position</a:t>
            </a:r>
          </a:p>
          <a:p>
            <a:r>
              <a:rPr lang="en-US" dirty="0"/>
              <a:t>insert() method requires two arguments(position, value).</a:t>
            </a:r>
          </a:p>
          <a:p>
            <a:r>
              <a:rPr lang="en-US" dirty="0"/>
              <a:t>extend() is used to add multiple elements at the same time at the end of the list.</a:t>
            </a:r>
          </a:p>
          <a:p>
            <a:pPr lvl="1">
              <a:buNone/>
            </a:pPr>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Append</a:t>
            </a:r>
          </a:p>
        </p:txBody>
      </p:sp>
      <p:sp>
        <p:nvSpPr>
          <p:cNvPr id="3" name="Content Placeholder 2"/>
          <p:cNvSpPr>
            <a:spLocks noGrp="1"/>
          </p:cNvSpPr>
          <p:nvPr>
            <p:ph idx="1"/>
          </p:nvPr>
        </p:nvSpPr>
        <p:spPr/>
        <p:txBody>
          <a:bodyPr>
            <a:normAutofit lnSpcReduction="10000"/>
          </a:bodyPr>
          <a:lstStyle/>
          <a:p>
            <a:pPr fontAlgn="base"/>
            <a:r>
              <a:rPr lang="en-US" dirty="0"/>
              <a:t>List = [] </a:t>
            </a:r>
          </a:p>
          <a:p>
            <a:pPr fontAlgn="base"/>
            <a:r>
              <a:rPr lang="en-US" dirty="0"/>
              <a:t>print("Initial blank List: ") </a:t>
            </a:r>
          </a:p>
          <a:p>
            <a:pPr fontAlgn="base"/>
            <a:r>
              <a:rPr lang="en-US" dirty="0"/>
              <a:t>print(List) </a:t>
            </a:r>
          </a:p>
          <a:p>
            <a:pPr fontAlgn="base"/>
            <a:r>
              <a:rPr lang="en-US" dirty="0"/>
              <a:t>  </a:t>
            </a:r>
          </a:p>
          <a:p>
            <a:pPr fontAlgn="base"/>
            <a:r>
              <a:rPr lang="en-US" dirty="0"/>
              <a:t># Addition of Elements in the List </a:t>
            </a:r>
          </a:p>
          <a:p>
            <a:pPr fontAlgn="base"/>
            <a:r>
              <a:rPr lang="en-US" dirty="0" err="1"/>
              <a:t>List.append</a:t>
            </a:r>
            <a:r>
              <a:rPr lang="en-US" dirty="0"/>
              <a:t>(1) </a:t>
            </a:r>
          </a:p>
          <a:p>
            <a:pPr fontAlgn="base"/>
            <a:r>
              <a:rPr lang="en-US" dirty="0" err="1"/>
              <a:t>List.append</a:t>
            </a:r>
            <a:r>
              <a:rPr lang="en-US" dirty="0"/>
              <a:t>(2) </a:t>
            </a:r>
          </a:p>
          <a:p>
            <a:pPr fontAlgn="base"/>
            <a:r>
              <a:rPr lang="en-US" dirty="0" err="1"/>
              <a:t>List.append</a:t>
            </a:r>
            <a:r>
              <a:rPr lang="en-US" dirty="0"/>
              <a:t>(4) </a:t>
            </a:r>
          </a:p>
          <a:p>
            <a:pPr fontAlgn="base"/>
            <a:r>
              <a:rPr lang="en-US" dirty="0"/>
              <a:t>print("\</a:t>
            </a:r>
            <a:r>
              <a:rPr lang="en-US" dirty="0" err="1"/>
              <a:t>nList</a:t>
            </a:r>
            <a:r>
              <a:rPr lang="en-US" dirty="0"/>
              <a:t> after Addition of Three elements: ") </a:t>
            </a:r>
          </a:p>
          <a:p>
            <a:pPr fontAlgn="base"/>
            <a:r>
              <a:rPr lang="en-US" dirty="0"/>
              <a:t>print(List) </a:t>
            </a:r>
          </a:p>
          <a:p>
            <a:pPr>
              <a:buNone/>
            </a:pP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a:t>
            </a:r>
          </a:p>
        </p:txBody>
      </p:sp>
      <p:sp>
        <p:nvSpPr>
          <p:cNvPr id="3" name="Content Placeholder 2"/>
          <p:cNvSpPr>
            <a:spLocks noGrp="1"/>
          </p:cNvSpPr>
          <p:nvPr>
            <p:ph idx="1"/>
          </p:nvPr>
        </p:nvSpPr>
        <p:spPr/>
        <p:txBody>
          <a:bodyPr/>
          <a:lstStyle/>
          <a:p>
            <a:pPr fontAlgn="base"/>
            <a:r>
              <a:rPr lang="en-US" dirty="0"/>
              <a:t>List = [1,2,3,4] </a:t>
            </a:r>
          </a:p>
          <a:p>
            <a:pPr fontAlgn="base"/>
            <a:r>
              <a:rPr lang="en-US" dirty="0"/>
              <a:t>print("Initial List: ") </a:t>
            </a:r>
          </a:p>
          <a:p>
            <a:pPr fontAlgn="base"/>
            <a:r>
              <a:rPr lang="en-US" dirty="0"/>
              <a:t>print(List) </a:t>
            </a:r>
          </a:p>
          <a:p>
            <a:pPr fontAlgn="base"/>
            <a:r>
              <a:rPr lang="en-US" dirty="0" err="1"/>
              <a:t>List.insert</a:t>
            </a:r>
            <a:r>
              <a:rPr lang="en-US" dirty="0"/>
              <a:t>(3, 12) </a:t>
            </a:r>
          </a:p>
          <a:p>
            <a:pPr fontAlgn="base"/>
            <a:r>
              <a:rPr lang="en-US" dirty="0" err="1"/>
              <a:t>List.insert</a:t>
            </a:r>
            <a:r>
              <a:rPr lang="en-US" dirty="0"/>
              <a:t>(0, ‘Hello') </a:t>
            </a:r>
          </a:p>
          <a:p>
            <a:pPr fontAlgn="base"/>
            <a:r>
              <a:rPr lang="en-US" sz="2400" dirty="0"/>
              <a:t>print("\</a:t>
            </a:r>
            <a:r>
              <a:rPr lang="en-US" sz="2400" dirty="0" err="1"/>
              <a:t>nList</a:t>
            </a:r>
            <a:r>
              <a:rPr lang="en-US" sz="2400" dirty="0"/>
              <a:t> after performing Insert Operation: ") </a:t>
            </a:r>
          </a:p>
          <a:p>
            <a:pPr fontAlgn="base"/>
            <a:r>
              <a:rPr lang="en-US" dirty="0"/>
              <a:t>print(List) </a:t>
            </a:r>
          </a:p>
          <a:p>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a:t>
            </a:r>
          </a:p>
        </p:txBody>
      </p:sp>
      <p:sp>
        <p:nvSpPr>
          <p:cNvPr id="3" name="Content Placeholder 2"/>
          <p:cNvSpPr>
            <a:spLocks noGrp="1"/>
          </p:cNvSpPr>
          <p:nvPr>
            <p:ph idx="1"/>
          </p:nvPr>
        </p:nvSpPr>
        <p:spPr/>
        <p:txBody>
          <a:bodyPr/>
          <a:lstStyle/>
          <a:p>
            <a:pPr fontAlgn="base"/>
            <a:r>
              <a:rPr lang="en-US" dirty="0"/>
              <a:t>List = [1,2,3,4] </a:t>
            </a:r>
          </a:p>
          <a:p>
            <a:pPr fontAlgn="base"/>
            <a:r>
              <a:rPr lang="en-US" dirty="0"/>
              <a:t>print("Initial List: ") </a:t>
            </a:r>
          </a:p>
          <a:p>
            <a:pPr fontAlgn="base"/>
            <a:r>
              <a:rPr lang="en-US" dirty="0"/>
              <a:t>print(List) </a:t>
            </a:r>
          </a:p>
          <a:p>
            <a:pPr fontAlgn="base"/>
            <a:r>
              <a:rPr lang="en-US" dirty="0" err="1"/>
              <a:t>List.extend</a:t>
            </a:r>
            <a:r>
              <a:rPr lang="en-US" dirty="0"/>
              <a:t>([8, ‘Best', 'Always']) </a:t>
            </a:r>
          </a:p>
          <a:p>
            <a:pPr fontAlgn="base"/>
            <a:r>
              <a:rPr lang="en-US" sz="2400" dirty="0"/>
              <a:t>print("\</a:t>
            </a:r>
            <a:r>
              <a:rPr lang="en-US" sz="2400" dirty="0" err="1"/>
              <a:t>nList</a:t>
            </a:r>
            <a:r>
              <a:rPr lang="en-US" sz="2400" dirty="0"/>
              <a:t> after performing Extend Operation: ") </a:t>
            </a:r>
          </a:p>
          <a:p>
            <a:pPr fontAlgn="base"/>
            <a:r>
              <a:rPr lang="en-US" dirty="0"/>
              <a:t>print(List) </a:t>
            </a:r>
          </a:p>
          <a:p>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DC7AA-7E2E-462A-AB94-F0DFDE99FB4D}"/>
              </a:ext>
            </a:extLst>
          </p:cNvPr>
          <p:cNvSpPr>
            <a:spLocks noGrp="1"/>
          </p:cNvSpPr>
          <p:nvPr>
            <p:ph type="title"/>
          </p:nvPr>
        </p:nvSpPr>
        <p:spPr/>
        <p:txBody>
          <a:bodyPr/>
          <a:lstStyle/>
          <a:p>
            <a:r>
              <a:rPr lang="en-US" dirty="0"/>
              <a:t>List</a:t>
            </a:r>
            <a:endParaRPr lang="en-IN" dirty="0"/>
          </a:p>
        </p:txBody>
      </p:sp>
      <p:sp>
        <p:nvSpPr>
          <p:cNvPr id="3" name="Content Placeholder 2">
            <a:extLst>
              <a:ext uri="{FF2B5EF4-FFF2-40B4-BE49-F238E27FC236}">
                <a16:creationId xmlns:a16="http://schemas.microsoft.com/office/drawing/2014/main" id="{59F74FAB-A381-42B4-BCA8-B47D3C127C6B}"/>
              </a:ext>
            </a:extLst>
          </p:cNvPr>
          <p:cNvSpPr>
            <a:spLocks noGrp="1"/>
          </p:cNvSpPr>
          <p:nvPr>
            <p:ph idx="1"/>
          </p:nvPr>
        </p:nvSpPr>
        <p:spPr/>
        <p:txBody>
          <a:bodyPr/>
          <a:lstStyle/>
          <a:p>
            <a:pPr marL="137160" indent="0">
              <a:buNone/>
            </a:pPr>
            <a:r>
              <a:rPr lang="en-US" dirty="0"/>
              <a:t>list1 = []</a:t>
            </a:r>
          </a:p>
          <a:p>
            <a:pPr marL="137160" indent="0">
              <a:buNone/>
            </a:pPr>
            <a:r>
              <a:rPr lang="en-US" dirty="0"/>
              <a:t>size = int(input("enter the size  of the list you want to create  "))</a:t>
            </a:r>
          </a:p>
          <a:p>
            <a:pPr marL="137160" indent="0">
              <a:buNone/>
            </a:pPr>
            <a:r>
              <a:rPr lang="en-US" dirty="0"/>
              <a:t>for </a:t>
            </a:r>
            <a:r>
              <a:rPr lang="en-US" dirty="0" err="1"/>
              <a:t>i</a:t>
            </a:r>
            <a:r>
              <a:rPr lang="en-US" dirty="0"/>
              <a:t> in range(size):</a:t>
            </a:r>
          </a:p>
          <a:p>
            <a:pPr marL="137160" indent="0">
              <a:buNone/>
            </a:pPr>
            <a:r>
              <a:rPr lang="en-US" dirty="0"/>
              <a:t>    num = int(input("Enter the element(s)"))</a:t>
            </a:r>
          </a:p>
          <a:p>
            <a:pPr marL="137160" indent="0">
              <a:buNone/>
            </a:pPr>
            <a:r>
              <a:rPr lang="en-US" dirty="0"/>
              <a:t>    list1.append(num)</a:t>
            </a:r>
          </a:p>
          <a:p>
            <a:pPr marL="137160" indent="0">
              <a:buNone/>
            </a:pPr>
            <a:r>
              <a:rPr lang="en-US" dirty="0"/>
              <a:t>print("Your list is :", list1)</a:t>
            </a:r>
          </a:p>
          <a:p>
            <a:pPr marL="137160" indent="0">
              <a:buNone/>
            </a:pPr>
            <a:endParaRPr lang="en-IN" dirty="0"/>
          </a:p>
        </p:txBody>
      </p:sp>
    </p:spTree>
    <p:extLst>
      <p:ext uri="{BB962C8B-B14F-4D97-AF65-F5344CB8AC3E}">
        <p14:creationId xmlns:p14="http://schemas.microsoft.com/office/powerpoint/2010/main" val="5183118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71EDD-2156-456F-8FEC-C29DCF9C295F}"/>
              </a:ext>
            </a:extLst>
          </p:cNvPr>
          <p:cNvSpPr>
            <a:spLocks noGrp="1"/>
          </p:cNvSpPr>
          <p:nvPr>
            <p:ph type="title"/>
          </p:nvPr>
        </p:nvSpPr>
        <p:spPr/>
        <p:txBody>
          <a:bodyPr/>
          <a:lstStyle/>
          <a:p>
            <a:r>
              <a:rPr lang="en-US" dirty="0"/>
              <a:t>Index</a:t>
            </a:r>
            <a:endParaRPr lang="en-IN" dirty="0"/>
          </a:p>
        </p:txBody>
      </p:sp>
      <p:sp>
        <p:nvSpPr>
          <p:cNvPr id="3" name="Content Placeholder 2">
            <a:extLst>
              <a:ext uri="{FF2B5EF4-FFF2-40B4-BE49-F238E27FC236}">
                <a16:creationId xmlns:a16="http://schemas.microsoft.com/office/drawing/2014/main" id="{D0B3531A-7CB2-46FF-A610-EBCCFFC1CE84}"/>
              </a:ext>
            </a:extLst>
          </p:cNvPr>
          <p:cNvSpPr>
            <a:spLocks noGrp="1"/>
          </p:cNvSpPr>
          <p:nvPr>
            <p:ph idx="1"/>
          </p:nvPr>
        </p:nvSpPr>
        <p:spPr/>
        <p:txBody>
          <a:bodyPr/>
          <a:lstStyle/>
          <a:p>
            <a:pPr marL="137160" indent="0">
              <a:buNone/>
            </a:pPr>
            <a:r>
              <a:rPr lang="en-IN" dirty="0"/>
              <a:t>for </a:t>
            </a:r>
            <a:r>
              <a:rPr lang="en-IN" dirty="0" err="1"/>
              <a:t>i</a:t>
            </a:r>
            <a:r>
              <a:rPr lang="en-IN" dirty="0"/>
              <a:t> in list1:</a:t>
            </a:r>
          </a:p>
          <a:p>
            <a:pPr marL="137160" indent="0">
              <a:buNone/>
            </a:pPr>
            <a:r>
              <a:rPr lang="en-IN" dirty="0"/>
              <a:t>    print(list1.index(</a:t>
            </a:r>
            <a:r>
              <a:rPr lang="en-IN" dirty="0" err="1"/>
              <a:t>i</a:t>
            </a:r>
            <a:r>
              <a:rPr lang="en-IN" dirty="0"/>
              <a:t>))</a:t>
            </a:r>
          </a:p>
        </p:txBody>
      </p:sp>
    </p:spTree>
    <p:extLst>
      <p:ext uri="{BB962C8B-B14F-4D97-AF65-F5344CB8AC3E}">
        <p14:creationId xmlns:p14="http://schemas.microsoft.com/office/powerpoint/2010/main" val="38266051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F765D-34CE-4A73-9A0F-90CFBD1DBB97}"/>
              </a:ext>
            </a:extLst>
          </p:cNvPr>
          <p:cNvSpPr>
            <a:spLocks noGrp="1"/>
          </p:cNvSpPr>
          <p:nvPr>
            <p:ph type="title"/>
          </p:nvPr>
        </p:nvSpPr>
        <p:spPr/>
        <p:txBody>
          <a:bodyPr/>
          <a:lstStyle/>
          <a:p>
            <a:r>
              <a:rPr lang="en-US" dirty="0"/>
              <a:t>Length of list</a:t>
            </a:r>
            <a:endParaRPr lang="en-IN" dirty="0"/>
          </a:p>
        </p:txBody>
      </p:sp>
      <p:sp>
        <p:nvSpPr>
          <p:cNvPr id="3" name="Content Placeholder 2">
            <a:extLst>
              <a:ext uri="{FF2B5EF4-FFF2-40B4-BE49-F238E27FC236}">
                <a16:creationId xmlns:a16="http://schemas.microsoft.com/office/drawing/2014/main" id="{B8A97ED9-CACB-4353-AC7F-D3BBFDC11783}"/>
              </a:ext>
            </a:extLst>
          </p:cNvPr>
          <p:cNvSpPr>
            <a:spLocks noGrp="1"/>
          </p:cNvSpPr>
          <p:nvPr>
            <p:ph idx="1"/>
          </p:nvPr>
        </p:nvSpPr>
        <p:spPr/>
        <p:txBody>
          <a:bodyPr/>
          <a:lstStyle/>
          <a:p>
            <a:pPr marL="137160" indent="0">
              <a:buNone/>
            </a:pPr>
            <a:r>
              <a:rPr lang="en-US" dirty="0"/>
              <a:t>length = </a:t>
            </a:r>
            <a:r>
              <a:rPr lang="en-US" dirty="0" err="1"/>
              <a:t>len</a:t>
            </a:r>
            <a:r>
              <a:rPr lang="en-US" dirty="0"/>
              <a:t>(</a:t>
            </a:r>
            <a:r>
              <a:rPr lang="en-US" dirty="0" err="1"/>
              <a:t>list_name</a:t>
            </a:r>
            <a:r>
              <a:rPr lang="en-US" dirty="0"/>
              <a:t>)</a:t>
            </a:r>
          </a:p>
          <a:p>
            <a:pPr marL="137160" indent="0">
              <a:buNone/>
            </a:pPr>
            <a:endParaRPr lang="en-US" dirty="0"/>
          </a:p>
          <a:p>
            <a:pPr marL="137160" indent="0">
              <a:buNone/>
            </a:pPr>
            <a:r>
              <a:rPr lang="en-US" dirty="0"/>
              <a:t>for </a:t>
            </a:r>
            <a:r>
              <a:rPr lang="en-US" dirty="0" err="1"/>
              <a:t>i</a:t>
            </a:r>
            <a:r>
              <a:rPr lang="en-US" dirty="0"/>
              <a:t> in range(length):</a:t>
            </a:r>
          </a:p>
          <a:p>
            <a:pPr marL="137160" indent="0">
              <a:buNone/>
            </a:pPr>
            <a:r>
              <a:rPr lang="en-US" dirty="0"/>
              <a:t>    print(</a:t>
            </a:r>
            <a:r>
              <a:rPr lang="en-US" dirty="0" err="1"/>
              <a:t>i</a:t>
            </a:r>
            <a:r>
              <a:rPr lang="en-US" dirty="0"/>
              <a:t>)</a:t>
            </a:r>
            <a:endParaRPr lang="en-IN" dirty="0"/>
          </a:p>
        </p:txBody>
      </p:sp>
    </p:spTree>
    <p:extLst>
      <p:ext uri="{BB962C8B-B14F-4D97-AF65-F5344CB8AC3E}">
        <p14:creationId xmlns:p14="http://schemas.microsoft.com/office/powerpoint/2010/main" val="402837837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DB638-6546-403A-94C9-4A53FEF6DFF9}"/>
              </a:ext>
            </a:extLst>
          </p:cNvPr>
          <p:cNvSpPr>
            <a:spLocks noGrp="1"/>
          </p:cNvSpPr>
          <p:nvPr>
            <p:ph type="title"/>
          </p:nvPr>
        </p:nvSpPr>
        <p:spPr/>
        <p:txBody>
          <a:bodyPr/>
          <a:lstStyle/>
          <a:p>
            <a:r>
              <a:rPr lang="en-US"/>
              <a:t>Checking Duplication</a:t>
            </a:r>
            <a:endParaRPr lang="en-IN" dirty="0"/>
          </a:p>
        </p:txBody>
      </p:sp>
      <p:sp>
        <p:nvSpPr>
          <p:cNvPr id="3" name="Content Placeholder 2">
            <a:extLst>
              <a:ext uri="{FF2B5EF4-FFF2-40B4-BE49-F238E27FC236}">
                <a16:creationId xmlns:a16="http://schemas.microsoft.com/office/drawing/2014/main" id="{3EECAADE-8CD4-4088-BB02-D492EDFD8CCF}"/>
              </a:ext>
            </a:extLst>
          </p:cNvPr>
          <p:cNvSpPr>
            <a:spLocks noGrp="1"/>
          </p:cNvSpPr>
          <p:nvPr>
            <p:ph idx="1"/>
          </p:nvPr>
        </p:nvSpPr>
        <p:spPr/>
        <p:txBody>
          <a:bodyPr>
            <a:normAutofit fontScale="62500" lnSpcReduction="20000"/>
          </a:bodyPr>
          <a:lstStyle/>
          <a:p>
            <a:pPr marL="137160" indent="0">
              <a:buNone/>
            </a:pPr>
            <a:r>
              <a:rPr lang="en-US" dirty="0"/>
              <a:t>k = 0</a:t>
            </a:r>
          </a:p>
          <a:p>
            <a:pPr marL="137160" indent="0">
              <a:buNone/>
            </a:pPr>
            <a:r>
              <a:rPr lang="en-US" dirty="0"/>
              <a:t>dup = []</a:t>
            </a:r>
          </a:p>
          <a:p>
            <a:pPr marL="137160" indent="0">
              <a:buNone/>
            </a:pPr>
            <a:r>
              <a:rPr lang="en-US" dirty="0"/>
              <a:t>for </a:t>
            </a:r>
            <a:r>
              <a:rPr lang="en-US" dirty="0" err="1"/>
              <a:t>i</a:t>
            </a:r>
            <a:r>
              <a:rPr lang="en-US" dirty="0"/>
              <a:t> in range(length):</a:t>
            </a:r>
          </a:p>
          <a:p>
            <a:pPr marL="137160" indent="0">
              <a:buNone/>
            </a:pPr>
            <a:r>
              <a:rPr lang="en-US" dirty="0"/>
              <a:t>    if list1[</a:t>
            </a:r>
            <a:r>
              <a:rPr lang="en-US" dirty="0" err="1"/>
              <a:t>i</a:t>
            </a:r>
            <a:r>
              <a:rPr lang="en-US" dirty="0"/>
              <a:t>] == c :</a:t>
            </a:r>
          </a:p>
          <a:p>
            <a:pPr marL="137160" indent="0">
              <a:buNone/>
            </a:pPr>
            <a:r>
              <a:rPr lang="en-US" dirty="0"/>
              <a:t>        k = k + 1</a:t>
            </a:r>
          </a:p>
          <a:p>
            <a:pPr marL="137160" indent="0">
              <a:buNone/>
            </a:pPr>
            <a:r>
              <a:rPr lang="en-US" dirty="0"/>
              <a:t>        </a:t>
            </a:r>
            <a:r>
              <a:rPr lang="en-US" dirty="0" err="1"/>
              <a:t>dup.append</a:t>
            </a:r>
            <a:r>
              <a:rPr lang="en-US" dirty="0"/>
              <a:t>(</a:t>
            </a:r>
            <a:r>
              <a:rPr lang="en-US" dirty="0" err="1"/>
              <a:t>i</a:t>
            </a:r>
            <a:r>
              <a:rPr lang="en-US" dirty="0"/>
              <a:t>)</a:t>
            </a:r>
          </a:p>
          <a:p>
            <a:pPr marL="137160" indent="0">
              <a:buNone/>
            </a:pPr>
            <a:r>
              <a:rPr lang="en-US" dirty="0"/>
              <a:t>     </a:t>
            </a:r>
          </a:p>
          <a:p>
            <a:pPr marL="137160" indent="0">
              <a:buNone/>
            </a:pPr>
            <a:r>
              <a:rPr lang="en-US" dirty="0"/>
              <a:t>if  k == 0:</a:t>
            </a:r>
          </a:p>
          <a:p>
            <a:pPr marL="137160" indent="0">
              <a:buNone/>
            </a:pPr>
            <a:r>
              <a:rPr lang="en-US" dirty="0"/>
              <a:t>    print("The </a:t>
            </a:r>
            <a:r>
              <a:rPr lang="en-US" dirty="0" err="1"/>
              <a:t>numebr</a:t>
            </a:r>
            <a:r>
              <a:rPr lang="en-US" dirty="0"/>
              <a:t> ", c ,"is not found in the list")</a:t>
            </a:r>
          </a:p>
          <a:p>
            <a:pPr marL="137160" indent="0">
              <a:buNone/>
            </a:pPr>
            <a:r>
              <a:rPr lang="en-US" dirty="0" err="1"/>
              <a:t>elif</a:t>
            </a:r>
            <a:r>
              <a:rPr lang="en-US" dirty="0"/>
              <a:t> k==1:    </a:t>
            </a:r>
          </a:p>
          <a:p>
            <a:pPr marL="137160" indent="0">
              <a:buNone/>
            </a:pPr>
            <a:r>
              <a:rPr lang="en-US" dirty="0"/>
              <a:t>    print("The number", c , "is found at only one location which is </a:t>
            </a:r>
            <a:r>
              <a:rPr lang="en-US" dirty="0" err="1"/>
              <a:t>at",dup</a:t>
            </a:r>
            <a:r>
              <a:rPr lang="en-US" dirty="0"/>
              <a:t>)</a:t>
            </a:r>
          </a:p>
          <a:p>
            <a:pPr marL="137160" indent="0">
              <a:buNone/>
            </a:pPr>
            <a:r>
              <a:rPr lang="en-US" dirty="0"/>
              <a:t>else:</a:t>
            </a:r>
          </a:p>
          <a:p>
            <a:pPr marL="137160" indent="0">
              <a:buNone/>
            </a:pPr>
            <a:r>
              <a:rPr lang="en-US" dirty="0"/>
              <a:t>    print("The number", c , "has found", k, "times and in the </a:t>
            </a:r>
            <a:r>
              <a:rPr lang="en-US" dirty="0" err="1"/>
              <a:t>follwoing</a:t>
            </a:r>
            <a:r>
              <a:rPr lang="en-US" dirty="0"/>
              <a:t> </a:t>
            </a:r>
            <a:r>
              <a:rPr lang="en-US" dirty="0" err="1"/>
              <a:t>locations",dup</a:t>
            </a:r>
            <a:r>
              <a:rPr lang="en-US" dirty="0"/>
              <a:t>)</a:t>
            </a:r>
          </a:p>
          <a:p>
            <a:pPr marL="137160" indent="0">
              <a:buNone/>
            </a:pPr>
            <a:r>
              <a:rPr lang="en-US" dirty="0"/>
              <a:t>    </a:t>
            </a:r>
          </a:p>
          <a:p>
            <a:pPr marL="137160" indent="0">
              <a:buNone/>
            </a:pPr>
            <a:endParaRPr lang="en-US" dirty="0"/>
          </a:p>
          <a:p>
            <a:pPr marL="137160" indent="0">
              <a:buNone/>
            </a:pPr>
            <a:endParaRPr lang="en-IN" dirty="0"/>
          </a:p>
        </p:txBody>
      </p:sp>
    </p:spTree>
    <p:extLst>
      <p:ext uri="{BB962C8B-B14F-4D97-AF65-F5344CB8AC3E}">
        <p14:creationId xmlns:p14="http://schemas.microsoft.com/office/powerpoint/2010/main" val="20592177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E2998-A641-42A4-BD7B-2DFC6BA117B3}"/>
              </a:ext>
            </a:extLst>
          </p:cNvPr>
          <p:cNvSpPr>
            <a:spLocks noGrp="1"/>
          </p:cNvSpPr>
          <p:nvPr>
            <p:ph type="title"/>
          </p:nvPr>
        </p:nvSpPr>
        <p:spPr/>
        <p:txBody>
          <a:bodyPr/>
          <a:lstStyle/>
          <a:p>
            <a:r>
              <a:rPr lang="en-US" dirty="0"/>
              <a:t>Dictionary</a:t>
            </a:r>
            <a:endParaRPr lang="en-IN" dirty="0"/>
          </a:p>
        </p:txBody>
      </p:sp>
      <p:sp>
        <p:nvSpPr>
          <p:cNvPr id="3" name="Content Placeholder 2">
            <a:extLst>
              <a:ext uri="{FF2B5EF4-FFF2-40B4-BE49-F238E27FC236}">
                <a16:creationId xmlns:a16="http://schemas.microsoft.com/office/drawing/2014/main" id="{89C92CC3-2F0B-456E-A9B8-FB65A0682DF7}"/>
              </a:ext>
            </a:extLst>
          </p:cNvPr>
          <p:cNvSpPr>
            <a:spLocks noGrp="1"/>
          </p:cNvSpPr>
          <p:nvPr>
            <p:ph idx="1"/>
          </p:nvPr>
        </p:nvSpPr>
        <p:spPr/>
        <p:txBody>
          <a:bodyPr>
            <a:normAutofit/>
          </a:bodyPr>
          <a:lstStyle/>
          <a:p>
            <a:r>
              <a:rPr lang="en-IN" dirty="0"/>
              <a:t>Also known as Mapping in Python</a:t>
            </a:r>
          </a:p>
          <a:p>
            <a:r>
              <a:rPr lang="en-US" dirty="0"/>
              <a:t>Dictionary is  a non-homogeneous data structure which stores key value pairs</a:t>
            </a:r>
          </a:p>
          <a:p>
            <a:r>
              <a:rPr lang="en-US" dirty="0"/>
              <a:t>It allows you to store and retrieve elements by referencing a key</a:t>
            </a:r>
          </a:p>
          <a:p>
            <a:r>
              <a:rPr lang="en-US" dirty="0"/>
              <a:t>Dictionary  can be represented by { }</a:t>
            </a:r>
          </a:p>
          <a:p>
            <a:r>
              <a:rPr lang="en-US" dirty="0"/>
              <a:t>Dictionary is mutable. But Keys are not duplicated.</a:t>
            </a:r>
          </a:p>
          <a:p>
            <a:pPr fontAlgn="base"/>
            <a:r>
              <a:rPr lang="en-US" dirty="0"/>
              <a:t>Creating an empty dictionary</a:t>
            </a:r>
          </a:p>
          <a:p>
            <a:pPr marL="137160" indent="0" fontAlgn="base">
              <a:buNone/>
            </a:pPr>
            <a:r>
              <a:rPr lang="en-US" dirty="0"/>
              <a:t>	d={}</a:t>
            </a:r>
          </a:p>
          <a:p>
            <a:endParaRPr lang="en-IN" dirty="0"/>
          </a:p>
        </p:txBody>
      </p:sp>
    </p:spTree>
    <p:extLst>
      <p:ext uri="{BB962C8B-B14F-4D97-AF65-F5344CB8AC3E}">
        <p14:creationId xmlns:p14="http://schemas.microsoft.com/office/powerpoint/2010/main" val="72073597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E2998-A641-42A4-BD7B-2DFC6BA117B3}"/>
              </a:ext>
            </a:extLst>
          </p:cNvPr>
          <p:cNvSpPr>
            <a:spLocks noGrp="1"/>
          </p:cNvSpPr>
          <p:nvPr>
            <p:ph type="title"/>
          </p:nvPr>
        </p:nvSpPr>
        <p:spPr/>
        <p:txBody>
          <a:bodyPr/>
          <a:lstStyle/>
          <a:p>
            <a:r>
              <a:rPr lang="en-US" dirty="0"/>
              <a:t>Creating Dictionary</a:t>
            </a:r>
            <a:endParaRPr lang="en-IN" dirty="0"/>
          </a:p>
        </p:txBody>
      </p:sp>
      <p:sp>
        <p:nvSpPr>
          <p:cNvPr id="3" name="Content Placeholder 2">
            <a:extLst>
              <a:ext uri="{FF2B5EF4-FFF2-40B4-BE49-F238E27FC236}">
                <a16:creationId xmlns:a16="http://schemas.microsoft.com/office/drawing/2014/main" id="{89C92CC3-2F0B-456E-A9B8-FB65A0682DF7}"/>
              </a:ext>
            </a:extLst>
          </p:cNvPr>
          <p:cNvSpPr>
            <a:spLocks noGrp="1"/>
          </p:cNvSpPr>
          <p:nvPr>
            <p:ph idx="1"/>
          </p:nvPr>
        </p:nvSpPr>
        <p:spPr/>
        <p:txBody>
          <a:bodyPr>
            <a:normAutofit/>
          </a:bodyPr>
          <a:lstStyle/>
          <a:p>
            <a:pPr marL="137160" indent="0">
              <a:buNone/>
            </a:pPr>
            <a:r>
              <a:rPr lang="en-US" dirty="0"/>
              <a:t>d = { }</a:t>
            </a:r>
          </a:p>
          <a:p>
            <a:pPr marL="137160" indent="0">
              <a:buNone/>
            </a:pPr>
            <a:r>
              <a:rPr lang="en-US" dirty="0"/>
              <a:t>d = {‘key’ : ‘value’}</a:t>
            </a:r>
          </a:p>
          <a:p>
            <a:pPr marL="137160" indent="0">
              <a:buNone/>
            </a:pPr>
            <a:r>
              <a:rPr lang="en-IN" dirty="0"/>
              <a:t>d = {'a': 1, 'b': 2, 'c’:3}</a:t>
            </a:r>
          </a:p>
          <a:p>
            <a:pPr marL="137160" indent="0">
              <a:buNone/>
            </a:pPr>
            <a:r>
              <a:rPr lang="en-IN" dirty="0"/>
              <a:t>print(d)</a:t>
            </a:r>
          </a:p>
          <a:p>
            <a:pPr marL="137160" indent="0">
              <a:buNone/>
            </a:pPr>
            <a:r>
              <a:rPr lang="en-US" dirty="0"/>
              <a:t>====================</a:t>
            </a:r>
          </a:p>
          <a:p>
            <a:pPr marL="137160" indent="0">
              <a:buNone/>
            </a:pPr>
            <a:r>
              <a:rPr lang="en-US" dirty="0"/>
              <a:t>K = {}</a:t>
            </a:r>
          </a:p>
          <a:p>
            <a:pPr marL="137160" indent="0">
              <a:buNone/>
            </a:pPr>
            <a:r>
              <a:rPr lang="en-US" dirty="0"/>
              <a:t>K[‘First’] = 1</a:t>
            </a:r>
          </a:p>
          <a:p>
            <a:pPr marL="137160" indent="0">
              <a:buNone/>
            </a:pPr>
            <a:r>
              <a:rPr lang="en-US" dirty="0"/>
              <a:t>K [‘Second’] = 2</a:t>
            </a:r>
          </a:p>
          <a:p>
            <a:pPr marL="137160" indent="0">
              <a:buNone/>
            </a:pPr>
            <a:r>
              <a:rPr lang="en-US" dirty="0"/>
              <a:t>print(k)</a:t>
            </a:r>
          </a:p>
          <a:p>
            <a:pPr marL="137160" indent="0">
              <a:buNone/>
            </a:pPr>
            <a:endParaRPr lang="en-IN" dirty="0"/>
          </a:p>
          <a:p>
            <a:pPr marL="137160" indent="0">
              <a:buNone/>
            </a:pPr>
            <a:endParaRPr lang="en-US" dirty="0"/>
          </a:p>
          <a:p>
            <a:pPr marL="137160" indent="0">
              <a:buNone/>
            </a:pPr>
            <a:endParaRPr lang="en-IN" dirty="0"/>
          </a:p>
        </p:txBody>
      </p:sp>
    </p:spTree>
    <p:extLst>
      <p:ext uri="{BB962C8B-B14F-4D97-AF65-F5344CB8AC3E}">
        <p14:creationId xmlns:p14="http://schemas.microsoft.com/office/powerpoint/2010/main" val="81240038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E2998-A641-42A4-BD7B-2DFC6BA117B3}"/>
              </a:ext>
            </a:extLst>
          </p:cNvPr>
          <p:cNvSpPr>
            <a:spLocks noGrp="1"/>
          </p:cNvSpPr>
          <p:nvPr>
            <p:ph type="title"/>
          </p:nvPr>
        </p:nvSpPr>
        <p:spPr/>
        <p:txBody>
          <a:bodyPr/>
          <a:lstStyle/>
          <a:p>
            <a:r>
              <a:rPr lang="en-IN" dirty="0"/>
              <a:t>Accessing keys and values </a:t>
            </a:r>
          </a:p>
        </p:txBody>
      </p:sp>
      <p:sp>
        <p:nvSpPr>
          <p:cNvPr id="3" name="Content Placeholder 2">
            <a:extLst>
              <a:ext uri="{FF2B5EF4-FFF2-40B4-BE49-F238E27FC236}">
                <a16:creationId xmlns:a16="http://schemas.microsoft.com/office/drawing/2014/main" id="{89C92CC3-2F0B-456E-A9B8-FB65A0682DF7}"/>
              </a:ext>
            </a:extLst>
          </p:cNvPr>
          <p:cNvSpPr>
            <a:spLocks noGrp="1"/>
          </p:cNvSpPr>
          <p:nvPr>
            <p:ph idx="1"/>
          </p:nvPr>
        </p:nvSpPr>
        <p:spPr/>
        <p:txBody>
          <a:bodyPr/>
          <a:lstStyle/>
          <a:p>
            <a:pPr marL="137160" indent="0">
              <a:buNone/>
            </a:pPr>
            <a:endParaRPr lang="en-US" dirty="0"/>
          </a:p>
          <a:p>
            <a:pPr marL="137160" indent="0">
              <a:buNone/>
            </a:pPr>
            <a:r>
              <a:rPr lang="en-US" dirty="0"/>
              <a:t>d = { ‘One’ : 1,’ Two’: 2, ‘Three’: 3}</a:t>
            </a:r>
          </a:p>
          <a:p>
            <a:pPr marL="137160" indent="0">
              <a:buNone/>
            </a:pPr>
            <a:r>
              <a:rPr lang="en-IN" dirty="0"/>
              <a:t>print(</a:t>
            </a:r>
            <a:r>
              <a:rPr lang="en-IN" dirty="0" err="1"/>
              <a:t>d.keys</a:t>
            </a:r>
            <a:r>
              <a:rPr lang="en-IN" dirty="0"/>
              <a:t>())</a:t>
            </a:r>
          </a:p>
          <a:p>
            <a:pPr marL="137160" indent="0">
              <a:buNone/>
            </a:pPr>
            <a:r>
              <a:rPr lang="en-US" dirty="0"/>
              <a:t>p</a:t>
            </a:r>
            <a:r>
              <a:rPr lang="en-IN" dirty="0" err="1"/>
              <a:t>rint</a:t>
            </a:r>
            <a:r>
              <a:rPr lang="en-IN" dirty="0"/>
              <a:t>(</a:t>
            </a:r>
            <a:r>
              <a:rPr lang="en-IN" dirty="0" err="1"/>
              <a:t>d.values</a:t>
            </a:r>
            <a:r>
              <a:rPr lang="en-IN" dirty="0"/>
              <a:t>())</a:t>
            </a:r>
          </a:p>
        </p:txBody>
      </p:sp>
    </p:spTree>
    <p:extLst>
      <p:ext uri="{BB962C8B-B14F-4D97-AF65-F5344CB8AC3E}">
        <p14:creationId xmlns:p14="http://schemas.microsoft.com/office/powerpoint/2010/main" val="21333639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E2998-A641-42A4-BD7B-2DFC6BA117B3}"/>
              </a:ext>
            </a:extLst>
          </p:cNvPr>
          <p:cNvSpPr>
            <a:spLocks noGrp="1"/>
          </p:cNvSpPr>
          <p:nvPr>
            <p:ph type="title"/>
          </p:nvPr>
        </p:nvSpPr>
        <p:spPr/>
        <p:txBody>
          <a:bodyPr>
            <a:normAutofit/>
          </a:bodyPr>
          <a:lstStyle/>
          <a:p>
            <a:r>
              <a:rPr lang="en-US" dirty="0"/>
              <a:t>Accessing values of a dictionary</a:t>
            </a:r>
            <a:endParaRPr lang="en-IN" dirty="0"/>
          </a:p>
        </p:txBody>
      </p:sp>
      <p:sp>
        <p:nvSpPr>
          <p:cNvPr id="3" name="Content Placeholder 2">
            <a:extLst>
              <a:ext uri="{FF2B5EF4-FFF2-40B4-BE49-F238E27FC236}">
                <a16:creationId xmlns:a16="http://schemas.microsoft.com/office/drawing/2014/main" id="{89C92CC3-2F0B-456E-A9B8-FB65A0682DF7}"/>
              </a:ext>
            </a:extLst>
          </p:cNvPr>
          <p:cNvSpPr>
            <a:spLocks noGrp="1"/>
          </p:cNvSpPr>
          <p:nvPr>
            <p:ph idx="1"/>
          </p:nvPr>
        </p:nvSpPr>
        <p:spPr/>
        <p:txBody>
          <a:bodyPr/>
          <a:lstStyle/>
          <a:p>
            <a:pPr marL="137160" indent="0">
              <a:buNone/>
            </a:pPr>
            <a:endParaRPr lang="en-US" dirty="0"/>
          </a:p>
          <a:p>
            <a:pPr marL="137160" indent="0">
              <a:buNone/>
            </a:pPr>
            <a:r>
              <a:rPr lang="en-US" dirty="0"/>
              <a:t>d = { ‘One’ : 1,’ Two’: 2, ‘Three’: 3}</a:t>
            </a:r>
          </a:p>
          <a:p>
            <a:pPr marL="137160" indent="0">
              <a:buNone/>
            </a:pPr>
            <a:r>
              <a:rPr lang="en-IN" dirty="0"/>
              <a:t>print(d[‘One’])</a:t>
            </a:r>
          </a:p>
        </p:txBody>
      </p:sp>
    </p:spTree>
    <p:extLst>
      <p:ext uri="{BB962C8B-B14F-4D97-AF65-F5344CB8AC3E}">
        <p14:creationId xmlns:p14="http://schemas.microsoft.com/office/powerpoint/2010/main" val="10123441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4B974-AB97-43A9-B9EC-2A9D27C61664}"/>
              </a:ext>
            </a:extLst>
          </p:cNvPr>
          <p:cNvSpPr>
            <a:spLocks noGrp="1"/>
          </p:cNvSpPr>
          <p:nvPr>
            <p:ph type="title"/>
          </p:nvPr>
        </p:nvSpPr>
        <p:spPr/>
        <p:txBody>
          <a:bodyPr/>
          <a:lstStyle/>
          <a:p>
            <a:r>
              <a:rPr lang="en-IN" dirty="0"/>
              <a:t>Iterating Over a Dictionary</a:t>
            </a:r>
          </a:p>
        </p:txBody>
      </p:sp>
      <p:sp>
        <p:nvSpPr>
          <p:cNvPr id="3" name="Content Placeholder 2">
            <a:extLst>
              <a:ext uri="{FF2B5EF4-FFF2-40B4-BE49-F238E27FC236}">
                <a16:creationId xmlns:a16="http://schemas.microsoft.com/office/drawing/2014/main" id="{F0C31438-656F-40A0-99B9-D002AFC3F07D}"/>
              </a:ext>
            </a:extLst>
          </p:cNvPr>
          <p:cNvSpPr>
            <a:spLocks noGrp="1"/>
          </p:cNvSpPr>
          <p:nvPr>
            <p:ph idx="1"/>
          </p:nvPr>
        </p:nvSpPr>
        <p:spPr/>
        <p:txBody>
          <a:bodyPr/>
          <a:lstStyle/>
          <a:p>
            <a:pPr marL="137160" indent="0">
              <a:buNone/>
            </a:pPr>
            <a:r>
              <a:rPr lang="en-US" dirty="0"/>
              <a:t>d = {'a': 1, 'b': 2, 'c’:3}</a:t>
            </a:r>
          </a:p>
          <a:p>
            <a:pPr marL="137160" indent="0">
              <a:buNone/>
            </a:pPr>
            <a:r>
              <a:rPr lang="en-US" dirty="0"/>
              <a:t> for key in d: </a:t>
            </a:r>
          </a:p>
          <a:p>
            <a:pPr marL="137160" indent="0">
              <a:buNone/>
            </a:pPr>
            <a:r>
              <a:rPr lang="en-US" dirty="0"/>
              <a:t>	print(key, d[key]) </a:t>
            </a:r>
            <a:endParaRPr lang="en-IN" dirty="0"/>
          </a:p>
        </p:txBody>
      </p:sp>
    </p:spTree>
    <p:extLst>
      <p:ext uri="{BB962C8B-B14F-4D97-AF65-F5344CB8AC3E}">
        <p14:creationId xmlns:p14="http://schemas.microsoft.com/office/powerpoint/2010/main" val="403382738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D4CF9-2FF7-4A87-BB75-704FF0233E6C}"/>
              </a:ext>
            </a:extLst>
          </p:cNvPr>
          <p:cNvSpPr>
            <a:spLocks noGrp="1"/>
          </p:cNvSpPr>
          <p:nvPr>
            <p:ph type="title"/>
          </p:nvPr>
        </p:nvSpPr>
        <p:spPr/>
        <p:txBody>
          <a:bodyPr>
            <a:normAutofit/>
          </a:bodyPr>
          <a:lstStyle/>
          <a:p>
            <a:r>
              <a:rPr lang="en-US" dirty="0"/>
              <a:t>Deleting items – using pop</a:t>
            </a:r>
            <a:endParaRPr lang="en-IN" dirty="0"/>
          </a:p>
        </p:txBody>
      </p:sp>
      <p:sp>
        <p:nvSpPr>
          <p:cNvPr id="3" name="Content Placeholder 2">
            <a:extLst>
              <a:ext uri="{FF2B5EF4-FFF2-40B4-BE49-F238E27FC236}">
                <a16:creationId xmlns:a16="http://schemas.microsoft.com/office/drawing/2014/main" id="{9013024A-0CDD-44B3-A4F9-FBB98D96E316}"/>
              </a:ext>
            </a:extLst>
          </p:cNvPr>
          <p:cNvSpPr>
            <a:spLocks noGrp="1"/>
          </p:cNvSpPr>
          <p:nvPr>
            <p:ph idx="1"/>
          </p:nvPr>
        </p:nvSpPr>
        <p:spPr/>
        <p:txBody>
          <a:bodyPr/>
          <a:lstStyle/>
          <a:p>
            <a:r>
              <a:rPr lang="en-US" dirty="0"/>
              <a:t>d = {'a': 1, 'b': 2, 'c’:3}</a:t>
            </a:r>
          </a:p>
          <a:p>
            <a:endParaRPr lang="en-US" dirty="0"/>
          </a:p>
          <a:p>
            <a:r>
              <a:rPr lang="en-US" dirty="0"/>
              <a:t>d</a:t>
            </a:r>
            <a:r>
              <a:rPr lang="en-IN" dirty="0"/>
              <a:t>.</a:t>
            </a:r>
            <a:r>
              <a:rPr lang="en-IN" dirty="0" err="1"/>
              <a:t>popitem</a:t>
            </a:r>
            <a:r>
              <a:rPr lang="en-IN" dirty="0"/>
              <a:t>( ) # to remove the last item</a:t>
            </a:r>
          </a:p>
          <a:p>
            <a:r>
              <a:rPr lang="en-US" dirty="0"/>
              <a:t>d</a:t>
            </a:r>
            <a:r>
              <a:rPr lang="en-IN" dirty="0"/>
              <a:t>.pop(‘a’) </a:t>
            </a:r>
          </a:p>
          <a:p>
            <a:endParaRPr lang="en-US" dirty="0"/>
          </a:p>
          <a:p>
            <a:r>
              <a:rPr lang="en-US" dirty="0"/>
              <a:t>#</a:t>
            </a:r>
            <a:r>
              <a:rPr lang="en-IN" dirty="0"/>
              <a:t>where d is  a dictionary name</a:t>
            </a:r>
          </a:p>
        </p:txBody>
      </p:sp>
    </p:spTree>
    <p:extLst>
      <p:ext uri="{BB962C8B-B14F-4D97-AF65-F5344CB8AC3E}">
        <p14:creationId xmlns:p14="http://schemas.microsoft.com/office/powerpoint/2010/main" val="255195533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D4CF9-2FF7-4A87-BB75-704FF0233E6C}"/>
              </a:ext>
            </a:extLst>
          </p:cNvPr>
          <p:cNvSpPr>
            <a:spLocks noGrp="1"/>
          </p:cNvSpPr>
          <p:nvPr>
            <p:ph type="title"/>
          </p:nvPr>
        </p:nvSpPr>
        <p:spPr/>
        <p:txBody>
          <a:bodyPr>
            <a:normAutofit/>
          </a:bodyPr>
          <a:lstStyle/>
          <a:p>
            <a:r>
              <a:rPr lang="en-US" dirty="0"/>
              <a:t>Deleting items – using del</a:t>
            </a:r>
            <a:endParaRPr lang="en-IN" dirty="0"/>
          </a:p>
        </p:txBody>
      </p:sp>
      <p:sp>
        <p:nvSpPr>
          <p:cNvPr id="3" name="Content Placeholder 2">
            <a:extLst>
              <a:ext uri="{FF2B5EF4-FFF2-40B4-BE49-F238E27FC236}">
                <a16:creationId xmlns:a16="http://schemas.microsoft.com/office/drawing/2014/main" id="{9013024A-0CDD-44B3-A4F9-FBB98D96E316}"/>
              </a:ext>
            </a:extLst>
          </p:cNvPr>
          <p:cNvSpPr>
            <a:spLocks noGrp="1"/>
          </p:cNvSpPr>
          <p:nvPr>
            <p:ph idx="1"/>
          </p:nvPr>
        </p:nvSpPr>
        <p:spPr/>
        <p:txBody>
          <a:bodyPr>
            <a:normAutofit/>
          </a:bodyPr>
          <a:lstStyle/>
          <a:p>
            <a:pPr marL="585216" lvl="1" indent="0">
              <a:buNone/>
            </a:pPr>
            <a:endParaRPr lang="en-US" dirty="0"/>
          </a:p>
          <a:p>
            <a:pPr marL="585216" lvl="1" indent="0">
              <a:buNone/>
            </a:pPr>
            <a:r>
              <a:rPr lang="en-IN" dirty="0"/>
              <a:t># to remove the item for the key value ‘a’</a:t>
            </a:r>
          </a:p>
          <a:p>
            <a:pPr marL="585216" lvl="1" indent="0">
              <a:buNone/>
            </a:pPr>
            <a:r>
              <a:rPr lang="en-US" dirty="0"/>
              <a:t>del a[‘a’] </a:t>
            </a:r>
          </a:p>
          <a:p>
            <a:pPr marL="585216" lvl="1" indent="0">
              <a:buNone/>
            </a:pPr>
            <a:r>
              <a:rPr lang="en-US" dirty="0"/>
              <a:t>del a </a:t>
            </a:r>
            <a:endParaRPr lang="en-IN" dirty="0"/>
          </a:p>
          <a:p>
            <a:pPr marL="585216" lvl="1" indent="0">
              <a:buNone/>
            </a:pPr>
            <a:endParaRPr lang="en-US" dirty="0"/>
          </a:p>
          <a:p>
            <a:pPr marL="585216" lvl="1" indent="0">
              <a:buNone/>
            </a:pPr>
            <a:r>
              <a:rPr lang="en-US" dirty="0"/>
              <a:t># where a is dictionary name</a:t>
            </a:r>
          </a:p>
        </p:txBody>
      </p:sp>
    </p:spTree>
    <p:extLst>
      <p:ext uri="{BB962C8B-B14F-4D97-AF65-F5344CB8AC3E}">
        <p14:creationId xmlns:p14="http://schemas.microsoft.com/office/powerpoint/2010/main" val="298192412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D4CF9-2FF7-4A87-BB75-704FF0233E6C}"/>
              </a:ext>
            </a:extLst>
          </p:cNvPr>
          <p:cNvSpPr>
            <a:spLocks noGrp="1"/>
          </p:cNvSpPr>
          <p:nvPr>
            <p:ph type="title"/>
          </p:nvPr>
        </p:nvSpPr>
        <p:spPr/>
        <p:txBody>
          <a:bodyPr>
            <a:normAutofit/>
          </a:bodyPr>
          <a:lstStyle/>
          <a:p>
            <a:r>
              <a:rPr lang="en-US" dirty="0"/>
              <a:t>Deleting items – using clear()</a:t>
            </a:r>
            <a:endParaRPr lang="en-IN" dirty="0"/>
          </a:p>
        </p:txBody>
      </p:sp>
      <p:sp>
        <p:nvSpPr>
          <p:cNvPr id="3" name="Content Placeholder 2">
            <a:extLst>
              <a:ext uri="{FF2B5EF4-FFF2-40B4-BE49-F238E27FC236}">
                <a16:creationId xmlns:a16="http://schemas.microsoft.com/office/drawing/2014/main" id="{9013024A-0CDD-44B3-A4F9-FBB98D96E316}"/>
              </a:ext>
            </a:extLst>
          </p:cNvPr>
          <p:cNvSpPr>
            <a:spLocks noGrp="1"/>
          </p:cNvSpPr>
          <p:nvPr>
            <p:ph idx="1"/>
          </p:nvPr>
        </p:nvSpPr>
        <p:spPr/>
        <p:txBody>
          <a:bodyPr>
            <a:normAutofit/>
          </a:bodyPr>
          <a:lstStyle/>
          <a:p>
            <a:pPr marL="585216" lvl="1" indent="0">
              <a:buNone/>
            </a:pPr>
            <a:r>
              <a:rPr lang="en-US" dirty="0"/>
              <a:t> </a:t>
            </a:r>
          </a:p>
          <a:p>
            <a:pPr marL="585216" lvl="1" indent="0">
              <a:buNone/>
            </a:pPr>
            <a:r>
              <a:rPr lang="en-US" dirty="0" err="1"/>
              <a:t>d.clear</a:t>
            </a:r>
            <a:r>
              <a:rPr lang="en-US" dirty="0"/>
              <a:t>()</a:t>
            </a:r>
          </a:p>
          <a:p>
            <a:pPr marL="585216" lvl="1" indent="0">
              <a:buNone/>
            </a:pPr>
            <a:r>
              <a:rPr lang="en-US" dirty="0"/>
              <a:t>#where d is dictionary name</a:t>
            </a:r>
          </a:p>
        </p:txBody>
      </p:sp>
    </p:spTree>
    <p:extLst>
      <p:ext uri="{BB962C8B-B14F-4D97-AF65-F5344CB8AC3E}">
        <p14:creationId xmlns:p14="http://schemas.microsoft.com/office/powerpoint/2010/main" val="308082661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4687B-ADBE-4434-83F0-A679DAD343DC}"/>
              </a:ext>
            </a:extLst>
          </p:cNvPr>
          <p:cNvSpPr>
            <a:spLocks noGrp="1"/>
          </p:cNvSpPr>
          <p:nvPr>
            <p:ph type="title"/>
          </p:nvPr>
        </p:nvSpPr>
        <p:spPr>
          <a:xfrm>
            <a:off x="0" y="274638"/>
            <a:ext cx="8686800" cy="1210146"/>
          </a:xfrm>
        </p:spPr>
        <p:txBody>
          <a:bodyPr>
            <a:normAutofit fontScale="90000"/>
          </a:bodyPr>
          <a:lstStyle/>
          <a:p>
            <a:r>
              <a:rPr lang="en-US" dirty="0"/>
              <a:t>Dictionary creation using iteration</a:t>
            </a:r>
            <a:endParaRPr lang="en-IN" dirty="0"/>
          </a:p>
        </p:txBody>
      </p:sp>
      <p:sp>
        <p:nvSpPr>
          <p:cNvPr id="3" name="Content Placeholder 2">
            <a:extLst>
              <a:ext uri="{FF2B5EF4-FFF2-40B4-BE49-F238E27FC236}">
                <a16:creationId xmlns:a16="http://schemas.microsoft.com/office/drawing/2014/main" id="{1CE68A3C-526D-4627-9549-DDCCB6BD0E84}"/>
              </a:ext>
            </a:extLst>
          </p:cNvPr>
          <p:cNvSpPr>
            <a:spLocks noGrp="1"/>
          </p:cNvSpPr>
          <p:nvPr>
            <p:ph idx="1"/>
          </p:nvPr>
        </p:nvSpPr>
        <p:spPr/>
        <p:txBody>
          <a:bodyPr>
            <a:normAutofit/>
          </a:bodyPr>
          <a:lstStyle/>
          <a:p>
            <a:pPr marL="137160" indent="0">
              <a:buNone/>
            </a:pPr>
            <a:r>
              <a:rPr lang="en-US" dirty="0"/>
              <a:t>#dictionary</a:t>
            </a:r>
          </a:p>
          <a:p>
            <a:pPr marL="137160" indent="0">
              <a:buNone/>
            </a:pPr>
            <a:endParaRPr lang="en-US" dirty="0"/>
          </a:p>
          <a:p>
            <a:pPr marL="137160" indent="0">
              <a:buNone/>
            </a:pPr>
            <a:r>
              <a:rPr lang="en-US" dirty="0"/>
              <a:t>d = {}</a:t>
            </a:r>
          </a:p>
          <a:p>
            <a:pPr marL="137160" indent="0">
              <a:buNone/>
            </a:pPr>
            <a:r>
              <a:rPr lang="en-US" dirty="0"/>
              <a:t>n = int(input("How many items you want to add"))</a:t>
            </a:r>
          </a:p>
          <a:p>
            <a:pPr marL="137160" indent="0">
              <a:buNone/>
            </a:pPr>
            <a:r>
              <a:rPr lang="en-US" dirty="0"/>
              <a:t>for </a:t>
            </a:r>
            <a:r>
              <a:rPr lang="en-US" dirty="0" err="1"/>
              <a:t>i</a:t>
            </a:r>
            <a:r>
              <a:rPr lang="en-US" dirty="0"/>
              <a:t> in range(n):</a:t>
            </a:r>
          </a:p>
          <a:p>
            <a:pPr marL="137160" indent="0">
              <a:buNone/>
            </a:pPr>
            <a:r>
              <a:rPr lang="en-US" dirty="0"/>
              <a:t>    v = input("please enter the key")</a:t>
            </a:r>
          </a:p>
          <a:p>
            <a:pPr marL="137160" indent="0">
              <a:buNone/>
            </a:pPr>
            <a:r>
              <a:rPr lang="en-US" dirty="0"/>
              <a:t>    d[v]= int(input("Please the value"))</a:t>
            </a:r>
          </a:p>
          <a:p>
            <a:pPr marL="137160" indent="0">
              <a:buNone/>
            </a:pPr>
            <a:r>
              <a:rPr lang="en-US" dirty="0"/>
              <a:t>   </a:t>
            </a:r>
          </a:p>
          <a:p>
            <a:pPr marL="137160" indent="0">
              <a:buNone/>
            </a:pPr>
            <a:r>
              <a:rPr lang="en-US" dirty="0"/>
              <a:t>print(d)</a:t>
            </a:r>
          </a:p>
          <a:p>
            <a:pPr marL="137160" indent="0">
              <a:buNone/>
            </a:pPr>
            <a:endParaRPr lang="en-IN" dirty="0"/>
          </a:p>
        </p:txBody>
      </p:sp>
    </p:spTree>
    <p:extLst>
      <p:ext uri="{BB962C8B-B14F-4D97-AF65-F5344CB8AC3E}">
        <p14:creationId xmlns:p14="http://schemas.microsoft.com/office/powerpoint/2010/main" val="36784913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778BC-3CE1-4323-BF36-5D444551410C}"/>
              </a:ext>
            </a:extLst>
          </p:cNvPr>
          <p:cNvSpPr>
            <a:spLocks noGrp="1"/>
          </p:cNvSpPr>
          <p:nvPr>
            <p:ph type="title"/>
          </p:nvPr>
        </p:nvSpPr>
        <p:spPr/>
        <p:txBody>
          <a:bodyPr/>
          <a:lstStyle/>
          <a:p>
            <a:r>
              <a:rPr lang="en-US" dirty="0"/>
              <a:t>Classes and Objects</a:t>
            </a:r>
            <a:endParaRPr lang="en-IN" dirty="0"/>
          </a:p>
        </p:txBody>
      </p:sp>
      <p:sp>
        <p:nvSpPr>
          <p:cNvPr id="3" name="Content Placeholder 2">
            <a:extLst>
              <a:ext uri="{FF2B5EF4-FFF2-40B4-BE49-F238E27FC236}">
                <a16:creationId xmlns:a16="http://schemas.microsoft.com/office/drawing/2014/main" id="{BD411950-CDE5-4E0F-9A4F-88D5BA27E0D4}"/>
              </a:ext>
            </a:extLst>
          </p:cNvPr>
          <p:cNvSpPr>
            <a:spLocks noGrp="1"/>
          </p:cNvSpPr>
          <p:nvPr>
            <p:ph idx="1"/>
          </p:nvPr>
        </p:nvSpPr>
        <p:spPr/>
        <p:txBody>
          <a:bodyPr/>
          <a:lstStyle/>
          <a:p>
            <a:r>
              <a:rPr lang="en-US" dirty="0"/>
              <a:t>Class – a blueprint for an instance with exact behavior. </a:t>
            </a:r>
          </a:p>
          <a:p>
            <a:r>
              <a:rPr lang="en-US" dirty="0"/>
              <a:t> Object – one of the instances of the class, perform functionality defined in the class</a:t>
            </a:r>
            <a:endParaRPr lang="en-IN" dirty="0"/>
          </a:p>
        </p:txBody>
      </p:sp>
    </p:spTree>
    <p:extLst>
      <p:ext uri="{BB962C8B-B14F-4D97-AF65-F5344CB8AC3E}">
        <p14:creationId xmlns:p14="http://schemas.microsoft.com/office/powerpoint/2010/main" val="190182750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CBA46-6102-4FEA-A0B4-A7DA5756CDC7}"/>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C6BCC730-30E3-498F-88E5-67B84172646F}"/>
              </a:ext>
            </a:extLst>
          </p:cNvPr>
          <p:cNvSpPr>
            <a:spLocks noGrp="1"/>
          </p:cNvSpPr>
          <p:nvPr>
            <p:ph idx="1"/>
          </p:nvPr>
        </p:nvSpPr>
        <p:spPr/>
        <p:txBody>
          <a:bodyPr/>
          <a:lstStyle/>
          <a:p>
            <a:pPr marL="137160" indent="0">
              <a:buNone/>
            </a:pPr>
            <a:r>
              <a:rPr lang="en-IN" dirty="0"/>
              <a:t>class first:</a:t>
            </a:r>
            <a:br>
              <a:rPr lang="en-IN" dirty="0"/>
            </a:br>
            <a:r>
              <a:rPr lang="en-IN" dirty="0"/>
              <a:t>  x = 5</a:t>
            </a:r>
          </a:p>
          <a:p>
            <a:pPr marL="137160" indent="0">
              <a:buNone/>
            </a:pPr>
            <a:endParaRPr lang="en-US" dirty="0"/>
          </a:p>
          <a:p>
            <a:pPr marL="137160" indent="0">
              <a:buNone/>
            </a:pPr>
            <a:endParaRPr lang="en-IN" dirty="0"/>
          </a:p>
          <a:p>
            <a:pPr marL="137160" indent="0">
              <a:buNone/>
            </a:pPr>
            <a:r>
              <a:rPr lang="en-IN" dirty="0"/>
              <a:t>p1 = first()</a:t>
            </a:r>
            <a:br>
              <a:rPr lang="en-IN" dirty="0"/>
            </a:br>
            <a:r>
              <a:rPr lang="en-IN" dirty="0"/>
              <a:t>print(p1.x)</a:t>
            </a:r>
          </a:p>
        </p:txBody>
      </p:sp>
    </p:spTree>
    <p:extLst>
      <p:ext uri="{BB962C8B-B14F-4D97-AF65-F5344CB8AC3E}">
        <p14:creationId xmlns:p14="http://schemas.microsoft.com/office/powerpoint/2010/main" val="390011141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522F8-1A6D-48C6-AD85-A7666CFD1BD7}"/>
              </a:ext>
            </a:extLst>
          </p:cNvPr>
          <p:cNvSpPr>
            <a:spLocks noGrp="1"/>
          </p:cNvSpPr>
          <p:nvPr>
            <p:ph type="title"/>
          </p:nvPr>
        </p:nvSpPr>
        <p:spPr/>
        <p:txBody>
          <a:bodyPr>
            <a:normAutofit/>
          </a:bodyPr>
          <a:lstStyle/>
          <a:p>
            <a:r>
              <a:rPr lang="en-IN" b="0" dirty="0">
                <a:effectLst/>
              </a:rPr>
              <a:t>The __</a:t>
            </a:r>
            <a:r>
              <a:rPr lang="en-IN" b="0" dirty="0" err="1">
                <a:effectLst/>
              </a:rPr>
              <a:t>init</a:t>
            </a:r>
            <a:r>
              <a:rPr lang="en-IN" b="0" dirty="0">
                <a:effectLst/>
              </a:rPr>
              <a:t>__() Function</a:t>
            </a:r>
            <a:br>
              <a:rPr lang="en-IN" b="0" dirty="0">
                <a:effectLst/>
              </a:rPr>
            </a:br>
            <a:r>
              <a:rPr lang="en-IN" b="0" dirty="0">
                <a:effectLst/>
              </a:rPr>
              <a:t>	</a:t>
            </a:r>
            <a:endParaRPr lang="en-IN" dirty="0"/>
          </a:p>
        </p:txBody>
      </p:sp>
      <p:sp>
        <p:nvSpPr>
          <p:cNvPr id="3" name="Content Placeholder 2">
            <a:extLst>
              <a:ext uri="{FF2B5EF4-FFF2-40B4-BE49-F238E27FC236}">
                <a16:creationId xmlns:a16="http://schemas.microsoft.com/office/drawing/2014/main" id="{680A8AC2-D9F5-4C68-9926-9838377E4E67}"/>
              </a:ext>
            </a:extLst>
          </p:cNvPr>
          <p:cNvSpPr>
            <a:spLocks noGrp="1"/>
          </p:cNvSpPr>
          <p:nvPr>
            <p:ph idx="1"/>
          </p:nvPr>
        </p:nvSpPr>
        <p:spPr/>
        <p:txBody>
          <a:bodyPr/>
          <a:lstStyle/>
          <a:p>
            <a:pPr marL="137160" indent="0">
              <a:buNone/>
            </a:pPr>
            <a:r>
              <a:rPr lang="en-US" dirty="0"/>
              <a:t>class Person:</a:t>
            </a:r>
            <a:br>
              <a:rPr lang="en-US" dirty="0"/>
            </a:br>
            <a:r>
              <a:rPr lang="en-US" dirty="0"/>
              <a:t>  def __</a:t>
            </a:r>
            <a:r>
              <a:rPr lang="en-US" dirty="0" err="1"/>
              <a:t>init</a:t>
            </a:r>
            <a:r>
              <a:rPr lang="en-US" dirty="0"/>
              <a:t>__(self, name, age):</a:t>
            </a:r>
            <a:br>
              <a:rPr lang="en-US" dirty="0"/>
            </a:br>
            <a:r>
              <a:rPr lang="en-US" dirty="0"/>
              <a:t>     self.name = name</a:t>
            </a:r>
            <a:br>
              <a:rPr lang="en-US" dirty="0"/>
            </a:br>
            <a:r>
              <a:rPr lang="en-US" dirty="0"/>
              <a:t>     </a:t>
            </a:r>
            <a:r>
              <a:rPr lang="en-US" dirty="0" err="1"/>
              <a:t>self.age</a:t>
            </a:r>
            <a:r>
              <a:rPr lang="en-US" dirty="0"/>
              <a:t> = age</a:t>
            </a:r>
            <a:br>
              <a:rPr lang="en-US" dirty="0"/>
            </a:br>
            <a:br>
              <a:rPr lang="en-US" dirty="0"/>
            </a:br>
            <a:r>
              <a:rPr lang="en-US" dirty="0"/>
              <a:t>p1 = Person("John", 36)</a:t>
            </a:r>
          </a:p>
          <a:p>
            <a:pPr marL="137160" indent="0">
              <a:buNone/>
            </a:pPr>
            <a:r>
              <a:rPr lang="en-US" dirty="0"/>
              <a:t>J = Person(“APU”,30)//</a:t>
            </a:r>
            <a:br>
              <a:rPr lang="en-US" dirty="0"/>
            </a:br>
            <a:br>
              <a:rPr lang="en-US" dirty="0"/>
            </a:br>
            <a:r>
              <a:rPr lang="en-US" dirty="0"/>
              <a:t>print(p1.name)</a:t>
            </a:r>
            <a:br>
              <a:rPr lang="en-US" dirty="0"/>
            </a:br>
            <a:r>
              <a:rPr lang="en-US" dirty="0"/>
              <a:t>print(p1.age)</a:t>
            </a:r>
            <a:endParaRPr lang="en-IN" dirty="0"/>
          </a:p>
        </p:txBody>
      </p:sp>
    </p:spTree>
    <p:extLst>
      <p:ext uri="{BB962C8B-B14F-4D97-AF65-F5344CB8AC3E}">
        <p14:creationId xmlns:p14="http://schemas.microsoft.com/office/powerpoint/2010/main" val="90768002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0F90A-21F6-4FF2-AA48-1E2BB8E692B6}"/>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EA41148D-33E3-4498-86BB-C237194ADFDC}"/>
              </a:ext>
            </a:extLst>
          </p:cNvPr>
          <p:cNvSpPr>
            <a:spLocks noGrp="1"/>
          </p:cNvSpPr>
          <p:nvPr>
            <p:ph idx="1"/>
          </p:nvPr>
        </p:nvSpPr>
        <p:spPr/>
        <p:txBody>
          <a:bodyPr/>
          <a:lstStyle/>
          <a:p>
            <a:pPr marL="137160" indent="0">
              <a:buNone/>
            </a:pPr>
            <a:r>
              <a:rPr lang="en-US" dirty="0">
                <a:solidFill>
                  <a:schemeClr val="accent3">
                    <a:lumMod val="75000"/>
                  </a:schemeClr>
                </a:solidFill>
              </a:rPr>
              <a:t>class</a:t>
            </a:r>
            <a:r>
              <a:rPr lang="en-US" dirty="0"/>
              <a:t> </a:t>
            </a:r>
            <a:r>
              <a:rPr lang="en-US" dirty="0" err="1">
                <a:solidFill>
                  <a:schemeClr val="accent1">
                    <a:lumMod val="60000"/>
                    <a:lumOff val="40000"/>
                  </a:schemeClr>
                </a:solidFill>
              </a:rPr>
              <a:t>MyClass</a:t>
            </a:r>
            <a:r>
              <a:rPr lang="en-US" dirty="0">
                <a:solidFill>
                  <a:schemeClr val="accent1">
                    <a:lumMod val="60000"/>
                    <a:lumOff val="40000"/>
                  </a:schemeClr>
                </a:solidFill>
              </a:rPr>
              <a:t>(</a:t>
            </a:r>
            <a:r>
              <a:rPr lang="en-US" dirty="0"/>
              <a:t>object):</a:t>
            </a:r>
          </a:p>
          <a:p>
            <a:pPr marL="137160" indent="0">
              <a:buNone/>
            </a:pPr>
            <a:r>
              <a:rPr lang="en-US" dirty="0"/>
              <a:t> pass </a:t>
            </a:r>
          </a:p>
          <a:p>
            <a:pPr marL="137160" indent="0">
              <a:buNone/>
            </a:pPr>
            <a:r>
              <a:rPr lang="en-US" dirty="0"/>
              <a:t># Create first instance of </a:t>
            </a:r>
            <a:r>
              <a:rPr lang="en-US" dirty="0" err="1"/>
              <a:t>MyClass</a:t>
            </a:r>
            <a:endParaRPr lang="en-US" dirty="0"/>
          </a:p>
          <a:p>
            <a:pPr marL="137160" indent="0">
              <a:buNone/>
            </a:pPr>
            <a:r>
              <a:rPr lang="en-US" dirty="0"/>
              <a:t> </a:t>
            </a:r>
            <a:r>
              <a:rPr lang="en-US" dirty="0" err="1"/>
              <a:t>this_obj</a:t>
            </a:r>
            <a:r>
              <a:rPr lang="en-US" dirty="0"/>
              <a:t> = </a:t>
            </a:r>
            <a:r>
              <a:rPr lang="en-US" dirty="0" err="1"/>
              <a:t>MyClass</a:t>
            </a:r>
            <a:r>
              <a:rPr lang="en-US" dirty="0"/>
              <a:t>() </a:t>
            </a:r>
          </a:p>
          <a:p>
            <a:pPr marL="137160" indent="0">
              <a:buNone/>
            </a:pPr>
            <a:r>
              <a:rPr lang="en-US" dirty="0"/>
              <a:t>print(</a:t>
            </a:r>
            <a:r>
              <a:rPr lang="en-US" dirty="0" err="1"/>
              <a:t>this_obj</a:t>
            </a:r>
            <a:r>
              <a:rPr lang="en-US" dirty="0"/>
              <a:t>)</a:t>
            </a:r>
          </a:p>
          <a:p>
            <a:pPr marL="137160" indent="0">
              <a:buNone/>
            </a:pPr>
            <a:r>
              <a:rPr lang="en-US" dirty="0"/>
              <a:t> # Another instance of </a:t>
            </a:r>
            <a:r>
              <a:rPr lang="en-US" dirty="0" err="1"/>
              <a:t>MyClass</a:t>
            </a:r>
            <a:r>
              <a:rPr lang="en-US" dirty="0"/>
              <a:t> </a:t>
            </a:r>
          </a:p>
          <a:p>
            <a:pPr marL="137160" indent="0">
              <a:buNone/>
            </a:pPr>
            <a:r>
              <a:rPr lang="en-US" dirty="0" err="1"/>
              <a:t>that_obj</a:t>
            </a:r>
            <a:r>
              <a:rPr lang="en-US" dirty="0"/>
              <a:t> = </a:t>
            </a:r>
            <a:r>
              <a:rPr lang="en-US" dirty="0" err="1"/>
              <a:t>MyClass</a:t>
            </a:r>
            <a:r>
              <a:rPr lang="en-US" dirty="0"/>
              <a:t>() </a:t>
            </a:r>
          </a:p>
          <a:p>
            <a:pPr marL="137160" indent="0">
              <a:buNone/>
            </a:pPr>
            <a:r>
              <a:rPr lang="en-US" dirty="0"/>
              <a:t>print (</a:t>
            </a:r>
            <a:r>
              <a:rPr lang="en-US" dirty="0" err="1"/>
              <a:t>that_obj</a:t>
            </a:r>
            <a:r>
              <a:rPr lang="en-US" dirty="0"/>
              <a:t>) </a:t>
            </a:r>
            <a:endParaRPr lang="en-IN" dirty="0"/>
          </a:p>
        </p:txBody>
      </p:sp>
    </p:spTree>
    <p:extLst>
      <p:ext uri="{BB962C8B-B14F-4D97-AF65-F5344CB8AC3E}">
        <p14:creationId xmlns:p14="http://schemas.microsoft.com/office/powerpoint/2010/main" val="47682152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05F57-7883-4D00-9274-1210C424E0CE}"/>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C0BF056D-66C4-4554-950B-239042B33869}"/>
              </a:ext>
            </a:extLst>
          </p:cNvPr>
          <p:cNvSpPr>
            <a:spLocks noGrp="1"/>
          </p:cNvSpPr>
          <p:nvPr>
            <p:ph idx="1"/>
          </p:nvPr>
        </p:nvSpPr>
        <p:spPr/>
        <p:txBody>
          <a:bodyPr/>
          <a:lstStyle/>
          <a:p>
            <a:pPr marL="137160" indent="0">
              <a:buNone/>
            </a:pPr>
            <a:r>
              <a:rPr lang="en-US" dirty="0"/>
              <a:t>class </a:t>
            </a:r>
            <a:r>
              <a:rPr lang="en-US" dirty="0" err="1"/>
              <a:t>MyClass</a:t>
            </a:r>
            <a:r>
              <a:rPr lang="en-US" dirty="0"/>
              <a:t>(object):</a:t>
            </a:r>
          </a:p>
          <a:p>
            <a:pPr marL="137160" indent="0">
              <a:buNone/>
            </a:pPr>
            <a:r>
              <a:rPr lang="en-US" dirty="0"/>
              <a:t> var = 9</a:t>
            </a:r>
          </a:p>
          <a:p>
            <a:pPr marL="137160" indent="0">
              <a:buNone/>
            </a:pPr>
            <a:r>
              <a:rPr lang="en-US" dirty="0"/>
              <a:t># Create first instance of </a:t>
            </a:r>
            <a:r>
              <a:rPr lang="en-US" dirty="0" err="1"/>
              <a:t>MyClass</a:t>
            </a:r>
            <a:endParaRPr lang="en-US" dirty="0"/>
          </a:p>
          <a:p>
            <a:pPr marL="137160" indent="0">
              <a:buNone/>
            </a:pPr>
            <a:r>
              <a:rPr lang="en-US" dirty="0"/>
              <a:t> </a:t>
            </a:r>
            <a:r>
              <a:rPr lang="en-US" dirty="0" err="1"/>
              <a:t>this_obj</a:t>
            </a:r>
            <a:r>
              <a:rPr lang="en-US" dirty="0"/>
              <a:t> = </a:t>
            </a:r>
            <a:r>
              <a:rPr lang="en-US" dirty="0" err="1"/>
              <a:t>MyClass</a:t>
            </a:r>
            <a:r>
              <a:rPr lang="en-US" dirty="0"/>
              <a:t>() </a:t>
            </a:r>
          </a:p>
          <a:p>
            <a:pPr marL="137160" indent="0">
              <a:buNone/>
            </a:pPr>
            <a:r>
              <a:rPr lang="en-US" dirty="0"/>
              <a:t>print(</a:t>
            </a:r>
            <a:r>
              <a:rPr lang="en-US" dirty="0" err="1"/>
              <a:t>this_obj.var</a:t>
            </a:r>
            <a:r>
              <a:rPr lang="en-US" dirty="0"/>
              <a:t>)</a:t>
            </a:r>
          </a:p>
          <a:p>
            <a:pPr marL="137160" indent="0">
              <a:buNone/>
            </a:pPr>
            <a:r>
              <a:rPr lang="en-US" dirty="0"/>
              <a:t> # Another instance of </a:t>
            </a:r>
            <a:r>
              <a:rPr lang="en-US" dirty="0" err="1"/>
              <a:t>MyClass</a:t>
            </a:r>
            <a:r>
              <a:rPr lang="en-US" dirty="0"/>
              <a:t> </a:t>
            </a:r>
          </a:p>
          <a:p>
            <a:pPr marL="137160" indent="0">
              <a:buNone/>
            </a:pPr>
            <a:r>
              <a:rPr lang="en-US" dirty="0" err="1"/>
              <a:t>that_obj</a:t>
            </a:r>
            <a:r>
              <a:rPr lang="en-US" dirty="0"/>
              <a:t> = </a:t>
            </a:r>
            <a:r>
              <a:rPr lang="en-US" dirty="0" err="1"/>
              <a:t>MyClass</a:t>
            </a:r>
            <a:r>
              <a:rPr lang="en-US" dirty="0"/>
              <a:t>()</a:t>
            </a:r>
          </a:p>
          <a:p>
            <a:pPr marL="137160" indent="0">
              <a:buNone/>
            </a:pPr>
            <a:r>
              <a:rPr lang="en-US" dirty="0"/>
              <a:t> print (</a:t>
            </a:r>
            <a:r>
              <a:rPr lang="en-US" dirty="0" err="1"/>
              <a:t>that_obj.var</a:t>
            </a:r>
            <a:r>
              <a:rPr lang="en-US" dirty="0"/>
              <a:t>)</a:t>
            </a:r>
            <a:endParaRPr lang="en-IN" dirty="0"/>
          </a:p>
        </p:txBody>
      </p:sp>
    </p:spTree>
    <p:extLst>
      <p:ext uri="{BB962C8B-B14F-4D97-AF65-F5344CB8AC3E}">
        <p14:creationId xmlns:p14="http://schemas.microsoft.com/office/powerpoint/2010/main" val="239517350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D5A54-D9C1-4AF7-A76C-A7EA35C51BCE}"/>
              </a:ext>
            </a:extLst>
          </p:cNvPr>
          <p:cNvSpPr>
            <a:spLocks noGrp="1"/>
          </p:cNvSpPr>
          <p:nvPr>
            <p:ph type="title"/>
          </p:nvPr>
        </p:nvSpPr>
        <p:spPr/>
        <p:txBody>
          <a:bodyPr/>
          <a:lstStyle/>
          <a:p>
            <a:r>
              <a:rPr lang="en-IN" dirty="0"/>
              <a:t>Instance Methods</a:t>
            </a:r>
          </a:p>
        </p:txBody>
      </p:sp>
      <p:sp>
        <p:nvSpPr>
          <p:cNvPr id="3" name="Content Placeholder 2">
            <a:extLst>
              <a:ext uri="{FF2B5EF4-FFF2-40B4-BE49-F238E27FC236}">
                <a16:creationId xmlns:a16="http://schemas.microsoft.com/office/drawing/2014/main" id="{C954FF81-FFD2-4A9F-9C48-B3069C4F75C9}"/>
              </a:ext>
            </a:extLst>
          </p:cNvPr>
          <p:cNvSpPr>
            <a:spLocks noGrp="1"/>
          </p:cNvSpPr>
          <p:nvPr>
            <p:ph idx="1"/>
          </p:nvPr>
        </p:nvSpPr>
        <p:spPr/>
        <p:txBody>
          <a:bodyPr>
            <a:normAutofit lnSpcReduction="10000"/>
          </a:bodyPr>
          <a:lstStyle/>
          <a:p>
            <a:pPr marL="137160" indent="0">
              <a:buNone/>
            </a:pPr>
            <a:r>
              <a:rPr lang="en-IN" dirty="0"/>
              <a:t>class </a:t>
            </a:r>
            <a:r>
              <a:rPr lang="en-IN" dirty="0" err="1"/>
              <a:t>MyClass</a:t>
            </a:r>
            <a:r>
              <a:rPr lang="en-IN" dirty="0"/>
              <a:t> :  </a:t>
            </a:r>
          </a:p>
          <a:p>
            <a:pPr marL="137160" indent="0">
              <a:buNone/>
            </a:pPr>
            <a:r>
              <a:rPr lang="en-IN" dirty="0"/>
              <a:t>	var=9 </a:t>
            </a:r>
          </a:p>
          <a:p>
            <a:pPr marL="137160" indent="0">
              <a:buNone/>
            </a:pPr>
            <a:r>
              <a:rPr lang="en-IN" dirty="0"/>
              <a:t>	def </a:t>
            </a:r>
            <a:r>
              <a:rPr lang="en-IN" dirty="0" err="1"/>
              <a:t>firstM</a:t>
            </a:r>
            <a:r>
              <a:rPr lang="en-IN" dirty="0"/>
              <a:t>(self):</a:t>
            </a:r>
          </a:p>
          <a:p>
            <a:pPr marL="137160" indent="0">
              <a:buNone/>
            </a:pPr>
            <a:r>
              <a:rPr lang="en-IN" dirty="0"/>
              <a:t>		print("hello, World")</a:t>
            </a:r>
          </a:p>
          <a:p>
            <a:pPr marL="137160" indent="0">
              <a:buNone/>
            </a:pPr>
            <a:r>
              <a:rPr lang="en-US" dirty="0"/>
              <a:t> </a:t>
            </a:r>
            <a:r>
              <a:rPr lang="en-IN" dirty="0"/>
              <a:t>        def sum(</a:t>
            </a:r>
            <a:r>
              <a:rPr lang="en-IN" dirty="0" err="1"/>
              <a:t>a,b</a:t>
            </a:r>
            <a:r>
              <a:rPr lang="en-IN" dirty="0"/>
              <a:t>):</a:t>
            </a:r>
          </a:p>
          <a:p>
            <a:pPr marL="137160" indent="0">
              <a:buNone/>
            </a:pPr>
            <a:r>
              <a:rPr lang="en-US" dirty="0"/>
              <a:t>		print(</a:t>
            </a:r>
            <a:r>
              <a:rPr lang="en-US" dirty="0" err="1"/>
              <a:t>a+b</a:t>
            </a:r>
            <a:r>
              <a:rPr lang="en-US" dirty="0"/>
              <a:t>)</a:t>
            </a:r>
            <a:endParaRPr lang="en-IN" dirty="0"/>
          </a:p>
          <a:p>
            <a:pPr marL="137160" indent="0">
              <a:buNone/>
            </a:pPr>
            <a:r>
              <a:rPr lang="en-IN" dirty="0"/>
              <a:t> </a:t>
            </a:r>
            <a:r>
              <a:rPr lang="en-IN" dirty="0" err="1"/>
              <a:t>o.sum</a:t>
            </a:r>
            <a:r>
              <a:rPr lang="en-IN" dirty="0"/>
              <a:t>(12,14)</a:t>
            </a:r>
          </a:p>
          <a:p>
            <a:pPr marL="137160" indent="0">
              <a:buNone/>
            </a:pPr>
            <a:r>
              <a:rPr lang="en-IN" dirty="0"/>
              <a:t> o = </a:t>
            </a:r>
            <a:r>
              <a:rPr lang="en-IN" dirty="0" err="1"/>
              <a:t>MyClass</a:t>
            </a:r>
            <a:r>
              <a:rPr lang="en-IN" dirty="0"/>
              <a:t>()</a:t>
            </a:r>
          </a:p>
          <a:p>
            <a:pPr marL="137160" indent="0">
              <a:buNone/>
            </a:pPr>
            <a:r>
              <a:rPr lang="en-IN" dirty="0"/>
              <a:t> print(</a:t>
            </a:r>
            <a:r>
              <a:rPr lang="en-IN" dirty="0" err="1"/>
              <a:t>o.var</a:t>
            </a:r>
            <a:r>
              <a:rPr lang="en-IN" dirty="0"/>
              <a:t>) </a:t>
            </a:r>
          </a:p>
          <a:p>
            <a:pPr marL="137160" indent="0">
              <a:buNone/>
            </a:pPr>
            <a:r>
              <a:rPr lang="en-IN" dirty="0" err="1"/>
              <a:t>o.firstM</a:t>
            </a:r>
            <a:r>
              <a:rPr lang="en-IN" dirty="0"/>
              <a:t>()</a:t>
            </a:r>
          </a:p>
          <a:p>
            <a:pPr marL="137160" indent="0">
              <a:buNone/>
            </a:pPr>
            <a:endParaRPr lang="en-IN" dirty="0"/>
          </a:p>
          <a:p>
            <a:pPr marL="137160" indent="0">
              <a:buNone/>
            </a:pPr>
            <a:endParaRPr lang="en-IN" dirty="0"/>
          </a:p>
          <a:p>
            <a:pPr marL="137160" indent="0">
              <a:buNone/>
            </a:pPr>
            <a:endParaRPr lang="en-IN" dirty="0"/>
          </a:p>
        </p:txBody>
      </p:sp>
    </p:spTree>
    <p:extLst>
      <p:ext uri="{BB962C8B-B14F-4D97-AF65-F5344CB8AC3E}">
        <p14:creationId xmlns:p14="http://schemas.microsoft.com/office/powerpoint/2010/main" val="147784874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02F6C-3148-49E0-9E43-CE733D621105}"/>
              </a:ext>
            </a:extLst>
          </p:cNvPr>
          <p:cNvSpPr>
            <a:spLocks noGrp="1"/>
          </p:cNvSpPr>
          <p:nvPr>
            <p:ph type="title"/>
          </p:nvPr>
        </p:nvSpPr>
        <p:spPr/>
        <p:txBody>
          <a:bodyPr/>
          <a:lstStyle/>
          <a:p>
            <a:r>
              <a:rPr lang="en-IN" dirty="0"/>
              <a:t>Encapsulation</a:t>
            </a:r>
          </a:p>
        </p:txBody>
      </p:sp>
      <p:sp>
        <p:nvSpPr>
          <p:cNvPr id="3" name="Content Placeholder 2">
            <a:extLst>
              <a:ext uri="{FF2B5EF4-FFF2-40B4-BE49-F238E27FC236}">
                <a16:creationId xmlns:a16="http://schemas.microsoft.com/office/drawing/2014/main" id="{E1C5CC83-1D72-46DF-93C2-C63D614BD720}"/>
              </a:ext>
            </a:extLst>
          </p:cNvPr>
          <p:cNvSpPr>
            <a:spLocks noGrp="1"/>
          </p:cNvSpPr>
          <p:nvPr>
            <p:ph idx="1"/>
          </p:nvPr>
        </p:nvSpPr>
        <p:spPr/>
        <p:txBody>
          <a:bodyPr>
            <a:normAutofit lnSpcReduction="10000"/>
          </a:bodyPr>
          <a:lstStyle/>
          <a:p>
            <a:pPr marL="137160" indent="0">
              <a:buNone/>
            </a:pPr>
            <a:r>
              <a:rPr lang="en-IN" dirty="0"/>
              <a:t>class </a:t>
            </a:r>
            <a:r>
              <a:rPr lang="en-IN" dirty="0" err="1"/>
              <a:t>MyClass</a:t>
            </a:r>
            <a:r>
              <a:rPr lang="en-IN" dirty="0"/>
              <a:t>: 	</a:t>
            </a:r>
          </a:p>
          <a:p>
            <a:pPr marL="137160" indent="0">
              <a:buNone/>
            </a:pPr>
            <a:r>
              <a:rPr lang="en-IN" dirty="0"/>
              <a:t>	def </a:t>
            </a:r>
            <a:r>
              <a:rPr lang="en-IN" dirty="0" err="1"/>
              <a:t>setAge</a:t>
            </a:r>
            <a:r>
              <a:rPr lang="en-IN" dirty="0"/>
              <a:t>(self, </a:t>
            </a:r>
            <a:r>
              <a:rPr lang="en-IN" dirty="0" err="1"/>
              <a:t>num</a:t>
            </a:r>
            <a:r>
              <a:rPr lang="en-IN" dirty="0"/>
              <a:t>):</a:t>
            </a:r>
          </a:p>
          <a:p>
            <a:pPr marL="137160" indent="0">
              <a:buNone/>
            </a:pPr>
            <a:r>
              <a:rPr lang="en-IN" dirty="0"/>
              <a:t>		 </a:t>
            </a:r>
            <a:r>
              <a:rPr lang="en-IN" dirty="0" err="1"/>
              <a:t>self.age</a:t>
            </a:r>
            <a:r>
              <a:rPr lang="en-IN" dirty="0"/>
              <a:t> = </a:t>
            </a:r>
            <a:r>
              <a:rPr lang="en-IN" dirty="0" err="1"/>
              <a:t>num</a:t>
            </a:r>
            <a:endParaRPr lang="en-IN" dirty="0"/>
          </a:p>
          <a:p>
            <a:pPr marL="137160" indent="0">
              <a:buNone/>
            </a:pPr>
            <a:r>
              <a:rPr lang="en-IN" dirty="0"/>
              <a:t>	 def </a:t>
            </a:r>
            <a:r>
              <a:rPr lang="en-IN" dirty="0" err="1"/>
              <a:t>getAge</a:t>
            </a:r>
            <a:r>
              <a:rPr lang="en-IN" dirty="0"/>
              <a:t>(self):</a:t>
            </a:r>
          </a:p>
          <a:p>
            <a:pPr marL="137160" indent="0">
              <a:buNone/>
            </a:pPr>
            <a:r>
              <a:rPr lang="en-IN" dirty="0"/>
              <a:t>		 return </a:t>
            </a:r>
            <a:r>
              <a:rPr lang="en-IN" dirty="0" err="1"/>
              <a:t>self.age</a:t>
            </a:r>
            <a:endParaRPr lang="en-IN" dirty="0"/>
          </a:p>
          <a:p>
            <a:pPr marL="137160" indent="0">
              <a:buNone/>
            </a:pPr>
            <a:r>
              <a:rPr lang="en-IN" dirty="0"/>
              <a:t>z = </a:t>
            </a:r>
            <a:r>
              <a:rPr lang="en-IN" dirty="0" err="1"/>
              <a:t>MyClass</a:t>
            </a:r>
            <a:r>
              <a:rPr lang="en-IN" dirty="0"/>
              <a:t>() </a:t>
            </a:r>
          </a:p>
          <a:p>
            <a:pPr marL="137160" indent="0">
              <a:buNone/>
            </a:pPr>
            <a:r>
              <a:rPr lang="en-IN" dirty="0" err="1"/>
              <a:t>z.setAge</a:t>
            </a:r>
            <a:r>
              <a:rPr lang="en-IN" dirty="0"/>
              <a:t>(45) </a:t>
            </a:r>
          </a:p>
          <a:p>
            <a:pPr marL="137160" indent="0">
              <a:buNone/>
            </a:pPr>
            <a:r>
              <a:rPr lang="en-IN" dirty="0"/>
              <a:t>print(</a:t>
            </a:r>
            <a:r>
              <a:rPr lang="en-IN" dirty="0" err="1"/>
              <a:t>z.getAge</a:t>
            </a:r>
            <a:r>
              <a:rPr lang="en-IN" dirty="0"/>
              <a:t>())</a:t>
            </a:r>
          </a:p>
          <a:p>
            <a:pPr marL="137160" indent="0">
              <a:buNone/>
            </a:pPr>
            <a:r>
              <a:rPr lang="en-IN" dirty="0"/>
              <a:t> </a:t>
            </a:r>
            <a:r>
              <a:rPr lang="en-IN" dirty="0" err="1"/>
              <a:t>z.setAge</a:t>
            </a:r>
            <a:r>
              <a:rPr lang="en-IN" dirty="0"/>
              <a:t>("</a:t>
            </a:r>
            <a:r>
              <a:rPr lang="en-IN" dirty="0" err="1"/>
              <a:t>Fourty</a:t>
            </a:r>
            <a:r>
              <a:rPr lang="en-IN" dirty="0"/>
              <a:t> Five")</a:t>
            </a:r>
          </a:p>
          <a:p>
            <a:pPr marL="137160" indent="0">
              <a:buNone/>
            </a:pPr>
            <a:r>
              <a:rPr lang="en-IN" dirty="0"/>
              <a:t> print(</a:t>
            </a:r>
            <a:r>
              <a:rPr lang="en-IN" dirty="0" err="1"/>
              <a:t>z.getAge</a:t>
            </a:r>
            <a:r>
              <a:rPr lang="en-IN" dirty="0"/>
              <a:t>())</a:t>
            </a:r>
          </a:p>
        </p:txBody>
      </p:sp>
    </p:spTree>
    <p:extLst>
      <p:ext uri="{BB962C8B-B14F-4D97-AF65-F5344CB8AC3E}">
        <p14:creationId xmlns:p14="http://schemas.microsoft.com/office/powerpoint/2010/main" val="31781624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2277</TotalTime>
  <Words>3705</Words>
  <Application>Microsoft Office PowerPoint</Application>
  <PresentationFormat>On-screen Show (4:3)</PresentationFormat>
  <Paragraphs>554</Paragraphs>
  <Slides>94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94</vt:i4>
      </vt:variant>
    </vt:vector>
  </HeadingPairs>
  <TitlesOfParts>
    <vt:vector size="99" baseType="lpstr">
      <vt:lpstr>Arial</vt:lpstr>
      <vt:lpstr>Calibri</vt:lpstr>
      <vt:lpstr>Century Gothic</vt:lpstr>
      <vt:lpstr>Wingdings 3</vt:lpstr>
      <vt:lpstr>Ion</vt:lpstr>
      <vt:lpstr>Python</vt:lpstr>
      <vt:lpstr>History of Python</vt:lpstr>
      <vt:lpstr>Introduction to Python</vt:lpstr>
      <vt:lpstr>Major Uses of Python</vt:lpstr>
      <vt:lpstr>Additional Python Resources</vt:lpstr>
      <vt:lpstr>Programming Paradigm</vt:lpstr>
      <vt:lpstr>Programming Paradigm</vt:lpstr>
      <vt:lpstr>Programming Paradigm</vt:lpstr>
      <vt:lpstr>Structured Paradigm</vt:lpstr>
      <vt:lpstr>Top-down analysis</vt:lpstr>
      <vt:lpstr>Modular programming</vt:lpstr>
      <vt:lpstr>Structured code</vt:lpstr>
      <vt:lpstr>  Object Oriented Programming  </vt:lpstr>
      <vt:lpstr>TABLE OF CONTENT: </vt:lpstr>
      <vt:lpstr>Introduction</vt:lpstr>
      <vt:lpstr>Class</vt:lpstr>
      <vt:lpstr>Object</vt:lpstr>
      <vt:lpstr>Encapsulation</vt:lpstr>
      <vt:lpstr>Abstraction </vt:lpstr>
      <vt:lpstr>Polymorphism</vt:lpstr>
      <vt:lpstr> Inheritance</vt:lpstr>
      <vt:lpstr>Python</vt:lpstr>
      <vt:lpstr>Python Identifiers</vt:lpstr>
      <vt:lpstr>Reserved Words</vt:lpstr>
      <vt:lpstr>Getting the Data Type </vt:lpstr>
      <vt:lpstr>Type Casting</vt:lpstr>
      <vt:lpstr>Reserved Words </vt:lpstr>
      <vt:lpstr>Input()</vt:lpstr>
      <vt:lpstr>print()</vt:lpstr>
      <vt:lpstr>Data types in the Python programming language:</vt:lpstr>
      <vt:lpstr>Operators</vt:lpstr>
      <vt:lpstr>Programs</vt:lpstr>
      <vt:lpstr>Programs</vt:lpstr>
      <vt:lpstr>Programs</vt:lpstr>
      <vt:lpstr>Programs</vt:lpstr>
      <vt:lpstr>Programs</vt:lpstr>
      <vt:lpstr>Programs</vt:lpstr>
      <vt:lpstr>Programs</vt:lpstr>
      <vt:lpstr>Programs</vt:lpstr>
      <vt:lpstr>Programs</vt:lpstr>
      <vt:lpstr>Programs</vt:lpstr>
      <vt:lpstr>Programs</vt:lpstr>
      <vt:lpstr>Programs</vt:lpstr>
      <vt:lpstr>Programs</vt:lpstr>
      <vt:lpstr>Programs</vt:lpstr>
      <vt:lpstr>If structure</vt:lpstr>
      <vt:lpstr>For loop</vt:lpstr>
      <vt:lpstr>For loop</vt:lpstr>
      <vt:lpstr>For loop</vt:lpstr>
      <vt:lpstr>For loop</vt:lpstr>
      <vt:lpstr>For loop</vt:lpstr>
      <vt:lpstr>Sum of numbers</vt:lpstr>
      <vt:lpstr>While loop</vt:lpstr>
      <vt:lpstr>While loop</vt:lpstr>
      <vt:lpstr>While loop</vt:lpstr>
      <vt:lpstr>Strings</vt:lpstr>
      <vt:lpstr>Accessing characters in Python</vt:lpstr>
      <vt:lpstr>Deleting/Updating from a String </vt:lpstr>
      <vt:lpstr>PowerPoint Presentation</vt:lpstr>
      <vt:lpstr>PowerPoint Presentation</vt:lpstr>
      <vt:lpstr>Math </vt:lpstr>
      <vt:lpstr>PowerPoint Presentation</vt:lpstr>
      <vt:lpstr>Calendar</vt:lpstr>
      <vt:lpstr>Lists</vt:lpstr>
      <vt:lpstr>How to Create Python List? </vt:lpstr>
      <vt:lpstr>How to Access Python List? </vt:lpstr>
      <vt:lpstr>Removing Elements from the List </vt:lpstr>
      <vt:lpstr>Remove()</vt:lpstr>
      <vt:lpstr>Delete</vt:lpstr>
      <vt:lpstr>delete</vt:lpstr>
      <vt:lpstr>Adding Elements to a List </vt:lpstr>
      <vt:lpstr>Append</vt:lpstr>
      <vt:lpstr>Insert</vt:lpstr>
      <vt:lpstr>Extend</vt:lpstr>
      <vt:lpstr>List</vt:lpstr>
      <vt:lpstr>Index</vt:lpstr>
      <vt:lpstr>Length of list</vt:lpstr>
      <vt:lpstr>Checking Duplication</vt:lpstr>
      <vt:lpstr>Dictionary</vt:lpstr>
      <vt:lpstr>Creating Dictionary</vt:lpstr>
      <vt:lpstr>Accessing keys and values </vt:lpstr>
      <vt:lpstr>Accessing values of a dictionary</vt:lpstr>
      <vt:lpstr>Iterating Over a Dictionary</vt:lpstr>
      <vt:lpstr>Deleting items – using pop</vt:lpstr>
      <vt:lpstr>Deleting items – using del</vt:lpstr>
      <vt:lpstr>Deleting items – using clear()</vt:lpstr>
      <vt:lpstr>Dictionary creation using iteration</vt:lpstr>
      <vt:lpstr>Classes and Objects</vt:lpstr>
      <vt:lpstr>Example</vt:lpstr>
      <vt:lpstr>The __init__() Function  </vt:lpstr>
      <vt:lpstr>Example</vt:lpstr>
      <vt:lpstr>Example</vt:lpstr>
      <vt:lpstr>Instance Methods</vt:lpstr>
      <vt:lpstr>Encapsulation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 in C++</dc:title>
  <dc:creator>Windows User</dc:creator>
  <cp:lastModifiedBy>Lalit</cp:lastModifiedBy>
  <cp:revision>188</cp:revision>
  <dcterms:created xsi:type="dcterms:W3CDTF">2020-01-29T06:37:15Z</dcterms:created>
  <dcterms:modified xsi:type="dcterms:W3CDTF">2022-05-10T05:00:59Z</dcterms:modified>
</cp:coreProperties>
</file>