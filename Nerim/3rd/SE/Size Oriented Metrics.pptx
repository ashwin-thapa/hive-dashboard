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03DE2D6-93A8-46F3-A580-F95B8D0A86D3}"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1300410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3DE2D6-93A8-46F3-A580-F95B8D0A86D3}"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4200714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03DE2D6-93A8-46F3-A580-F95B8D0A86D3}"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1181707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03DE2D6-93A8-46F3-A580-F95B8D0A86D3}" type="datetimeFigureOut">
              <a:rPr lang="en-US" smtClean="0"/>
              <a:t>9/19/2022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4211876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03DE2D6-93A8-46F3-A580-F95B8D0A86D3}" type="datetimeFigureOut">
              <a:rPr lang="en-US" smtClean="0"/>
              <a:t>9/19/2022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2528931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03DE2D6-93A8-46F3-A580-F95B8D0A86D3}" type="datetimeFigureOut">
              <a:rPr lang="en-US" smtClean="0"/>
              <a:t>9/19/2022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3718915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3DE2D6-93A8-46F3-A580-F95B8D0A86D3}" type="datetimeFigureOut">
              <a:rPr lang="en-US" smtClean="0"/>
              <a:t>9/19/2022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1853213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3DE2D6-93A8-46F3-A580-F95B8D0A86D3}" type="datetimeFigureOut">
              <a:rPr lang="en-US" smtClean="0"/>
              <a:t>9/19/2022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844341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3DE2D6-93A8-46F3-A580-F95B8D0A86D3}" type="datetimeFigureOut">
              <a:rPr lang="en-US" smtClean="0"/>
              <a:t>9/19/2022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3751095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3DE2D6-93A8-46F3-A580-F95B8D0A86D3}"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2741409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3DE2D6-93A8-46F3-A580-F95B8D0A86D3}" type="datetimeFigureOut">
              <a:rPr lang="en-US" smtClean="0"/>
              <a:t>9/19/2022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650337-1883-4545-9C6A-211F557AE86C}" type="slidenum">
              <a:rPr lang="en-US" smtClean="0"/>
              <a:t>‹#›</a:t>
            </a:fld>
            <a:endParaRPr lang="en-US"/>
          </a:p>
        </p:txBody>
      </p:sp>
    </p:spTree>
    <p:extLst>
      <p:ext uri="{BB962C8B-B14F-4D97-AF65-F5344CB8AC3E}">
        <p14:creationId xmlns:p14="http://schemas.microsoft.com/office/powerpoint/2010/main" val="3628949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3DE2D6-93A8-46F3-A580-F95B8D0A86D3}" type="datetimeFigureOut">
              <a:rPr lang="en-US" smtClean="0"/>
              <a:t>9/19/2022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650337-1883-4545-9C6A-211F557AE86C}" type="slidenum">
              <a:rPr lang="en-US" smtClean="0"/>
              <a:t>‹#›</a:t>
            </a:fld>
            <a:endParaRPr lang="en-US"/>
          </a:p>
        </p:txBody>
      </p:sp>
    </p:spTree>
    <p:extLst>
      <p:ext uri="{BB962C8B-B14F-4D97-AF65-F5344CB8AC3E}">
        <p14:creationId xmlns:p14="http://schemas.microsoft.com/office/powerpoint/2010/main" val="450468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u="sng" dirty="0">
                <a:solidFill>
                  <a:srgbClr val="FF0000"/>
                </a:solidFill>
              </a:rPr>
              <a:t>Size Oriented Metrics</a:t>
            </a:r>
            <a:br>
              <a:rPr lang="en-US" u="sng" dirty="0">
                <a:solidFill>
                  <a:srgbClr val="FF0000"/>
                </a:solidFill>
              </a:rPr>
            </a:br>
            <a:endParaRPr lang="en-US" u="sng" dirty="0">
              <a:solidFill>
                <a:srgbClr val="FF0000"/>
              </a:solidFill>
            </a:endParaRPr>
          </a:p>
        </p:txBody>
      </p:sp>
      <p:sp>
        <p:nvSpPr>
          <p:cNvPr id="3" name="Subtitle 2"/>
          <p:cNvSpPr>
            <a:spLocks noGrp="1"/>
          </p:cNvSpPr>
          <p:nvPr>
            <p:ph type="subTitle" idx="1"/>
          </p:nvPr>
        </p:nvSpPr>
        <p:spPr>
          <a:xfrm>
            <a:off x="685800" y="1905000"/>
            <a:ext cx="7543800" cy="3733800"/>
          </a:xfrm>
        </p:spPr>
        <p:txBody>
          <a:bodyPr>
            <a:normAutofit fontScale="92500" lnSpcReduction="10000"/>
          </a:bodyPr>
          <a:lstStyle/>
          <a:p>
            <a:pPr algn="just"/>
            <a:r>
              <a:rPr lang="en-US" u="sng" dirty="0" smtClean="0">
                <a:solidFill>
                  <a:schemeClr val="tx1"/>
                </a:solidFill>
                <a:latin typeface="Times New Roman" pitchFamily="18" charset="0"/>
                <a:cs typeface="Times New Roman" pitchFamily="18" charset="0"/>
              </a:rPr>
              <a:t>LOC Metrics</a:t>
            </a:r>
          </a:p>
          <a:p>
            <a:pPr algn="just"/>
            <a:r>
              <a:rPr lang="en-US" dirty="0" smtClean="0">
                <a:solidFill>
                  <a:schemeClr val="tx1"/>
                </a:solidFill>
                <a:latin typeface="Times New Roman" pitchFamily="18" charset="0"/>
                <a:cs typeface="Times New Roman" pitchFamily="18" charset="0"/>
              </a:rPr>
              <a:t>It </a:t>
            </a:r>
            <a:r>
              <a:rPr lang="en-US" dirty="0">
                <a:solidFill>
                  <a:schemeClr val="tx1"/>
                </a:solidFill>
                <a:latin typeface="Times New Roman" pitchFamily="18" charset="0"/>
                <a:cs typeface="Times New Roman" pitchFamily="18" charset="0"/>
              </a:rPr>
              <a:t>is one of the earliest and simpler metrics for calculating the size of the computer program. It is generally used in calculating and comparing the productivity of programmers. These metrics are derived by normalizing the quality and productivity measures by considering the size of the product as a metric.</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29886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u="sng" dirty="0">
                <a:solidFill>
                  <a:srgbClr val="FF0000"/>
                </a:solidFill>
              </a:rPr>
              <a:t>Size Oriented Metrics</a:t>
            </a:r>
            <a:br>
              <a:rPr lang="en-US" u="sng" dirty="0">
                <a:solidFill>
                  <a:srgbClr val="FF0000"/>
                </a:solidFill>
              </a:rPr>
            </a:br>
            <a:endParaRPr lang="en-US" u="sng" dirty="0">
              <a:solidFill>
                <a:srgbClr val="FF0000"/>
              </a:solidFill>
            </a:endParaRPr>
          </a:p>
        </p:txBody>
      </p:sp>
      <p:sp>
        <p:nvSpPr>
          <p:cNvPr id="3" name="Subtitle 2"/>
          <p:cNvSpPr>
            <a:spLocks noGrp="1"/>
          </p:cNvSpPr>
          <p:nvPr>
            <p:ph type="subTitle" idx="1"/>
          </p:nvPr>
        </p:nvSpPr>
        <p:spPr>
          <a:xfrm>
            <a:off x="685800" y="1905000"/>
            <a:ext cx="7543800" cy="4267200"/>
          </a:xfrm>
        </p:spPr>
        <p:txBody>
          <a:bodyPr>
            <a:normAutofit fontScale="77500" lnSpcReduction="20000"/>
          </a:bodyPr>
          <a:lstStyle/>
          <a:p>
            <a:pPr algn="just"/>
            <a:r>
              <a:rPr lang="en-US" b="1" dirty="0">
                <a:solidFill>
                  <a:schemeClr val="tx1"/>
                </a:solidFill>
                <a:latin typeface="Times New Roman" pitchFamily="18" charset="0"/>
                <a:cs typeface="Times New Roman" pitchFamily="18" charset="0"/>
              </a:rPr>
              <a:t>Following are the points regarding LOC measures:</a:t>
            </a:r>
            <a:endParaRPr lang="en-US" dirty="0">
              <a:solidFill>
                <a:schemeClr val="tx1"/>
              </a:solidFill>
              <a:latin typeface="Times New Roman" pitchFamily="18" charset="0"/>
              <a:cs typeface="Times New Roman" pitchFamily="18" charset="0"/>
            </a:endParaRPr>
          </a:p>
          <a:p>
            <a:pPr marL="514350" indent="-514350" algn="just">
              <a:buAutoNum type="arabicPeriod"/>
            </a:pPr>
            <a:r>
              <a:rPr lang="en-US" dirty="0" smtClean="0">
                <a:solidFill>
                  <a:schemeClr val="tx1"/>
                </a:solidFill>
                <a:latin typeface="Times New Roman" pitchFamily="18" charset="0"/>
                <a:cs typeface="Times New Roman" pitchFamily="18" charset="0"/>
              </a:rPr>
              <a:t>In </a:t>
            </a:r>
            <a:r>
              <a:rPr lang="en-US" dirty="0">
                <a:solidFill>
                  <a:schemeClr val="tx1"/>
                </a:solidFill>
                <a:latin typeface="Times New Roman" pitchFamily="18" charset="0"/>
                <a:cs typeface="Times New Roman" pitchFamily="18" charset="0"/>
              </a:rPr>
              <a:t>size-oriented metrics, LOC is considered to be the normalization value</a:t>
            </a:r>
            <a:r>
              <a:rPr lang="en-US" dirty="0" smtClean="0">
                <a:solidFill>
                  <a:schemeClr val="tx1"/>
                </a:solidFill>
                <a:latin typeface="Times New Roman" pitchFamily="18" charset="0"/>
                <a:cs typeface="Times New Roman" pitchFamily="18" charset="0"/>
              </a:rPr>
              <a:t>.</a:t>
            </a:r>
          </a:p>
          <a:p>
            <a:pPr marL="514350" indent="-514350" algn="just">
              <a:buAutoNum type="arabicPeriod"/>
            </a:pPr>
            <a:r>
              <a:rPr lang="en-US" dirty="0" smtClean="0">
                <a:solidFill>
                  <a:schemeClr val="tx1"/>
                </a:solidFill>
                <a:latin typeface="Times New Roman" pitchFamily="18" charset="0"/>
                <a:cs typeface="Times New Roman" pitchFamily="18" charset="0"/>
              </a:rPr>
              <a:t>It </a:t>
            </a:r>
            <a:r>
              <a:rPr lang="en-US" dirty="0">
                <a:solidFill>
                  <a:schemeClr val="tx1"/>
                </a:solidFill>
                <a:latin typeface="Times New Roman" pitchFamily="18" charset="0"/>
                <a:cs typeface="Times New Roman" pitchFamily="18" charset="0"/>
              </a:rPr>
              <a:t>is an older method that was developed when FORTRAN and COBOL programming were very popular</a:t>
            </a:r>
            <a:r>
              <a:rPr lang="en-US" dirty="0" smtClean="0">
                <a:solidFill>
                  <a:schemeClr val="tx1"/>
                </a:solidFill>
                <a:latin typeface="Times New Roman" pitchFamily="18" charset="0"/>
                <a:cs typeface="Times New Roman" pitchFamily="18" charset="0"/>
              </a:rPr>
              <a:t>.</a:t>
            </a:r>
          </a:p>
          <a:p>
            <a:pPr marL="514350" indent="-514350" algn="just">
              <a:buAutoNum type="arabicPeriod"/>
            </a:pPr>
            <a:r>
              <a:rPr lang="en-US" dirty="0" smtClean="0">
                <a:solidFill>
                  <a:schemeClr val="tx1"/>
                </a:solidFill>
                <a:latin typeface="Times New Roman" pitchFamily="18" charset="0"/>
                <a:cs typeface="Times New Roman" pitchFamily="18" charset="0"/>
              </a:rPr>
              <a:t>Productivity </a:t>
            </a:r>
            <a:r>
              <a:rPr lang="en-US" dirty="0">
                <a:solidFill>
                  <a:schemeClr val="tx1"/>
                </a:solidFill>
                <a:latin typeface="Times New Roman" pitchFamily="18" charset="0"/>
                <a:cs typeface="Times New Roman" pitchFamily="18" charset="0"/>
              </a:rPr>
              <a:t>is defined as KLOC / EFFORT, where effort is measured in person-months</a:t>
            </a:r>
            <a:r>
              <a:rPr lang="en-US" dirty="0" smtClean="0">
                <a:solidFill>
                  <a:schemeClr val="tx1"/>
                </a:solidFill>
                <a:latin typeface="Times New Roman" pitchFamily="18" charset="0"/>
                <a:cs typeface="Times New Roman" pitchFamily="18" charset="0"/>
              </a:rPr>
              <a:t>.</a:t>
            </a:r>
          </a:p>
          <a:p>
            <a:pPr marL="514350" indent="-514350" algn="just">
              <a:buAutoNum type="arabicPeriod"/>
            </a:pPr>
            <a:r>
              <a:rPr lang="en-US" dirty="0" smtClean="0">
                <a:solidFill>
                  <a:schemeClr val="tx1"/>
                </a:solidFill>
                <a:latin typeface="Times New Roman" pitchFamily="18" charset="0"/>
                <a:cs typeface="Times New Roman" pitchFamily="18" charset="0"/>
              </a:rPr>
              <a:t>Size-oriented </a:t>
            </a:r>
            <a:r>
              <a:rPr lang="en-US" dirty="0">
                <a:solidFill>
                  <a:schemeClr val="tx1"/>
                </a:solidFill>
                <a:latin typeface="Times New Roman" pitchFamily="18" charset="0"/>
                <a:cs typeface="Times New Roman" pitchFamily="18" charset="0"/>
              </a:rPr>
              <a:t>metrics depend on the programming language used</a:t>
            </a:r>
            <a:r>
              <a:rPr lang="en-US" dirty="0" smtClean="0">
                <a:solidFill>
                  <a:schemeClr val="tx1"/>
                </a:solidFill>
                <a:latin typeface="Times New Roman" pitchFamily="18" charset="0"/>
                <a:cs typeface="Times New Roman" pitchFamily="18" charset="0"/>
              </a:rPr>
              <a:t>.</a:t>
            </a:r>
          </a:p>
          <a:p>
            <a:pPr marL="514350" indent="-514350" algn="just">
              <a:buAutoNum type="arabicPeriod"/>
            </a:pPr>
            <a:r>
              <a:rPr lang="en-US" dirty="0" smtClean="0">
                <a:solidFill>
                  <a:schemeClr val="tx1"/>
                </a:solidFill>
                <a:latin typeface="Times New Roman" pitchFamily="18" charset="0"/>
                <a:cs typeface="Times New Roman" pitchFamily="18" charset="0"/>
              </a:rPr>
              <a:t>As </a:t>
            </a:r>
            <a:r>
              <a:rPr lang="en-US" dirty="0">
                <a:solidFill>
                  <a:schemeClr val="tx1"/>
                </a:solidFill>
                <a:latin typeface="Times New Roman" pitchFamily="18" charset="0"/>
                <a:cs typeface="Times New Roman" pitchFamily="18" charset="0"/>
              </a:rPr>
              <a:t>productivity depends on KLOC, so assembly language code will have more productivity.</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74634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1470025"/>
          </a:xfrm>
        </p:spPr>
        <p:txBody>
          <a:bodyPr/>
          <a:lstStyle/>
          <a:p>
            <a:r>
              <a:rPr lang="en-US" u="sng" dirty="0">
                <a:solidFill>
                  <a:srgbClr val="FF0000"/>
                </a:solidFill>
              </a:rPr>
              <a:t>Size Oriented Metrics</a:t>
            </a:r>
            <a:br>
              <a:rPr lang="en-US" u="sng" dirty="0">
                <a:solidFill>
                  <a:srgbClr val="FF0000"/>
                </a:solidFill>
              </a:rPr>
            </a:br>
            <a:endParaRPr lang="en-US" u="sng" dirty="0">
              <a:solidFill>
                <a:srgbClr val="FF0000"/>
              </a:solidFill>
            </a:endParaRPr>
          </a:p>
        </p:txBody>
      </p:sp>
      <p:sp>
        <p:nvSpPr>
          <p:cNvPr id="3" name="Subtitle 2"/>
          <p:cNvSpPr>
            <a:spLocks noGrp="1"/>
          </p:cNvSpPr>
          <p:nvPr>
            <p:ph type="subTitle" idx="1"/>
          </p:nvPr>
        </p:nvSpPr>
        <p:spPr>
          <a:xfrm>
            <a:off x="685800" y="1676400"/>
            <a:ext cx="8001000" cy="4800600"/>
          </a:xfrm>
        </p:spPr>
        <p:txBody>
          <a:bodyPr>
            <a:normAutofit fontScale="77500" lnSpcReduction="20000"/>
          </a:bodyPr>
          <a:lstStyle/>
          <a:p>
            <a:pPr algn="just"/>
            <a:r>
              <a:rPr lang="en-US" dirty="0" smtClean="0">
                <a:solidFill>
                  <a:schemeClr val="tx1"/>
                </a:solidFill>
                <a:latin typeface="Times New Roman" pitchFamily="18" charset="0"/>
                <a:cs typeface="Times New Roman" pitchFamily="18" charset="0"/>
              </a:rPr>
              <a:t>6. LOC </a:t>
            </a:r>
            <a:r>
              <a:rPr lang="en-US" dirty="0">
                <a:solidFill>
                  <a:schemeClr val="tx1"/>
                </a:solidFill>
                <a:latin typeface="Times New Roman" pitchFamily="18" charset="0"/>
                <a:cs typeface="Times New Roman" pitchFamily="18" charset="0"/>
              </a:rPr>
              <a:t>measure requires a level of detail which may not be practically achievable</a:t>
            </a:r>
            <a:r>
              <a:rPr lang="en-US" dirty="0" smtClean="0">
                <a:solidFill>
                  <a:schemeClr val="tx1"/>
                </a:solidFill>
                <a:latin typeface="Times New Roman" pitchFamily="18" charset="0"/>
                <a:cs typeface="Times New Roman" pitchFamily="18" charset="0"/>
              </a:rPr>
              <a:t>.</a:t>
            </a:r>
          </a:p>
          <a:p>
            <a:pPr algn="just"/>
            <a:r>
              <a:rPr lang="en-US" dirty="0" smtClean="0">
                <a:solidFill>
                  <a:schemeClr val="tx1"/>
                </a:solidFill>
                <a:latin typeface="Times New Roman" pitchFamily="18" charset="0"/>
                <a:cs typeface="Times New Roman" pitchFamily="18" charset="0"/>
              </a:rPr>
              <a:t>7. The </a:t>
            </a:r>
            <a:r>
              <a:rPr lang="en-US" dirty="0">
                <a:solidFill>
                  <a:schemeClr val="tx1"/>
                </a:solidFill>
                <a:latin typeface="Times New Roman" pitchFamily="18" charset="0"/>
                <a:cs typeface="Times New Roman" pitchFamily="18" charset="0"/>
              </a:rPr>
              <a:t>more expressive is the programming language, the lower is the productivity</a:t>
            </a:r>
            <a:r>
              <a:rPr lang="en-US" dirty="0" smtClean="0">
                <a:solidFill>
                  <a:schemeClr val="tx1"/>
                </a:solidFill>
                <a:latin typeface="Times New Roman" pitchFamily="18" charset="0"/>
                <a:cs typeface="Times New Roman" pitchFamily="18" charset="0"/>
              </a:rPr>
              <a:t>.</a:t>
            </a:r>
          </a:p>
          <a:p>
            <a:pPr algn="just"/>
            <a:r>
              <a:rPr lang="en-US" dirty="0" smtClean="0">
                <a:solidFill>
                  <a:schemeClr val="tx1"/>
                </a:solidFill>
                <a:latin typeface="Times New Roman" pitchFamily="18" charset="0"/>
                <a:cs typeface="Times New Roman" pitchFamily="18" charset="0"/>
              </a:rPr>
              <a:t>8. LOC </a:t>
            </a:r>
            <a:r>
              <a:rPr lang="en-US" dirty="0">
                <a:solidFill>
                  <a:schemeClr val="tx1"/>
                </a:solidFill>
                <a:latin typeface="Times New Roman" pitchFamily="18" charset="0"/>
                <a:cs typeface="Times New Roman" pitchFamily="18" charset="0"/>
              </a:rPr>
              <a:t>method of measurement does not apply to projects that deal with visual (GUI-based) programming. As already explained, Graphical User Interfaces (GUIs) use forms basically. LOC metric is not applicable here</a:t>
            </a:r>
            <a:r>
              <a:rPr lang="en-US" dirty="0" smtClean="0">
                <a:solidFill>
                  <a:schemeClr val="tx1"/>
                </a:solidFill>
                <a:latin typeface="Times New Roman" pitchFamily="18" charset="0"/>
                <a:cs typeface="Times New Roman" pitchFamily="18" charset="0"/>
              </a:rPr>
              <a:t>.</a:t>
            </a:r>
          </a:p>
          <a:p>
            <a:pPr algn="just"/>
            <a:r>
              <a:rPr lang="en-US" dirty="0" smtClean="0">
                <a:solidFill>
                  <a:schemeClr val="tx1"/>
                </a:solidFill>
                <a:latin typeface="Times New Roman" pitchFamily="18" charset="0"/>
                <a:cs typeface="Times New Roman" pitchFamily="18" charset="0"/>
              </a:rPr>
              <a:t>9. It </a:t>
            </a:r>
            <a:r>
              <a:rPr lang="en-US" dirty="0">
                <a:solidFill>
                  <a:schemeClr val="tx1"/>
                </a:solidFill>
                <a:latin typeface="Times New Roman" pitchFamily="18" charset="0"/>
                <a:cs typeface="Times New Roman" pitchFamily="18" charset="0"/>
              </a:rPr>
              <a:t>requires that all organizations must use the same method for counting LOC. This is so because some organizations use only executable statements, some useful comments, and some do not. Thus, the standard needs to be established</a:t>
            </a:r>
            <a:r>
              <a:rPr lang="en-US" dirty="0" smtClean="0">
                <a:solidFill>
                  <a:schemeClr val="tx1"/>
                </a:solidFill>
                <a:latin typeface="Times New Roman" pitchFamily="18" charset="0"/>
                <a:cs typeface="Times New Roman" pitchFamily="18" charset="0"/>
              </a:rPr>
              <a:t>.</a:t>
            </a:r>
          </a:p>
          <a:p>
            <a:pPr algn="just"/>
            <a:r>
              <a:rPr lang="en-US" dirty="0" smtClean="0">
                <a:solidFill>
                  <a:schemeClr val="tx1"/>
                </a:solidFill>
                <a:latin typeface="Times New Roman" pitchFamily="18" charset="0"/>
                <a:cs typeface="Times New Roman" pitchFamily="18" charset="0"/>
              </a:rPr>
              <a:t>10. These </a:t>
            </a:r>
            <a:r>
              <a:rPr lang="en-US" dirty="0">
                <a:solidFill>
                  <a:schemeClr val="tx1"/>
                </a:solidFill>
                <a:latin typeface="Times New Roman" pitchFamily="18" charset="0"/>
                <a:cs typeface="Times New Roman" pitchFamily="18" charset="0"/>
              </a:rPr>
              <a:t>metrics are not universally accepted.</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560353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685800"/>
            <a:ext cx="8001000" cy="5791200"/>
          </a:xfrm>
        </p:spPr>
        <p:txBody>
          <a:bodyPr>
            <a:normAutofit fontScale="85000" lnSpcReduction="20000"/>
          </a:bodyPr>
          <a:lstStyle/>
          <a:p>
            <a:pPr algn="just"/>
            <a:r>
              <a:rPr lang="en-US" b="1" dirty="0" smtClean="0">
                <a:solidFill>
                  <a:srgbClr val="C00000"/>
                </a:solidFill>
              </a:rPr>
              <a:t>Advantages </a:t>
            </a:r>
            <a:r>
              <a:rPr lang="en-US" b="1" dirty="0">
                <a:solidFill>
                  <a:srgbClr val="C00000"/>
                </a:solidFill>
              </a:rPr>
              <a:t>of LOC</a:t>
            </a:r>
          </a:p>
          <a:p>
            <a:pPr algn="just"/>
            <a:r>
              <a:rPr lang="en-US" smtClean="0">
                <a:solidFill>
                  <a:schemeClr val="tx1"/>
                </a:solidFill>
              </a:rPr>
              <a:t>1</a:t>
            </a:r>
            <a:r>
              <a:rPr lang="en-US" dirty="0" smtClean="0">
                <a:solidFill>
                  <a:schemeClr val="tx1"/>
                </a:solidFill>
              </a:rPr>
              <a:t>. Simple </a:t>
            </a:r>
            <a:r>
              <a:rPr lang="en-US" dirty="0">
                <a:solidFill>
                  <a:schemeClr val="tx1"/>
                </a:solidFill>
              </a:rPr>
              <a:t>to measure</a:t>
            </a:r>
          </a:p>
          <a:p>
            <a:pPr algn="just"/>
            <a:endParaRPr lang="en-US" b="1" dirty="0" smtClean="0">
              <a:solidFill>
                <a:schemeClr val="tx1"/>
              </a:solidFill>
            </a:endParaRPr>
          </a:p>
          <a:p>
            <a:pPr algn="just"/>
            <a:r>
              <a:rPr lang="en-US" b="1" dirty="0" smtClean="0">
                <a:solidFill>
                  <a:srgbClr val="C00000"/>
                </a:solidFill>
              </a:rPr>
              <a:t>Disadvantage </a:t>
            </a:r>
            <a:r>
              <a:rPr lang="en-US" b="1" dirty="0">
                <a:solidFill>
                  <a:srgbClr val="C00000"/>
                </a:solidFill>
              </a:rPr>
              <a:t>of </a:t>
            </a:r>
            <a:r>
              <a:rPr lang="en-US" b="1" dirty="0" smtClean="0">
                <a:solidFill>
                  <a:srgbClr val="C00000"/>
                </a:solidFill>
              </a:rPr>
              <a:t>LOC</a:t>
            </a:r>
          </a:p>
          <a:p>
            <a:pPr algn="just"/>
            <a:endParaRPr lang="en-US" b="1" dirty="0">
              <a:solidFill>
                <a:schemeClr val="tx1"/>
              </a:solidFill>
            </a:endParaRPr>
          </a:p>
          <a:p>
            <a:pPr marL="514350" indent="-514350" algn="just">
              <a:buFont typeface="+mj-lt"/>
              <a:buAutoNum type="arabicPeriod"/>
            </a:pPr>
            <a:r>
              <a:rPr lang="en-US" dirty="0">
                <a:solidFill>
                  <a:schemeClr val="tx1"/>
                </a:solidFill>
              </a:rPr>
              <a:t>It is defined on the code. For example, it cannot measure the size of the specification</a:t>
            </a:r>
            <a:r>
              <a:rPr lang="en-US" dirty="0" smtClean="0">
                <a:solidFill>
                  <a:schemeClr val="tx1"/>
                </a:solidFill>
              </a:rPr>
              <a:t>.</a:t>
            </a:r>
          </a:p>
          <a:p>
            <a:pPr marL="514350" indent="-514350" algn="just">
              <a:buFont typeface="+mj-lt"/>
              <a:buAutoNum type="arabicPeriod"/>
            </a:pPr>
            <a:r>
              <a:rPr lang="en-US" dirty="0" smtClean="0">
                <a:solidFill>
                  <a:schemeClr val="tx1"/>
                </a:solidFill>
              </a:rPr>
              <a:t>It </a:t>
            </a:r>
            <a:r>
              <a:rPr lang="en-US" dirty="0">
                <a:solidFill>
                  <a:schemeClr val="tx1"/>
                </a:solidFill>
              </a:rPr>
              <a:t>characterizes only one specific view of size, namely length, it takes no account of functionality or </a:t>
            </a:r>
            <a:r>
              <a:rPr lang="en-US" dirty="0" smtClean="0">
                <a:solidFill>
                  <a:schemeClr val="tx1"/>
                </a:solidFill>
              </a:rPr>
              <a:t>complexity</a:t>
            </a:r>
          </a:p>
          <a:p>
            <a:pPr marL="514350" indent="-514350" algn="just">
              <a:buFont typeface="+mj-lt"/>
              <a:buAutoNum type="arabicPeriod"/>
            </a:pPr>
            <a:r>
              <a:rPr lang="en-US" dirty="0" smtClean="0">
                <a:solidFill>
                  <a:schemeClr val="tx1"/>
                </a:solidFill>
              </a:rPr>
              <a:t>Bad </a:t>
            </a:r>
            <a:r>
              <a:rPr lang="en-US" dirty="0">
                <a:solidFill>
                  <a:schemeClr val="tx1"/>
                </a:solidFill>
              </a:rPr>
              <a:t>software design may cause an excessive line of </a:t>
            </a:r>
            <a:r>
              <a:rPr lang="en-US" dirty="0" smtClean="0">
                <a:solidFill>
                  <a:schemeClr val="tx1"/>
                </a:solidFill>
              </a:rPr>
              <a:t>code</a:t>
            </a:r>
          </a:p>
          <a:p>
            <a:pPr marL="514350" indent="-514350" algn="just">
              <a:buFont typeface="+mj-lt"/>
              <a:buAutoNum type="arabicPeriod"/>
            </a:pPr>
            <a:r>
              <a:rPr lang="en-US" dirty="0" smtClean="0">
                <a:solidFill>
                  <a:schemeClr val="tx1"/>
                </a:solidFill>
              </a:rPr>
              <a:t>It </a:t>
            </a:r>
            <a:r>
              <a:rPr lang="en-US" dirty="0">
                <a:solidFill>
                  <a:schemeClr val="tx1"/>
                </a:solidFill>
              </a:rPr>
              <a:t>is language </a:t>
            </a:r>
            <a:r>
              <a:rPr lang="en-US" dirty="0" smtClean="0">
                <a:solidFill>
                  <a:schemeClr val="tx1"/>
                </a:solidFill>
              </a:rPr>
              <a:t>dependent</a:t>
            </a:r>
          </a:p>
          <a:p>
            <a:pPr marL="514350" indent="-514350" algn="just">
              <a:buFont typeface="+mj-lt"/>
              <a:buAutoNum type="arabicPeriod"/>
            </a:pPr>
            <a:r>
              <a:rPr lang="en-US" dirty="0" smtClean="0">
                <a:solidFill>
                  <a:schemeClr val="tx1"/>
                </a:solidFill>
              </a:rPr>
              <a:t>Users </a:t>
            </a:r>
            <a:r>
              <a:rPr lang="en-US" dirty="0">
                <a:solidFill>
                  <a:schemeClr val="tx1"/>
                </a:solidFill>
              </a:rPr>
              <a:t>cannot easily understand it</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48829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337</Words>
  <Application>Microsoft Office PowerPoint</Application>
  <PresentationFormat>On-screen Show (4:3)</PresentationFormat>
  <Paragraphs>26</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Size Oriented Metrics </vt:lpstr>
      <vt:lpstr>Size Oriented Metrics </vt:lpstr>
      <vt:lpstr>Size Oriented Metrics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Size Oriented Metrics</dc:title>
  <dc:creator>tara</dc:creator>
  <cp:lastModifiedBy>tara</cp:lastModifiedBy>
  <cp:revision>2</cp:revision>
  <dcterms:created xsi:type="dcterms:W3CDTF">2022-09-19T06:29:24Z</dcterms:created>
  <dcterms:modified xsi:type="dcterms:W3CDTF">2022-09-19T07:28:25Z</dcterms:modified>
</cp:coreProperties>
</file>