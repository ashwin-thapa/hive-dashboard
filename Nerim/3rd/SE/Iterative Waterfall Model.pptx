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0D55099-B429-491C-8701-431CCE0FD71E}"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4085148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D55099-B429-491C-8701-431CCE0FD71E}"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2669787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D55099-B429-491C-8701-431CCE0FD71E}"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3829369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0D55099-B429-491C-8701-431CCE0FD71E}" type="datetimeFigureOut">
              <a:rPr lang="en-US" smtClean="0"/>
              <a:t>9/9/2022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156814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0D55099-B429-491C-8701-431CCE0FD71E}" type="datetimeFigureOut">
              <a:rPr lang="en-US" smtClean="0"/>
              <a:t>9/9/2022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2860370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0D55099-B429-491C-8701-431CCE0FD71E}" type="datetimeFigureOut">
              <a:rPr lang="en-US" smtClean="0"/>
              <a:t>9/9/2022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2845506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D55099-B429-491C-8701-431CCE0FD71E}" type="datetimeFigureOut">
              <a:rPr lang="en-US" smtClean="0"/>
              <a:t>9/9/2022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888548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D55099-B429-491C-8701-431CCE0FD71E}" type="datetimeFigureOut">
              <a:rPr lang="en-US" smtClean="0"/>
              <a:t>9/9/2022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2173289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D55099-B429-491C-8701-431CCE0FD71E}" type="datetimeFigureOut">
              <a:rPr lang="en-US" smtClean="0"/>
              <a:t>9/9/2022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1287376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D55099-B429-491C-8701-431CCE0FD71E}"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20593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D55099-B429-491C-8701-431CCE0FD71E}" type="datetimeFigureOut">
              <a:rPr lang="en-US" smtClean="0"/>
              <a:t>9/9/2022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ADF393-DB36-4211-8D2B-D5CC2C624A17}" type="slidenum">
              <a:rPr lang="en-US" smtClean="0"/>
              <a:t>‹#›</a:t>
            </a:fld>
            <a:endParaRPr lang="en-US"/>
          </a:p>
        </p:txBody>
      </p:sp>
    </p:spTree>
    <p:extLst>
      <p:ext uri="{BB962C8B-B14F-4D97-AF65-F5344CB8AC3E}">
        <p14:creationId xmlns:p14="http://schemas.microsoft.com/office/powerpoint/2010/main" val="341332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D55099-B429-491C-8701-431CCE0FD71E}" type="datetimeFigureOut">
              <a:rPr lang="en-US" smtClean="0"/>
              <a:t>9/9/2022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ADF393-DB36-4211-8D2B-D5CC2C624A17}" type="slidenum">
              <a:rPr lang="en-US" smtClean="0"/>
              <a:t>‹#›</a:t>
            </a:fld>
            <a:endParaRPr lang="en-US"/>
          </a:p>
        </p:txBody>
      </p:sp>
    </p:spTree>
    <p:extLst>
      <p:ext uri="{BB962C8B-B14F-4D97-AF65-F5344CB8AC3E}">
        <p14:creationId xmlns:p14="http://schemas.microsoft.com/office/powerpoint/2010/main" val="2272427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geeksforgeeks.org/software-engineering-classical-waterfall-mode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990599"/>
          </a:xfrm>
        </p:spPr>
        <p:txBody>
          <a:bodyPr>
            <a:normAutofit fontScale="90000"/>
          </a:bodyPr>
          <a:lstStyle/>
          <a:p>
            <a:r>
              <a:rPr lang="en-US" b="1" dirty="0">
                <a:solidFill>
                  <a:srgbClr val="C00000"/>
                </a:solidFill>
                <a:latin typeface="Times New Roman" pitchFamily="18" charset="0"/>
                <a:cs typeface="Times New Roman" pitchFamily="18" charset="0"/>
              </a:rPr>
              <a:t>Iterative Waterfall Model</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1600200"/>
            <a:ext cx="7924800" cy="5029200"/>
          </a:xfrm>
        </p:spPr>
        <p:txBody>
          <a:bodyPr>
            <a:normAutofit fontScale="92500" lnSpcReduction="20000"/>
          </a:bodyPr>
          <a:lstStyle/>
          <a:p>
            <a:pPr algn="just" fontAlgn="base"/>
            <a:r>
              <a:rPr lang="en-US" dirty="0">
                <a:solidFill>
                  <a:schemeClr val="tx1"/>
                </a:solidFill>
              </a:rPr>
              <a:t>In a practical software development project, the </a:t>
            </a:r>
            <a:r>
              <a:rPr lang="en-US" u="sng" dirty="0" smtClean="0">
                <a:solidFill>
                  <a:schemeClr val="tx1"/>
                </a:solidFill>
                <a:hlinkClick r:id="rId2"/>
              </a:rPr>
              <a:t>classical </a:t>
            </a:r>
            <a:r>
              <a:rPr lang="en-US" u="sng" dirty="0">
                <a:solidFill>
                  <a:schemeClr val="tx1"/>
                </a:solidFill>
                <a:hlinkClick r:id="rId2"/>
              </a:rPr>
              <a:t>waterfall model</a:t>
            </a:r>
            <a:r>
              <a:rPr lang="en-US" dirty="0">
                <a:solidFill>
                  <a:schemeClr val="tx1"/>
                </a:solidFill>
              </a:rPr>
              <a:t> is hard to use. So, the Iterative waterfall model can be thought of as incorporating the necessary changes to the classical waterfall model to make it usable in practical software development projects. It is almost the same as the classical waterfall model except some changes are made to increase the efficiency of the software development. </a:t>
            </a:r>
          </a:p>
          <a:p>
            <a:pPr algn="just" fontAlgn="base"/>
            <a:r>
              <a:rPr lang="en-US" dirty="0" smtClean="0">
                <a:solidFill>
                  <a:schemeClr val="tx1"/>
                </a:solidFill>
              </a:rPr>
              <a:t>	The </a:t>
            </a:r>
            <a:r>
              <a:rPr lang="en-US" dirty="0">
                <a:solidFill>
                  <a:schemeClr val="tx1"/>
                </a:solidFill>
              </a:rPr>
              <a:t>iterative waterfall model provides feedback paths from every phase to its preceding phases, which is the main difference from the classical waterfall model. </a:t>
            </a:r>
          </a:p>
          <a:p>
            <a:pPr algn="just"/>
            <a:endParaRPr lang="en-US" dirty="0">
              <a:solidFill>
                <a:schemeClr val="tx1"/>
              </a:solidFill>
            </a:endParaRPr>
          </a:p>
        </p:txBody>
      </p:sp>
    </p:spTree>
    <p:extLst>
      <p:ext uri="{BB962C8B-B14F-4D97-AF65-F5344CB8AC3E}">
        <p14:creationId xmlns:p14="http://schemas.microsoft.com/office/powerpoint/2010/main" val="205563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990599"/>
          </a:xfrm>
        </p:spPr>
        <p:txBody>
          <a:bodyPr>
            <a:normAutofit fontScale="90000"/>
          </a:bodyPr>
          <a:lstStyle/>
          <a:p>
            <a:r>
              <a:rPr lang="en-US" b="1" dirty="0">
                <a:solidFill>
                  <a:srgbClr val="C00000"/>
                </a:solidFill>
                <a:latin typeface="Times New Roman" pitchFamily="18" charset="0"/>
                <a:cs typeface="Times New Roman" pitchFamily="18" charset="0"/>
              </a:rPr>
              <a:t>Iterative Waterfall Model</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1295400"/>
            <a:ext cx="7924800" cy="5334000"/>
          </a:xfrm>
        </p:spPr>
        <p:txBody>
          <a:bodyPr>
            <a:normAutofit/>
          </a:bodyPr>
          <a:lstStyle/>
          <a:p>
            <a:pPr algn="just" fontAlgn="base"/>
            <a:r>
              <a:rPr lang="en-US" dirty="0">
                <a:solidFill>
                  <a:schemeClr val="tx1"/>
                </a:solidFill>
                <a:latin typeface="Times New Roman" pitchFamily="18" charset="0"/>
                <a:cs typeface="Times New Roman" pitchFamily="18" charset="0"/>
              </a:rPr>
              <a:t>Feedback paths introduced by the iterative waterfall model are shown in the figure </a:t>
            </a:r>
            <a:r>
              <a:rPr lang="en-US" dirty="0" smtClean="0">
                <a:solidFill>
                  <a:schemeClr val="tx1"/>
                </a:solidFill>
                <a:latin typeface="Times New Roman" pitchFamily="18" charset="0"/>
                <a:cs typeface="Times New Roman" pitchFamily="18" charset="0"/>
              </a:rPr>
              <a:t>below:- </a:t>
            </a:r>
          </a:p>
          <a:p>
            <a:pPr algn="just" fontAlgn="base"/>
            <a:endParaRPr lang="en-US" dirty="0">
              <a:solidFill>
                <a:schemeClr val="tx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667000"/>
            <a:ext cx="6815232"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7041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990599"/>
          </a:xfrm>
        </p:spPr>
        <p:txBody>
          <a:bodyPr>
            <a:normAutofit fontScale="90000"/>
          </a:bodyPr>
          <a:lstStyle/>
          <a:p>
            <a:r>
              <a:rPr lang="en-US" b="1" dirty="0">
                <a:solidFill>
                  <a:srgbClr val="C00000"/>
                </a:solidFill>
                <a:latin typeface="Times New Roman" pitchFamily="18" charset="0"/>
                <a:cs typeface="Times New Roman" pitchFamily="18" charset="0"/>
              </a:rPr>
              <a:t>Iterative Waterfall Model</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1295400"/>
            <a:ext cx="7924800" cy="5334000"/>
          </a:xfrm>
        </p:spPr>
        <p:txBody>
          <a:bodyPr>
            <a:normAutofit fontScale="92500" lnSpcReduction="10000"/>
          </a:bodyPr>
          <a:lstStyle/>
          <a:p>
            <a:pPr algn="just" fontAlgn="base"/>
            <a:r>
              <a:rPr lang="en-US" dirty="0">
                <a:solidFill>
                  <a:schemeClr val="tx1"/>
                </a:solidFill>
                <a:latin typeface="Times New Roman" pitchFamily="18" charset="0"/>
                <a:cs typeface="Times New Roman" pitchFamily="18" charset="0"/>
              </a:rPr>
              <a:t>When errors are detected at some later phase, these feedback paths allow correcting errors committed by programmers during some phase. The feedback paths allow the phase to be reworked in which errors are committed and these changes are reflected in the later phases. But, there is no feedback path to the stage – feasibility study, because once a project has been taken, does not give up the project easily. </a:t>
            </a:r>
          </a:p>
          <a:p>
            <a:pPr algn="just" fontAlgn="base"/>
            <a:r>
              <a:rPr lang="en-US" dirty="0" smtClean="0">
                <a:solidFill>
                  <a:schemeClr val="tx1"/>
                </a:solidFill>
                <a:latin typeface="Times New Roman" pitchFamily="18" charset="0"/>
                <a:cs typeface="Times New Roman" pitchFamily="18" charset="0"/>
              </a:rPr>
              <a:t>	It </a:t>
            </a:r>
            <a:r>
              <a:rPr lang="en-US" dirty="0">
                <a:solidFill>
                  <a:schemeClr val="tx1"/>
                </a:solidFill>
                <a:latin typeface="Times New Roman" pitchFamily="18" charset="0"/>
                <a:cs typeface="Times New Roman" pitchFamily="18" charset="0"/>
              </a:rPr>
              <a:t>is good to detect errors in the same phase in which they are committed. It reduces the effort and time required to correct the errors. </a:t>
            </a:r>
          </a:p>
          <a:p>
            <a:pPr algn="just"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26982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990599"/>
          </a:xfrm>
        </p:spPr>
        <p:txBody>
          <a:bodyPr>
            <a:normAutofit fontScale="90000"/>
          </a:bodyPr>
          <a:lstStyle/>
          <a:p>
            <a:r>
              <a:rPr lang="en-US" b="1" dirty="0">
                <a:solidFill>
                  <a:srgbClr val="C00000"/>
                </a:solidFill>
                <a:latin typeface="Times New Roman" pitchFamily="18" charset="0"/>
                <a:cs typeface="Times New Roman" pitchFamily="18" charset="0"/>
              </a:rPr>
              <a:t>Iterative Waterfall Model</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1295400"/>
            <a:ext cx="7924800" cy="5334000"/>
          </a:xfrm>
        </p:spPr>
        <p:txBody>
          <a:bodyPr>
            <a:normAutofit fontScale="85000" lnSpcReduction="10000"/>
          </a:bodyPr>
          <a:lstStyle/>
          <a:p>
            <a:pPr algn="l" fontAlgn="base"/>
            <a:r>
              <a:rPr lang="en-US" b="1" dirty="0">
                <a:solidFill>
                  <a:schemeClr val="tx1"/>
                </a:solidFill>
                <a:latin typeface="Times New Roman" pitchFamily="18" charset="0"/>
                <a:cs typeface="Times New Roman" pitchFamily="18" charset="0"/>
              </a:rPr>
              <a:t>Advantages of Iterative Waterfall Model </a:t>
            </a:r>
            <a:r>
              <a:rPr lang="en-US" b="1" dirty="0" smtClean="0">
                <a:solidFill>
                  <a:schemeClr val="tx1"/>
                </a:solidFill>
                <a:latin typeface="Times New Roman" pitchFamily="18" charset="0"/>
                <a:cs typeface="Times New Roman" pitchFamily="18" charset="0"/>
              </a:rPr>
              <a:t>:</a:t>
            </a:r>
          </a:p>
          <a:p>
            <a:pPr algn="l" fontAlgn="base"/>
            <a:endParaRPr lang="en-US" dirty="0">
              <a:solidFill>
                <a:schemeClr val="tx1"/>
              </a:solidFill>
              <a:latin typeface="Times New Roman" pitchFamily="18" charset="0"/>
              <a:cs typeface="Times New Roman" pitchFamily="18" charset="0"/>
            </a:endParaRPr>
          </a:p>
          <a:p>
            <a:pPr algn="l" fontAlgn="base"/>
            <a:r>
              <a:rPr lang="en-US" b="1" dirty="0">
                <a:solidFill>
                  <a:schemeClr val="tx1"/>
                </a:solidFill>
                <a:latin typeface="Times New Roman" pitchFamily="18" charset="0"/>
                <a:cs typeface="Times New Roman" pitchFamily="18" charset="0"/>
              </a:rPr>
              <a:t>Feedback Path –</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In the classical waterfall model, there are no feedback paths, so there is no mechanism for error correction. But in the iterative waterfall model feedback path from one phase to its preceding phase allows correcting the errors that are committed and these changes are reflected in the later phases.</a:t>
            </a:r>
          </a:p>
          <a:p>
            <a:pPr algn="l" fontAlgn="base"/>
            <a:r>
              <a:rPr lang="en-US" b="1" dirty="0">
                <a:solidFill>
                  <a:schemeClr val="tx1"/>
                </a:solidFill>
                <a:latin typeface="Times New Roman" pitchFamily="18" charset="0"/>
                <a:cs typeface="Times New Roman" pitchFamily="18" charset="0"/>
              </a:rPr>
              <a:t>Simple –</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Iterative waterfall model is very simple to understand and use. That’s why it is one of the most widely used software development models.</a:t>
            </a:r>
          </a:p>
          <a:p>
            <a:pPr algn="l"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63376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990599"/>
          </a:xfrm>
        </p:spPr>
        <p:txBody>
          <a:bodyPr>
            <a:normAutofit fontScale="90000"/>
          </a:bodyPr>
          <a:lstStyle/>
          <a:p>
            <a:r>
              <a:rPr lang="en-US" b="1" dirty="0">
                <a:solidFill>
                  <a:srgbClr val="C00000"/>
                </a:solidFill>
                <a:latin typeface="Times New Roman" pitchFamily="18" charset="0"/>
                <a:cs typeface="Times New Roman" pitchFamily="18" charset="0"/>
              </a:rPr>
              <a:t>Iterative Waterfall Model</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1295400"/>
            <a:ext cx="7924800" cy="5334000"/>
          </a:xfrm>
        </p:spPr>
        <p:txBody>
          <a:bodyPr>
            <a:normAutofit/>
          </a:bodyPr>
          <a:lstStyle/>
          <a:p>
            <a:pPr algn="l" fontAlgn="base"/>
            <a:r>
              <a:rPr lang="en-US" b="1" dirty="0">
                <a:solidFill>
                  <a:schemeClr val="tx1"/>
                </a:solidFill>
                <a:latin typeface="Times New Roman" pitchFamily="18" charset="0"/>
                <a:cs typeface="Times New Roman" pitchFamily="18" charset="0"/>
              </a:rPr>
              <a:t>Advantages of Iterative Waterfall Model </a:t>
            </a:r>
            <a:r>
              <a:rPr lang="en-US" b="1" dirty="0" smtClean="0">
                <a:solidFill>
                  <a:schemeClr val="tx1"/>
                </a:solidFill>
                <a:latin typeface="Times New Roman" pitchFamily="18" charset="0"/>
                <a:cs typeface="Times New Roman" pitchFamily="18" charset="0"/>
              </a:rPr>
              <a:t>:</a:t>
            </a:r>
          </a:p>
          <a:p>
            <a:pPr algn="l" fontAlgn="base"/>
            <a:r>
              <a:rPr lang="en-US" b="1" dirty="0" smtClean="0">
                <a:solidFill>
                  <a:schemeClr val="tx1"/>
                </a:solidFill>
                <a:latin typeface="Times New Roman" pitchFamily="18" charset="0"/>
                <a:cs typeface="Times New Roman" pitchFamily="18" charset="0"/>
              </a:rPr>
              <a:t>Cost-Effective </a:t>
            </a:r>
            <a:r>
              <a:rPr lang="en-US" b="1" dirty="0">
                <a:solidFill>
                  <a:schemeClr val="tx1"/>
                </a:solidFill>
                <a:latin typeface="Times New Roman" pitchFamily="18" charset="0"/>
                <a:cs typeface="Times New Roman" pitchFamily="18" charset="0"/>
              </a:rPr>
              <a:t>–</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It is highly cost-effective to change the plan or requirements in the model. Moreover, it is best suited for agile organizations.</a:t>
            </a:r>
          </a:p>
          <a:p>
            <a:pPr algn="l" fontAlgn="base"/>
            <a:r>
              <a:rPr lang="en-US" b="1" dirty="0">
                <a:solidFill>
                  <a:schemeClr val="tx1"/>
                </a:solidFill>
                <a:latin typeface="Times New Roman" pitchFamily="18" charset="0"/>
                <a:cs typeface="Times New Roman" pitchFamily="18" charset="0"/>
              </a:rPr>
              <a:t>Well-organized –</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In this model, less time is consumed on documenting and the team can spend more time on development and designing.</a:t>
            </a:r>
          </a:p>
          <a:p>
            <a:pPr algn="l"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7606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990599"/>
          </a:xfrm>
        </p:spPr>
        <p:txBody>
          <a:bodyPr>
            <a:normAutofit fontScale="90000"/>
          </a:bodyPr>
          <a:lstStyle/>
          <a:p>
            <a:r>
              <a:rPr lang="en-US" b="1" dirty="0">
                <a:solidFill>
                  <a:srgbClr val="C00000"/>
                </a:solidFill>
                <a:latin typeface="Times New Roman" pitchFamily="18" charset="0"/>
                <a:cs typeface="Times New Roman" pitchFamily="18" charset="0"/>
              </a:rPr>
              <a:t>Iterative Waterfall Model</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1295400"/>
            <a:ext cx="7924800" cy="5334000"/>
          </a:xfrm>
        </p:spPr>
        <p:txBody>
          <a:bodyPr>
            <a:normAutofit fontScale="77500" lnSpcReduction="20000"/>
          </a:bodyPr>
          <a:lstStyle/>
          <a:p>
            <a:pPr algn="l" fontAlgn="base"/>
            <a:r>
              <a:rPr lang="en-US" b="1" dirty="0">
                <a:solidFill>
                  <a:schemeClr val="tx1"/>
                </a:solidFill>
                <a:latin typeface="Times New Roman" pitchFamily="18" charset="0"/>
                <a:cs typeface="Times New Roman" pitchFamily="18" charset="0"/>
              </a:rPr>
              <a:t>Drawbacks of Iterative Waterfall Model </a:t>
            </a:r>
            <a:r>
              <a:rPr lang="en-US" b="1" dirty="0" smtClean="0">
                <a:solidFill>
                  <a:schemeClr val="tx1"/>
                </a:solidFill>
                <a:latin typeface="Times New Roman" pitchFamily="18" charset="0"/>
                <a:cs typeface="Times New Roman" pitchFamily="18" charset="0"/>
              </a:rPr>
              <a:t>:</a:t>
            </a:r>
          </a:p>
          <a:p>
            <a:pPr algn="l" fontAlgn="base"/>
            <a:endParaRPr lang="en-US" dirty="0">
              <a:solidFill>
                <a:schemeClr val="tx1"/>
              </a:solidFill>
              <a:latin typeface="Times New Roman" pitchFamily="18" charset="0"/>
              <a:cs typeface="Times New Roman" pitchFamily="18" charset="0"/>
            </a:endParaRPr>
          </a:p>
          <a:p>
            <a:pPr algn="l" fontAlgn="base"/>
            <a:r>
              <a:rPr lang="en-US" b="1" dirty="0" smtClean="0">
                <a:solidFill>
                  <a:schemeClr val="tx1"/>
                </a:solidFill>
                <a:latin typeface="Times New Roman" pitchFamily="18" charset="0"/>
                <a:cs typeface="Times New Roman" pitchFamily="18" charset="0"/>
              </a:rPr>
              <a:t>1. Difficult </a:t>
            </a:r>
            <a:r>
              <a:rPr lang="en-US" b="1" dirty="0">
                <a:solidFill>
                  <a:schemeClr val="tx1"/>
                </a:solidFill>
                <a:latin typeface="Times New Roman" pitchFamily="18" charset="0"/>
                <a:cs typeface="Times New Roman" pitchFamily="18" charset="0"/>
              </a:rPr>
              <a:t>to incorporate change requests –</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The major drawback of the iterative waterfall model is that all the requirements must be clearly stated before starting the development phase. Customers may change requirements after some time but the iterative waterfall model does not leave any scope to incorporate change requests that are made after the development phase starts.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 </a:t>
            </a:r>
          </a:p>
          <a:p>
            <a:pPr algn="l" fontAlgn="base"/>
            <a:r>
              <a:rPr lang="en-US" b="1" dirty="0" smtClean="0">
                <a:solidFill>
                  <a:schemeClr val="tx1"/>
                </a:solidFill>
                <a:latin typeface="Times New Roman" pitchFamily="18" charset="0"/>
                <a:cs typeface="Times New Roman" pitchFamily="18" charset="0"/>
              </a:rPr>
              <a:t>2. Incremental </a:t>
            </a:r>
            <a:r>
              <a:rPr lang="en-US" b="1" dirty="0">
                <a:solidFill>
                  <a:schemeClr val="tx1"/>
                </a:solidFill>
                <a:latin typeface="Times New Roman" pitchFamily="18" charset="0"/>
                <a:cs typeface="Times New Roman" pitchFamily="18" charset="0"/>
              </a:rPr>
              <a:t>delivery not supported –</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In the iterative waterfall model, the full software is completely developed and tested before delivery to the customer. There is no scope for any intermediate delivery. So, customers have to wait a long for getting the software. </a:t>
            </a:r>
          </a:p>
          <a:p>
            <a:pPr algn="l"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54439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990599"/>
          </a:xfrm>
        </p:spPr>
        <p:txBody>
          <a:bodyPr>
            <a:normAutofit fontScale="90000"/>
          </a:bodyPr>
          <a:lstStyle/>
          <a:p>
            <a:r>
              <a:rPr lang="en-US" b="1" dirty="0">
                <a:solidFill>
                  <a:srgbClr val="C00000"/>
                </a:solidFill>
                <a:latin typeface="Times New Roman" pitchFamily="18" charset="0"/>
                <a:cs typeface="Times New Roman" pitchFamily="18" charset="0"/>
              </a:rPr>
              <a:t>Iterative Waterfall Model</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1295400"/>
            <a:ext cx="7924800" cy="5334000"/>
          </a:xfrm>
        </p:spPr>
        <p:txBody>
          <a:bodyPr>
            <a:normAutofit fontScale="92500" lnSpcReduction="20000"/>
          </a:bodyPr>
          <a:lstStyle/>
          <a:p>
            <a:pPr algn="l" fontAlgn="base"/>
            <a:r>
              <a:rPr lang="en-US" b="1" dirty="0">
                <a:solidFill>
                  <a:schemeClr val="tx1"/>
                </a:solidFill>
                <a:latin typeface="Times New Roman" pitchFamily="18" charset="0"/>
                <a:cs typeface="Times New Roman" pitchFamily="18" charset="0"/>
              </a:rPr>
              <a:t>Drawbacks of Iterative Waterfall Model </a:t>
            </a:r>
            <a:r>
              <a:rPr lang="en-US" b="1" dirty="0" smtClean="0">
                <a:solidFill>
                  <a:schemeClr val="tx1"/>
                </a:solidFill>
                <a:latin typeface="Times New Roman" pitchFamily="18" charset="0"/>
                <a:cs typeface="Times New Roman" pitchFamily="18" charset="0"/>
              </a:rPr>
              <a:t>:</a:t>
            </a:r>
          </a:p>
          <a:p>
            <a:pPr algn="l" fontAlgn="base"/>
            <a:endParaRPr lang="en-US" dirty="0">
              <a:solidFill>
                <a:schemeClr val="tx1"/>
              </a:solidFill>
              <a:latin typeface="Times New Roman" pitchFamily="18" charset="0"/>
              <a:cs typeface="Times New Roman" pitchFamily="18" charset="0"/>
            </a:endParaRPr>
          </a:p>
          <a:p>
            <a:pPr algn="l" fontAlgn="base"/>
            <a:r>
              <a:rPr lang="en-US" b="1" dirty="0" smtClean="0">
                <a:solidFill>
                  <a:schemeClr val="tx1"/>
                </a:solidFill>
                <a:latin typeface="Times New Roman" pitchFamily="18" charset="0"/>
                <a:cs typeface="Times New Roman" pitchFamily="18" charset="0"/>
              </a:rPr>
              <a:t>3. Overlapping </a:t>
            </a:r>
            <a:r>
              <a:rPr lang="en-US" b="1" dirty="0">
                <a:solidFill>
                  <a:schemeClr val="tx1"/>
                </a:solidFill>
                <a:latin typeface="Times New Roman" pitchFamily="18" charset="0"/>
                <a:cs typeface="Times New Roman" pitchFamily="18" charset="0"/>
              </a:rPr>
              <a:t>of phases not supported –</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Iterative waterfall model assumes that one phase can start after completion of the previous phase, But in real projects, phases may overlap to reduce the effort and time needed to complete the project.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 </a:t>
            </a:r>
          </a:p>
          <a:p>
            <a:pPr algn="l" fontAlgn="base"/>
            <a:r>
              <a:rPr lang="en-US" b="1" dirty="0" smtClean="0">
                <a:solidFill>
                  <a:schemeClr val="tx1"/>
                </a:solidFill>
                <a:latin typeface="Times New Roman" pitchFamily="18" charset="0"/>
                <a:cs typeface="Times New Roman" pitchFamily="18" charset="0"/>
              </a:rPr>
              <a:t>4. Risk </a:t>
            </a:r>
            <a:r>
              <a:rPr lang="en-US" b="1" dirty="0">
                <a:solidFill>
                  <a:schemeClr val="tx1"/>
                </a:solidFill>
                <a:latin typeface="Times New Roman" pitchFamily="18" charset="0"/>
                <a:cs typeface="Times New Roman" pitchFamily="18" charset="0"/>
              </a:rPr>
              <a:t>handling not supported –</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Projects may suffer from various types of risks. But, the Iterative waterfall model has no mechanism for risk handling. </a:t>
            </a:r>
          </a:p>
          <a:p>
            <a:pPr algn="l" fontAlgn="base"/>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35569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990599"/>
          </a:xfrm>
        </p:spPr>
        <p:txBody>
          <a:bodyPr>
            <a:normAutofit fontScale="90000"/>
          </a:bodyPr>
          <a:lstStyle/>
          <a:p>
            <a:r>
              <a:rPr lang="en-US" b="1" dirty="0">
                <a:solidFill>
                  <a:srgbClr val="C00000"/>
                </a:solidFill>
                <a:latin typeface="Times New Roman" pitchFamily="18" charset="0"/>
                <a:cs typeface="Times New Roman" pitchFamily="18" charset="0"/>
              </a:rPr>
              <a:t>Iterative Waterfall Model</a:t>
            </a:r>
            <a:br>
              <a:rPr lang="en-US" b="1" dirty="0">
                <a:solidFill>
                  <a:srgbClr val="C00000"/>
                </a:solidFill>
                <a:latin typeface="Times New Roman" pitchFamily="18" charset="0"/>
                <a:cs typeface="Times New Roman" pitchFamily="18" charset="0"/>
              </a:rPr>
            </a:br>
            <a:endParaRPr lang="en-US" dirty="0">
              <a:solidFill>
                <a:srgbClr val="C0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685800" y="1295400"/>
            <a:ext cx="7924800" cy="5334000"/>
          </a:xfrm>
        </p:spPr>
        <p:txBody>
          <a:bodyPr>
            <a:normAutofit/>
          </a:bodyPr>
          <a:lstStyle/>
          <a:p>
            <a:pPr algn="l" fontAlgn="base"/>
            <a:r>
              <a:rPr lang="en-US" b="1" dirty="0">
                <a:solidFill>
                  <a:schemeClr val="tx1"/>
                </a:solidFill>
                <a:latin typeface="Times New Roman" pitchFamily="18" charset="0"/>
                <a:cs typeface="Times New Roman" pitchFamily="18" charset="0"/>
              </a:rPr>
              <a:t>Drawbacks of Iterative Waterfall Model </a:t>
            </a:r>
            <a:r>
              <a:rPr lang="en-US" b="1" dirty="0" smtClean="0">
                <a:solidFill>
                  <a:schemeClr val="tx1"/>
                </a:solidFill>
                <a:latin typeface="Times New Roman" pitchFamily="18" charset="0"/>
                <a:cs typeface="Times New Roman" pitchFamily="18" charset="0"/>
              </a:rPr>
              <a:t>:</a:t>
            </a:r>
          </a:p>
          <a:p>
            <a:pPr algn="l" fontAlgn="base"/>
            <a:endParaRPr lang="en-US" dirty="0">
              <a:solidFill>
                <a:schemeClr val="tx1"/>
              </a:solidFill>
              <a:latin typeface="Times New Roman" pitchFamily="18" charset="0"/>
              <a:cs typeface="Times New Roman" pitchFamily="18" charset="0"/>
            </a:endParaRPr>
          </a:p>
          <a:p>
            <a:pPr algn="l" fontAlgn="base"/>
            <a:r>
              <a:rPr lang="en-US" b="1" dirty="0" smtClean="0">
                <a:solidFill>
                  <a:schemeClr val="tx1"/>
                </a:solidFill>
                <a:latin typeface="Times New Roman" pitchFamily="18" charset="0"/>
                <a:cs typeface="Times New Roman" pitchFamily="18" charset="0"/>
              </a:rPr>
              <a:t>5. Limited </a:t>
            </a:r>
            <a:r>
              <a:rPr lang="en-US" b="1" dirty="0">
                <a:solidFill>
                  <a:schemeClr val="tx1"/>
                </a:solidFill>
                <a:latin typeface="Times New Roman" pitchFamily="18" charset="0"/>
                <a:cs typeface="Times New Roman" pitchFamily="18" charset="0"/>
              </a:rPr>
              <a:t>customer interactions –</a:t>
            </a:r>
            <a:r>
              <a:rPr lang="en-US" dirty="0" smtClean="0">
                <a:solidFill>
                  <a:schemeClr val="tx1"/>
                </a:solidFill>
                <a:latin typeface="Times New Roman" pitchFamily="18" charset="0"/>
                <a:cs typeface="Times New Roman" pitchFamily="18" charset="0"/>
              </a:rPr>
              <a:t/>
            </a:r>
            <a:br>
              <a:rPr lang="en-US" dirty="0" smtClean="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Customer interaction occurs at the start of the project at the time of requirement gathering and at project completion at the time of software delivery. These fewer interactions with the customers may lead to many problems as the finally developed software may differ from the customers’ actual requirements.</a:t>
            </a:r>
          </a:p>
        </p:txBody>
      </p:sp>
    </p:spTree>
    <p:extLst>
      <p:ext uri="{BB962C8B-B14F-4D97-AF65-F5344CB8AC3E}">
        <p14:creationId xmlns:p14="http://schemas.microsoft.com/office/powerpoint/2010/main" val="3278687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180</Words>
  <Application>Microsoft Office PowerPoint</Application>
  <PresentationFormat>On-screen Show (4:3)</PresentationFormat>
  <Paragraphs>31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Iterative Waterfall Model </vt:lpstr>
      <vt:lpstr>Iterative Waterfall Model </vt:lpstr>
      <vt:lpstr>Iterative Waterfall Model </vt:lpstr>
      <vt:lpstr>Iterative Waterfall Model </vt:lpstr>
      <vt:lpstr>Iterative Waterfall Model </vt:lpstr>
      <vt:lpstr>Iterative Waterfall Model </vt:lpstr>
      <vt:lpstr>Iterative Waterfall Model </vt:lpstr>
      <vt:lpstr>Iterative Waterfall Model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Iterative Waterfall Model</dc:title>
  <dc:creator>tara</dc:creator>
  <cp:lastModifiedBy>tara</cp:lastModifiedBy>
  <cp:revision>2</cp:revision>
  <dcterms:created xsi:type="dcterms:W3CDTF">2022-09-09T07:23:10Z</dcterms:created>
  <dcterms:modified xsi:type="dcterms:W3CDTF">2022-09-09T07:38:21Z</dcterms:modified>
</cp:coreProperties>
</file>