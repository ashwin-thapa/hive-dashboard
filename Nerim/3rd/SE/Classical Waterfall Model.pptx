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9608B7D-F526-452C-B579-E601AA871774}" type="datetimeFigureOut">
              <a:rPr lang="en-US" smtClean="0"/>
              <a:t>9/9/2022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ACF66-6786-4CD7-B1AF-F78370391845}" type="slidenum">
              <a:rPr lang="en-US" smtClean="0"/>
              <a:t>‹#›</a:t>
            </a:fld>
            <a:endParaRPr lang="en-US"/>
          </a:p>
        </p:txBody>
      </p:sp>
    </p:spTree>
    <p:extLst>
      <p:ext uri="{BB962C8B-B14F-4D97-AF65-F5344CB8AC3E}">
        <p14:creationId xmlns:p14="http://schemas.microsoft.com/office/powerpoint/2010/main" val="154273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608B7D-F526-452C-B579-E601AA871774}" type="datetimeFigureOut">
              <a:rPr lang="en-US" smtClean="0"/>
              <a:t>9/9/2022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ACF66-6786-4CD7-B1AF-F78370391845}" type="slidenum">
              <a:rPr lang="en-US" smtClean="0"/>
              <a:t>‹#›</a:t>
            </a:fld>
            <a:endParaRPr lang="en-US"/>
          </a:p>
        </p:txBody>
      </p:sp>
    </p:spTree>
    <p:extLst>
      <p:ext uri="{BB962C8B-B14F-4D97-AF65-F5344CB8AC3E}">
        <p14:creationId xmlns:p14="http://schemas.microsoft.com/office/powerpoint/2010/main" val="4019738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9608B7D-F526-452C-B579-E601AA871774}" type="datetimeFigureOut">
              <a:rPr lang="en-US" smtClean="0"/>
              <a:t>9/9/2022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ACF66-6786-4CD7-B1AF-F78370391845}" type="slidenum">
              <a:rPr lang="en-US" smtClean="0"/>
              <a:t>‹#›</a:t>
            </a:fld>
            <a:endParaRPr lang="en-US"/>
          </a:p>
        </p:txBody>
      </p:sp>
    </p:spTree>
    <p:extLst>
      <p:ext uri="{BB962C8B-B14F-4D97-AF65-F5344CB8AC3E}">
        <p14:creationId xmlns:p14="http://schemas.microsoft.com/office/powerpoint/2010/main" val="2366292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9608B7D-F526-452C-B579-E601AA871774}" type="datetimeFigureOut">
              <a:rPr lang="en-US" smtClean="0"/>
              <a:t>9/9/2022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ACF66-6786-4CD7-B1AF-F78370391845}" type="slidenum">
              <a:rPr lang="en-US" smtClean="0"/>
              <a:t>‹#›</a:t>
            </a:fld>
            <a:endParaRPr lang="en-US"/>
          </a:p>
        </p:txBody>
      </p:sp>
    </p:spTree>
    <p:extLst>
      <p:ext uri="{BB962C8B-B14F-4D97-AF65-F5344CB8AC3E}">
        <p14:creationId xmlns:p14="http://schemas.microsoft.com/office/powerpoint/2010/main" val="4055969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9608B7D-F526-452C-B579-E601AA871774}" type="datetimeFigureOut">
              <a:rPr lang="en-US" smtClean="0"/>
              <a:t>9/9/2022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BACF66-6786-4CD7-B1AF-F78370391845}" type="slidenum">
              <a:rPr lang="en-US" smtClean="0"/>
              <a:t>‹#›</a:t>
            </a:fld>
            <a:endParaRPr lang="en-US"/>
          </a:p>
        </p:txBody>
      </p:sp>
    </p:spTree>
    <p:extLst>
      <p:ext uri="{BB962C8B-B14F-4D97-AF65-F5344CB8AC3E}">
        <p14:creationId xmlns:p14="http://schemas.microsoft.com/office/powerpoint/2010/main" val="1402891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9608B7D-F526-452C-B579-E601AA871774}" type="datetimeFigureOut">
              <a:rPr lang="en-US" smtClean="0"/>
              <a:t>9/9/2022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ACF66-6786-4CD7-B1AF-F78370391845}" type="slidenum">
              <a:rPr lang="en-US" smtClean="0"/>
              <a:t>‹#›</a:t>
            </a:fld>
            <a:endParaRPr lang="en-US"/>
          </a:p>
        </p:txBody>
      </p:sp>
    </p:spTree>
    <p:extLst>
      <p:ext uri="{BB962C8B-B14F-4D97-AF65-F5344CB8AC3E}">
        <p14:creationId xmlns:p14="http://schemas.microsoft.com/office/powerpoint/2010/main" val="1960921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608B7D-F526-452C-B579-E601AA871774}" type="datetimeFigureOut">
              <a:rPr lang="en-US" smtClean="0"/>
              <a:t>9/9/2022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BACF66-6786-4CD7-B1AF-F78370391845}" type="slidenum">
              <a:rPr lang="en-US" smtClean="0"/>
              <a:t>‹#›</a:t>
            </a:fld>
            <a:endParaRPr lang="en-US"/>
          </a:p>
        </p:txBody>
      </p:sp>
    </p:spTree>
    <p:extLst>
      <p:ext uri="{BB962C8B-B14F-4D97-AF65-F5344CB8AC3E}">
        <p14:creationId xmlns:p14="http://schemas.microsoft.com/office/powerpoint/2010/main" val="16394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9608B7D-F526-452C-B579-E601AA871774}" type="datetimeFigureOut">
              <a:rPr lang="en-US" smtClean="0"/>
              <a:t>9/9/2022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ACF66-6786-4CD7-B1AF-F78370391845}" type="slidenum">
              <a:rPr lang="en-US" smtClean="0"/>
              <a:t>‹#›</a:t>
            </a:fld>
            <a:endParaRPr lang="en-US"/>
          </a:p>
        </p:txBody>
      </p:sp>
    </p:spTree>
    <p:extLst>
      <p:ext uri="{BB962C8B-B14F-4D97-AF65-F5344CB8AC3E}">
        <p14:creationId xmlns:p14="http://schemas.microsoft.com/office/powerpoint/2010/main" val="1297498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9608B7D-F526-452C-B579-E601AA871774}" type="datetimeFigureOut">
              <a:rPr lang="en-US" smtClean="0"/>
              <a:t>9/9/2022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ACF66-6786-4CD7-B1AF-F78370391845}" type="slidenum">
              <a:rPr lang="en-US" smtClean="0"/>
              <a:t>‹#›</a:t>
            </a:fld>
            <a:endParaRPr lang="en-US"/>
          </a:p>
        </p:txBody>
      </p:sp>
    </p:spTree>
    <p:extLst>
      <p:ext uri="{BB962C8B-B14F-4D97-AF65-F5344CB8AC3E}">
        <p14:creationId xmlns:p14="http://schemas.microsoft.com/office/powerpoint/2010/main" val="2527489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608B7D-F526-452C-B579-E601AA871774}" type="datetimeFigureOut">
              <a:rPr lang="en-US" smtClean="0"/>
              <a:t>9/9/2022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ACF66-6786-4CD7-B1AF-F78370391845}" type="slidenum">
              <a:rPr lang="en-US" smtClean="0"/>
              <a:t>‹#›</a:t>
            </a:fld>
            <a:endParaRPr lang="en-US"/>
          </a:p>
        </p:txBody>
      </p:sp>
    </p:spTree>
    <p:extLst>
      <p:ext uri="{BB962C8B-B14F-4D97-AF65-F5344CB8AC3E}">
        <p14:creationId xmlns:p14="http://schemas.microsoft.com/office/powerpoint/2010/main" val="1491363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608B7D-F526-452C-B579-E601AA871774}" type="datetimeFigureOut">
              <a:rPr lang="en-US" smtClean="0"/>
              <a:t>9/9/2022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ACF66-6786-4CD7-B1AF-F78370391845}" type="slidenum">
              <a:rPr lang="en-US" smtClean="0"/>
              <a:t>‹#›</a:t>
            </a:fld>
            <a:endParaRPr lang="en-US"/>
          </a:p>
        </p:txBody>
      </p:sp>
    </p:spTree>
    <p:extLst>
      <p:ext uri="{BB962C8B-B14F-4D97-AF65-F5344CB8AC3E}">
        <p14:creationId xmlns:p14="http://schemas.microsoft.com/office/powerpoint/2010/main" val="1504410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608B7D-F526-452C-B579-E601AA871774}" type="datetimeFigureOut">
              <a:rPr lang="en-US" smtClean="0"/>
              <a:t>9/9/2022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BACF66-6786-4CD7-B1AF-F78370391845}" type="slidenum">
              <a:rPr lang="en-US" smtClean="0"/>
              <a:t>‹#›</a:t>
            </a:fld>
            <a:endParaRPr lang="en-US"/>
          </a:p>
        </p:txBody>
      </p:sp>
    </p:spTree>
    <p:extLst>
      <p:ext uri="{BB962C8B-B14F-4D97-AF65-F5344CB8AC3E}">
        <p14:creationId xmlns:p14="http://schemas.microsoft.com/office/powerpoint/2010/main" val="19264890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914400"/>
          </a:xfrm>
        </p:spPr>
        <p:txBody>
          <a:bodyPr>
            <a:normAutofit fontScale="90000"/>
          </a:bodyPr>
          <a:lstStyle/>
          <a:p>
            <a:r>
              <a:rPr lang="en-US" b="1" dirty="0">
                <a:solidFill>
                  <a:srgbClr val="C00000"/>
                </a:solidFill>
              </a:rPr>
              <a:t>Classical Waterfall Model</a:t>
            </a:r>
            <a:br>
              <a:rPr lang="en-US" b="1"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609600" y="1371600"/>
            <a:ext cx="8001000" cy="4953000"/>
          </a:xfrm>
        </p:spPr>
        <p:txBody>
          <a:bodyPr>
            <a:normAutofit fontScale="85000" lnSpcReduction="10000"/>
          </a:bodyPr>
          <a:lstStyle/>
          <a:p>
            <a:pPr algn="just"/>
            <a:r>
              <a:rPr lang="en-US" dirty="0">
                <a:solidFill>
                  <a:schemeClr val="tx1"/>
                </a:solidFill>
                <a:latin typeface="Times New Roman" pitchFamily="18" charset="0"/>
                <a:cs typeface="Times New Roman" pitchFamily="18" charset="0"/>
              </a:rPr>
              <a:t>The classical waterfall model is the basic </a:t>
            </a:r>
            <a:r>
              <a:rPr lang="en-US" b="1" dirty="0">
                <a:solidFill>
                  <a:schemeClr val="tx1"/>
                </a:solidFill>
                <a:latin typeface="Times New Roman" pitchFamily="18" charset="0"/>
                <a:cs typeface="Times New Roman" pitchFamily="18" charset="0"/>
              </a:rPr>
              <a:t>software development life cycle</a:t>
            </a:r>
            <a:r>
              <a:rPr lang="en-US" dirty="0">
                <a:solidFill>
                  <a:schemeClr val="tx1"/>
                </a:solidFill>
                <a:latin typeface="Times New Roman" pitchFamily="18" charset="0"/>
                <a:cs typeface="Times New Roman" pitchFamily="18" charset="0"/>
              </a:rPr>
              <a:t> model. It is very simple but idealistic. Earlier this model was very popular but nowadays it is not used. But it is very important because all the other software development life cycle models are based on the classical waterfall model. </a:t>
            </a:r>
            <a:r>
              <a:rPr lang="en-US" dirty="0" smtClean="0">
                <a:solidFill>
                  <a:schemeClr val="tx1"/>
                </a:solidFill>
                <a:latin typeface="Times New Roman" pitchFamily="18" charset="0"/>
                <a:cs typeface="Times New Roman" pitchFamily="18" charset="0"/>
              </a:rPr>
              <a:t/>
            </a:r>
            <a:br>
              <a:rPr lang="en-US" dirty="0" smtClean="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The classical waterfall model divides the life cycle into a set of phases. This model considers that one phase can be started after the completion of the previous phase. That is the output of one phase will be the input to the next phase. Thus the development process can be considered as a sequential flow in the waterfall. Here the phases do not overlap with each other. </a:t>
            </a:r>
          </a:p>
        </p:txBody>
      </p:sp>
    </p:spTree>
    <p:extLst>
      <p:ext uri="{BB962C8B-B14F-4D97-AF65-F5344CB8AC3E}">
        <p14:creationId xmlns:p14="http://schemas.microsoft.com/office/powerpoint/2010/main" val="3447651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914400"/>
          </a:xfrm>
        </p:spPr>
        <p:txBody>
          <a:bodyPr>
            <a:normAutofit fontScale="90000"/>
          </a:bodyPr>
          <a:lstStyle/>
          <a:p>
            <a:r>
              <a:rPr lang="en-US" b="1" dirty="0">
                <a:solidFill>
                  <a:srgbClr val="C00000"/>
                </a:solidFill>
              </a:rPr>
              <a:t>Classical Waterfall Model</a:t>
            </a:r>
            <a:br>
              <a:rPr lang="en-US" b="1"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609600" y="1371600"/>
            <a:ext cx="8001000" cy="4953000"/>
          </a:xfrm>
        </p:spPr>
        <p:txBody>
          <a:bodyPr>
            <a:normAutofit/>
          </a:bodyPr>
          <a:lstStyle/>
          <a:p>
            <a:pPr algn="just"/>
            <a:r>
              <a:rPr lang="en-US" dirty="0">
                <a:solidFill>
                  <a:schemeClr val="tx1"/>
                </a:solidFill>
              </a:rPr>
              <a:t> The different sequential phases of the classical waterfall </a:t>
            </a:r>
            <a:r>
              <a:rPr lang="en-US" dirty="0" smtClean="0">
                <a:solidFill>
                  <a:schemeClr val="tx1"/>
                </a:solidFill>
              </a:rPr>
              <a:t>model </a:t>
            </a:r>
            <a:r>
              <a:rPr lang="en-US" dirty="0">
                <a:solidFill>
                  <a:schemeClr val="tx1"/>
                </a:solidFill>
              </a:rPr>
              <a:t>are shown in the below figure: </a:t>
            </a:r>
            <a:endParaRPr lang="en-US" dirty="0" smtClean="0">
              <a:solidFill>
                <a:schemeClr val="tx1"/>
              </a:solidFill>
            </a:endParaRPr>
          </a:p>
          <a:p>
            <a:pPr algn="just"/>
            <a:endParaRPr lang="en-US" dirty="0">
              <a:solidFill>
                <a:schemeClr val="tx1"/>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666999"/>
            <a:ext cx="7620000" cy="4082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1168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914400"/>
          </a:xfrm>
        </p:spPr>
        <p:txBody>
          <a:bodyPr>
            <a:normAutofit fontScale="90000"/>
          </a:bodyPr>
          <a:lstStyle/>
          <a:p>
            <a:r>
              <a:rPr lang="en-US" b="1" dirty="0">
                <a:solidFill>
                  <a:srgbClr val="C00000"/>
                </a:solidFill>
              </a:rPr>
              <a:t>Classical Waterfall Model</a:t>
            </a:r>
            <a:br>
              <a:rPr lang="en-US" b="1"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609600" y="1371600"/>
            <a:ext cx="8001000" cy="4953000"/>
          </a:xfrm>
        </p:spPr>
        <p:txBody>
          <a:bodyPr>
            <a:normAutofit fontScale="92500"/>
          </a:bodyPr>
          <a:lstStyle/>
          <a:p>
            <a:pPr algn="just"/>
            <a:r>
              <a:rPr lang="en-US" b="1" dirty="0" smtClean="0">
                <a:solidFill>
                  <a:schemeClr val="tx1"/>
                </a:solidFill>
                <a:latin typeface="Times New Roman" pitchFamily="18" charset="0"/>
                <a:cs typeface="Times New Roman" pitchFamily="18" charset="0"/>
              </a:rPr>
              <a:t>1. Feasibility </a:t>
            </a:r>
            <a:r>
              <a:rPr lang="en-US" b="1" dirty="0">
                <a:solidFill>
                  <a:schemeClr val="tx1"/>
                </a:solidFill>
                <a:latin typeface="Times New Roman" pitchFamily="18" charset="0"/>
                <a:cs typeface="Times New Roman" pitchFamily="18" charset="0"/>
              </a:rPr>
              <a:t>Study</a:t>
            </a:r>
            <a:r>
              <a:rPr lang="en-US" dirty="0">
                <a:solidFill>
                  <a:schemeClr val="tx1"/>
                </a:solidFill>
                <a:latin typeface="Times New Roman" pitchFamily="18" charset="0"/>
                <a:cs typeface="Times New Roman" pitchFamily="18" charset="0"/>
              </a:rPr>
              <a:t>: The main goal of this phase is to determine whether it would be financially and technically feasible to develop </a:t>
            </a:r>
            <a:r>
              <a:rPr lang="en-US" dirty="0" smtClean="0">
                <a:solidFill>
                  <a:schemeClr val="tx1"/>
                </a:solidFill>
                <a:latin typeface="Times New Roman" pitchFamily="18" charset="0"/>
                <a:cs typeface="Times New Roman" pitchFamily="18" charset="0"/>
              </a:rPr>
              <a:t>the software</a:t>
            </a:r>
            <a:r>
              <a:rPr lang="en-US" dirty="0">
                <a:solidFill>
                  <a:schemeClr val="tx1"/>
                </a:solidFill>
                <a:latin typeface="Times New Roman" pitchFamily="18" charset="0"/>
                <a:cs typeface="Times New Roman" pitchFamily="18" charset="0"/>
              </a:rPr>
              <a:t>. </a:t>
            </a:r>
            <a:r>
              <a:rPr lang="en-US" dirty="0" smtClean="0">
                <a:solidFill>
                  <a:schemeClr val="tx1"/>
                </a:solidFill>
                <a:latin typeface="Times New Roman" pitchFamily="18" charset="0"/>
                <a:cs typeface="Times New Roman" pitchFamily="18" charset="0"/>
              </a:rPr>
              <a:t/>
            </a:r>
            <a:br>
              <a:rPr lang="en-US" dirty="0" smtClean="0">
                <a:solidFill>
                  <a:schemeClr val="tx1"/>
                </a:solidFill>
                <a:latin typeface="Times New Roman" pitchFamily="18" charset="0"/>
                <a:cs typeface="Times New Roman" pitchFamily="18" charset="0"/>
              </a:rPr>
            </a:br>
            <a:r>
              <a:rPr lang="en-US" dirty="0" smtClean="0">
                <a:solidFill>
                  <a:schemeClr val="tx1"/>
                </a:solidFill>
                <a:latin typeface="Times New Roman" pitchFamily="18" charset="0"/>
                <a:cs typeface="Times New Roman" pitchFamily="18" charset="0"/>
              </a:rPr>
              <a:t>	The </a:t>
            </a:r>
            <a:r>
              <a:rPr lang="en-US" dirty="0">
                <a:solidFill>
                  <a:schemeClr val="tx1"/>
                </a:solidFill>
                <a:latin typeface="Times New Roman" pitchFamily="18" charset="0"/>
                <a:cs typeface="Times New Roman" pitchFamily="18" charset="0"/>
              </a:rPr>
              <a:t>feasibility study involves understanding the problem and then determining the various possible strategies to solve the problem. These different identified solutions are analyzed based on their benefits and drawbacks, The best solution is chosen and all the other phases are carried out as per this solution strategy. </a:t>
            </a:r>
          </a:p>
        </p:txBody>
      </p:sp>
    </p:spTree>
    <p:extLst>
      <p:ext uri="{BB962C8B-B14F-4D97-AF65-F5344CB8AC3E}">
        <p14:creationId xmlns:p14="http://schemas.microsoft.com/office/powerpoint/2010/main" val="3795437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914400"/>
          </a:xfrm>
        </p:spPr>
        <p:txBody>
          <a:bodyPr>
            <a:normAutofit fontScale="90000"/>
          </a:bodyPr>
          <a:lstStyle/>
          <a:p>
            <a:r>
              <a:rPr lang="en-US" b="1" dirty="0">
                <a:solidFill>
                  <a:srgbClr val="C00000"/>
                </a:solidFill>
              </a:rPr>
              <a:t>Classical Waterfall Model</a:t>
            </a:r>
            <a:br>
              <a:rPr lang="en-US" b="1"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381000" y="1371600"/>
            <a:ext cx="8305800" cy="5486400"/>
          </a:xfrm>
        </p:spPr>
        <p:txBody>
          <a:bodyPr>
            <a:normAutofit fontScale="77500" lnSpcReduction="20000"/>
          </a:bodyPr>
          <a:lstStyle/>
          <a:p>
            <a:pPr algn="just" fontAlgn="base"/>
            <a:r>
              <a:rPr lang="en-US" b="1" dirty="0" smtClean="0">
                <a:solidFill>
                  <a:schemeClr val="tx1"/>
                </a:solidFill>
                <a:latin typeface="Times New Roman" pitchFamily="18" charset="0"/>
                <a:cs typeface="Times New Roman" pitchFamily="18" charset="0"/>
              </a:rPr>
              <a:t>2. </a:t>
            </a:r>
            <a:r>
              <a:rPr lang="en-US" b="1" dirty="0">
                <a:solidFill>
                  <a:schemeClr val="tx1"/>
                </a:solidFill>
                <a:latin typeface="Times New Roman" pitchFamily="18" charset="0"/>
                <a:cs typeface="Times New Roman" pitchFamily="18" charset="0"/>
              </a:rPr>
              <a:t>Requirements analysis and specification</a:t>
            </a:r>
            <a:r>
              <a:rPr lang="en-US" dirty="0">
                <a:solidFill>
                  <a:schemeClr val="tx1"/>
                </a:solidFill>
                <a:latin typeface="Times New Roman" pitchFamily="18" charset="0"/>
                <a:cs typeface="Times New Roman" pitchFamily="18" charset="0"/>
              </a:rPr>
              <a:t>: The aim of the requirement analysis and specification phase is to understand the exact requirements of the customer and document them properly. This phase consists of two different activities. </a:t>
            </a:r>
          </a:p>
          <a:p>
            <a:pPr lvl="1" algn="just" fontAlgn="base"/>
            <a:r>
              <a:rPr lang="en-US" b="1" dirty="0">
                <a:solidFill>
                  <a:schemeClr val="tx1"/>
                </a:solidFill>
                <a:latin typeface="Times New Roman" pitchFamily="18" charset="0"/>
                <a:cs typeface="Times New Roman" pitchFamily="18" charset="0"/>
              </a:rPr>
              <a:t>Requirement gathering and analysis:</a:t>
            </a:r>
            <a:r>
              <a:rPr lang="en-US" dirty="0">
                <a:solidFill>
                  <a:schemeClr val="tx1"/>
                </a:solidFill>
                <a:latin typeface="Times New Roman" pitchFamily="18" charset="0"/>
                <a:cs typeface="Times New Roman" pitchFamily="18" charset="0"/>
              </a:rPr>
              <a:t> Firstly all the requirements regarding the software are gathered from the customer and then the gathered requirements are analyzed. The goal of the analysis part is to remove incompleteness (an incomplete requirement is one in which some parts of the actual requirements have been omitted) and inconsistencies (an inconsistent requirement is one in which some part of the requirement contradicts some other part).</a:t>
            </a:r>
          </a:p>
          <a:p>
            <a:pPr lvl="1" algn="just" fontAlgn="base"/>
            <a:r>
              <a:rPr lang="en-US" b="1" dirty="0">
                <a:solidFill>
                  <a:schemeClr val="tx1"/>
                </a:solidFill>
                <a:latin typeface="Times New Roman" pitchFamily="18" charset="0"/>
                <a:cs typeface="Times New Roman" pitchFamily="18" charset="0"/>
              </a:rPr>
              <a:t>Requirement specification:</a:t>
            </a:r>
            <a:r>
              <a:rPr lang="en-US" dirty="0">
                <a:solidFill>
                  <a:schemeClr val="tx1"/>
                </a:solidFill>
                <a:latin typeface="Times New Roman" pitchFamily="18" charset="0"/>
                <a:cs typeface="Times New Roman" pitchFamily="18" charset="0"/>
              </a:rPr>
              <a:t> These analyzed requirements are documented in a software requirement specification (SRS) document. SRS document serves as a contract between the development team and customers. Any future dispute between the customers and the developers can be settled by examining the SRS document.</a:t>
            </a:r>
          </a:p>
        </p:txBody>
      </p:sp>
    </p:spTree>
    <p:extLst>
      <p:ext uri="{BB962C8B-B14F-4D97-AF65-F5344CB8AC3E}">
        <p14:creationId xmlns:p14="http://schemas.microsoft.com/office/powerpoint/2010/main" val="2307678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914400"/>
          </a:xfrm>
        </p:spPr>
        <p:txBody>
          <a:bodyPr>
            <a:normAutofit fontScale="90000"/>
          </a:bodyPr>
          <a:lstStyle/>
          <a:p>
            <a:r>
              <a:rPr lang="en-US" b="1" dirty="0">
                <a:solidFill>
                  <a:srgbClr val="C00000"/>
                </a:solidFill>
              </a:rPr>
              <a:t>Classical Waterfall Model</a:t>
            </a:r>
            <a:br>
              <a:rPr lang="en-US" b="1"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381000" y="1371600"/>
            <a:ext cx="8305800" cy="5486400"/>
          </a:xfrm>
        </p:spPr>
        <p:txBody>
          <a:bodyPr>
            <a:normAutofit fontScale="92500" lnSpcReduction="20000"/>
          </a:bodyPr>
          <a:lstStyle/>
          <a:p>
            <a:pPr algn="just" fontAlgn="base"/>
            <a:r>
              <a:rPr lang="en-US" b="1" dirty="0" smtClean="0">
                <a:solidFill>
                  <a:schemeClr val="tx1"/>
                </a:solidFill>
              </a:rPr>
              <a:t>3. Design</a:t>
            </a:r>
            <a:r>
              <a:rPr lang="en-US" dirty="0">
                <a:solidFill>
                  <a:schemeClr val="tx1"/>
                </a:solidFill>
              </a:rPr>
              <a:t>: The goal of this phase is to convert the requirements acquired in the SRS into a format that can be coded in a programming language. It includes high-level and detailed design as well as the overall software architecture. A Software Design Document is used to document all of this effort (SDD)</a:t>
            </a:r>
            <a:br>
              <a:rPr lang="en-US" dirty="0">
                <a:solidFill>
                  <a:schemeClr val="tx1"/>
                </a:solidFill>
              </a:rPr>
            </a:br>
            <a:r>
              <a:rPr lang="en-US" dirty="0">
                <a:solidFill>
                  <a:schemeClr val="tx1"/>
                </a:solidFill>
              </a:rPr>
              <a:t> </a:t>
            </a:r>
          </a:p>
          <a:p>
            <a:pPr algn="just" fontAlgn="base"/>
            <a:r>
              <a:rPr lang="en-US" b="1" dirty="0" smtClean="0">
                <a:solidFill>
                  <a:schemeClr val="tx1"/>
                </a:solidFill>
              </a:rPr>
              <a:t>4. Coding </a:t>
            </a:r>
            <a:r>
              <a:rPr lang="en-US" b="1" dirty="0">
                <a:solidFill>
                  <a:schemeClr val="tx1"/>
                </a:solidFill>
              </a:rPr>
              <a:t>and Unit testing</a:t>
            </a:r>
            <a:r>
              <a:rPr lang="en-US" dirty="0">
                <a:solidFill>
                  <a:schemeClr val="tx1"/>
                </a:solidFill>
              </a:rPr>
              <a:t>: In the coding phase software design is translated into source code using any suitable programming language. Thus each designed module is coded. The aim of the unit testing phase is to check whether each module is working properly or not.</a:t>
            </a:r>
          </a:p>
        </p:txBody>
      </p:sp>
    </p:spTree>
    <p:extLst>
      <p:ext uri="{BB962C8B-B14F-4D97-AF65-F5344CB8AC3E}">
        <p14:creationId xmlns:p14="http://schemas.microsoft.com/office/powerpoint/2010/main" val="2274736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914400"/>
          </a:xfrm>
        </p:spPr>
        <p:txBody>
          <a:bodyPr>
            <a:normAutofit fontScale="90000"/>
          </a:bodyPr>
          <a:lstStyle/>
          <a:p>
            <a:r>
              <a:rPr lang="en-US" b="1" dirty="0">
                <a:solidFill>
                  <a:srgbClr val="C00000"/>
                </a:solidFill>
              </a:rPr>
              <a:t>Classical Waterfall Model</a:t>
            </a:r>
            <a:br>
              <a:rPr lang="en-US" b="1"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381000" y="1371600"/>
            <a:ext cx="8229600" cy="5257800"/>
          </a:xfrm>
        </p:spPr>
        <p:txBody>
          <a:bodyPr>
            <a:normAutofit fontScale="85000" lnSpcReduction="20000"/>
          </a:bodyPr>
          <a:lstStyle/>
          <a:p>
            <a:pPr algn="just" fontAlgn="base"/>
            <a:r>
              <a:rPr lang="en-US" b="1" dirty="0" smtClean="0">
                <a:solidFill>
                  <a:schemeClr val="tx1"/>
                </a:solidFill>
                <a:latin typeface="Times New Roman" pitchFamily="18" charset="0"/>
                <a:cs typeface="Times New Roman" pitchFamily="18" charset="0"/>
              </a:rPr>
              <a:t>5. Integration </a:t>
            </a:r>
            <a:r>
              <a:rPr lang="en-US" b="1" dirty="0">
                <a:solidFill>
                  <a:schemeClr val="tx1"/>
                </a:solidFill>
                <a:latin typeface="Times New Roman" pitchFamily="18" charset="0"/>
                <a:cs typeface="Times New Roman" pitchFamily="18" charset="0"/>
              </a:rPr>
              <a:t>and System testing</a:t>
            </a:r>
            <a:r>
              <a:rPr lang="en-US" dirty="0">
                <a:solidFill>
                  <a:schemeClr val="tx1"/>
                </a:solidFill>
                <a:latin typeface="Times New Roman" pitchFamily="18" charset="0"/>
                <a:cs typeface="Times New Roman" pitchFamily="18" charset="0"/>
              </a:rPr>
              <a:t>: Integration of different modules are undertaken soon after they have been coded and unit tested. Integration of various modules is carried out incrementally over a number of steps. During each integration step, previously planned modules are added to the partially integrated system and the resultant system is tested. Finally, after all the modules have been successfully integrated and tested, the full working system is obtained and system testing is carried out on </a:t>
            </a:r>
            <a:r>
              <a:rPr lang="en-US" dirty="0" smtClean="0">
                <a:solidFill>
                  <a:schemeClr val="tx1"/>
                </a:solidFill>
                <a:latin typeface="Times New Roman" pitchFamily="18" charset="0"/>
                <a:cs typeface="Times New Roman" pitchFamily="18" charset="0"/>
              </a:rPr>
              <a:t>this.</a:t>
            </a:r>
          </a:p>
          <a:p>
            <a:pPr algn="just" fontAlgn="base"/>
            <a:endParaRPr lang="en-US" dirty="0" smtClean="0">
              <a:solidFill>
                <a:schemeClr val="tx1"/>
              </a:solidFill>
              <a:latin typeface="Times New Roman" pitchFamily="18" charset="0"/>
              <a:cs typeface="Times New Roman" pitchFamily="18" charset="0"/>
            </a:endParaRPr>
          </a:p>
          <a:p>
            <a:pPr algn="just" fontAlgn="base"/>
            <a:r>
              <a:rPr lang="en-US" b="1" dirty="0" smtClean="0">
                <a:solidFill>
                  <a:schemeClr val="tx1"/>
                </a:solidFill>
                <a:latin typeface="Times New Roman" pitchFamily="18" charset="0"/>
                <a:cs typeface="Times New Roman" pitchFamily="18" charset="0"/>
              </a:rPr>
              <a:t>6. Maintenance</a:t>
            </a:r>
            <a:r>
              <a:rPr lang="en-US" b="1" dirty="0">
                <a:solidFill>
                  <a:schemeClr val="tx1"/>
                </a:solidFill>
                <a:latin typeface="Times New Roman" pitchFamily="18" charset="0"/>
                <a:cs typeface="Times New Roman" pitchFamily="18" charset="0"/>
              </a:rPr>
              <a:t>:</a:t>
            </a:r>
            <a:r>
              <a:rPr lang="en-US" dirty="0">
                <a:solidFill>
                  <a:schemeClr val="tx1"/>
                </a:solidFill>
                <a:latin typeface="Times New Roman" pitchFamily="18" charset="0"/>
                <a:cs typeface="Times New Roman" pitchFamily="18" charset="0"/>
              </a:rPr>
              <a:t> Maintenance is the most important phase of a software life cycle. The effort spent on maintenance is 60% of the total effort spent to develop a full software.</a:t>
            </a:r>
          </a:p>
        </p:txBody>
      </p:sp>
    </p:spTree>
    <p:extLst>
      <p:ext uri="{BB962C8B-B14F-4D97-AF65-F5344CB8AC3E}">
        <p14:creationId xmlns:p14="http://schemas.microsoft.com/office/powerpoint/2010/main" val="1071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914400"/>
          </a:xfrm>
        </p:spPr>
        <p:txBody>
          <a:bodyPr>
            <a:normAutofit fontScale="90000"/>
          </a:bodyPr>
          <a:lstStyle/>
          <a:p>
            <a:r>
              <a:rPr lang="en-US" b="1" dirty="0">
                <a:solidFill>
                  <a:srgbClr val="C00000"/>
                </a:solidFill>
              </a:rPr>
              <a:t>Classical Waterfall Model</a:t>
            </a:r>
            <a:br>
              <a:rPr lang="en-US" b="1"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381000" y="1371600"/>
            <a:ext cx="8229600" cy="5257800"/>
          </a:xfrm>
        </p:spPr>
        <p:txBody>
          <a:bodyPr>
            <a:normAutofit fontScale="85000" lnSpcReduction="20000"/>
          </a:bodyPr>
          <a:lstStyle/>
          <a:p>
            <a:pPr algn="l" fontAlgn="base"/>
            <a:r>
              <a:rPr lang="en-US" b="1" dirty="0">
                <a:solidFill>
                  <a:schemeClr val="tx1"/>
                </a:solidFill>
              </a:rPr>
              <a:t>Advantages of Classical Waterfall </a:t>
            </a:r>
            <a:r>
              <a:rPr lang="en-US" b="1" dirty="0" smtClean="0">
                <a:solidFill>
                  <a:schemeClr val="tx1"/>
                </a:solidFill>
              </a:rPr>
              <a:t>Model:-</a:t>
            </a:r>
          </a:p>
          <a:p>
            <a:pPr marL="457200" indent="-457200" algn="l" fontAlgn="base">
              <a:buFont typeface="Arial" pitchFamily="34" charset="0"/>
              <a:buChar char="•"/>
            </a:pPr>
            <a:r>
              <a:rPr lang="en-US" dirty="0">
                <a:solidFill>
                  <a:schemeClr val="tx1"/>
                </a:solidFill>
              </a:rPr>
              <a:t>This model is very simple and is easy to understand</a:t>
            </a:r>
            <a:r>
              <a:rPr lang="en-US" dirty="0" smtClean="0">
                <a:solidFill>
                  <a:schemeClr val="tx1"/>
                </a:solidFill>
              </a:rPr>
              <a:t>.</a:t>
            </a:r>
          </a:p>
          <a:p>
            <a:pPr marL="457200" indent="-457200" algn="l" fontAlgn="base">
              <a:buFont typeface="Arial" pitchFamily="34" charset="0"/>
              <a:buChar char="•"/>
            </a:pPr>
            <a:r>
              <a:rPr lang="en-US" dirty="0" smtClean="0">
                <a:solidFill>
                  <a:schemeClr val="tx1"/>
                </a:solidFill>
              </a:rPr>
              <a:t>Phases </a:t>
            </a:r>
            <a:r>
              <a:rPr lang="en-US" dirty="0">
                <a:solidFill>
                  <a:schemeClr val="tx1"/>
                </a:solidFill>
              </a:rPr>
              <a:t>in this model are processed one at a time.</a:t>
            </a:r>
          </a:p>
          <a:p>
            <a:pPr marL="457200" indent="-457200" algn="l" fontAlgn="base">
              <a:buFont typeface="Arial" pitchFamily="34" charset="0"/>
              <a:buChar char="•"/>
            </a:pPr>
            <a:r>
              <a:rPr lang="en-US" dirty="0">
                <a:solidFill>
                  <a:schemeClr val="tx1"/>
                </a:solidFill>
              </a:rPr>
              <a:t>Each stage in the model is clearly defined.</a:t>
            </a:r>
          </a:p>
          <a:p>
            <a:pPr marL="457200" indent="-457200" algn="l" fontAlgn="base">
              <a:buFont typeface="Arial" pitchFamily="34" charset="0"/>
              <a:buChar char="•"/>
            </a:pPr>
            <a:r>
              <a:rPr lang="en-US" dirty="0">
                <a:solidFill>
                  <a:schemeClr val="tx1"/>
                </a:solidFill>
              </a:rPr>
              <a:t>This model has very clear and well-understood milestones.</a:t>
            </a:r>
          </a:p>
          <a:p>
            <a:pPr marL="457200" indent="-457200" algn="l" fontAlgn="base">
              <a:buFont typeface="Arial" pitchFamily="34" charset="0"/>
              <a:buChar char="•"/>
            </a:pPr>
            <a:r>
              <a:rPr lang="en-US" dirty="0">
                <a:solidFill>
                  <a:schemeClr val="tx1"/>
                </a:solidFill>
              </a:rPr>
              <a:t>Process, actions and results are very well documented.</a:t>
            </a:r>
          </a:p>
          <a:p>
            <a:pPr marL="457200" indent="-457200" algn="l" fontAlgn="base">
              <a:buFont typeface="Arial" pitchFamily="34" charset="0"/>
              <a:buChar char="•"/>
            </a:pPr>
            <a:r>
              <a:rPr lang="en-US" dirty="0">
                <a:solidFill>
                  <a:schemeClr val="tx1"/>
                </a:solidFill>
              </a:rPr>
              <a:t>Reinforces good habits: define-before- design, </a:t>
            </a:r>
            <a:br>
              <a:rPr lang="en-US" dirty="0">
                <a:solidFill>
                  <a:schemeClr val="tx1"/>
                </a:solidFill>
              </a:rPr>
            </a:br>
            <a:r>
              <a:rPr lang="en-US" dirty="0">
                <a:solidFill>
                  <a:schemeClr val="tx1"/>
                </a:solidFill>
              </a:rPr>
              <a:t>design-before-code.</a:t>
            </a:r>
          </a:p>
          <a:p>
            <a:pPr marL="457200" indent="-457200" algn="l" fontAlgn="base">
              <a:buFont typeface="Arial" pitchFamily="34" charset="0"/>
              <a:buChar char="•"/>
            </a:pPr>
            <a:r>
              <a:rPr lang="en-US" dirty="0">
                <a:solidFill>
                  <a:schemeClr val="tx1"/>
                </a:solidFill>
              </a:rPr>
              <a:t>This model works well for smaller projects and projects where requirements are well </a:t>
            </a:r>
            <a:br>
              <a:rPr lang="en-US" dirty="0">
                <a:solidFill>
                  <a:schemeClr val="tx1"/>
                </a:solidFill>
              </a:rPr>
            </a:br>
            <a:r>
              <a:rPr lang="en-US" dirty="0">
                <a:solidFill>
                  <a:schemeClr val="tx1"/>
                </a:solidFill>
              </a:rPr>
              <a:t>understood.</a:t>
            </a:r>
          </a:p>
          <a:p>
            <a:pPr algn="l" fontAlgn="base"/>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98067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914400"/>
          </a:xfrm>
        </p:spPr>
        <p:txBody>
          <a:bodyPr>
            <a:normAutofit fontScale="90000"/>
          </a:bodyPr>
          <a:lstStyle/>
          <a:p>
            <a:r>
              <a:rPr lang="en-US" b="1" dirty="0">
                <a:solidFill>
                  <a:srgbClr val="C00000"/>
                </a:solidFill>
              </a:rPr>
              <a:t>Classical Waterfall Model</a:t>
            </a:r>
            <a:br>
              <a:rPr lang="en-US" b="1"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381000" y="1143000"/>
            <a:ext cx="8229600" cy="5638800"/>
          </a:xfrm>
        </p:spPr>
        <p:txBody>
          <a:bodyPr>
            <a:normAutofit fontScale="70000" lnSpcReduction="20000"/>
          </a:bodyPr>
          <a:lstStyle/>
          <a:p>
            <a:pPr algn="l" fontAlgn="base"/>
            <a:r>
              <a:rPr lang="en-US" b="1" dirty="0">
                <a:solidFill>
                  <a:schemeClr val="tx1"/>
                </a:solidFill>
                <a:latin typeface="Times New Roman" pitchFamily="18" charset="0"/>
                <a:cs typeface="Times New Roman" pitchFamily="18" charset="0"/>
              </a:rPr>
              <a:t>Drawbacks of Classical Waterfall </a:t>
            </a:r>
            <a:r>
              <a:rPr lang="en-US" b="1" dirty="0" smtClean="0">
                <a:solidFill>
                  <a:schemeClr val="tx1"/>
                </a:solidFill>
                <a:latin typeface="Times New Roman" pitchFamily="18" charset="0"/>
                <a:cs typeface="Times New Roman" pitchFamily="18" charset="0"/>
              </a:rPr>
              <a:t>Model:-</a:t>
            </a:r>
          </a:p>
          <a:p>
            <a:pPr algn="l" fontAlgn="base"/>
            <a:endParaRPr lang="en-US" b="1" dirty="0" smtClean="0">
              <a:solidFill>
                <a:schemeClr val="tx1"/>
              </a:solidFill>
              <a:latin typeface="Times New Roman" pitchFamily="18" charset="0"/>
              <a:cs typeface="Times New Roman" pitchFamily="18" charset="0"/>
            </a:endParaRPr>
          </a:p>
          <a:p>
            <a:pPr marL="457200" indent="-457200" algn="l" fontAlgn="base">
              <a:buFont typeface="Arial" pitchFamily="34" charset="0"/>
              <a:buChar char="•"/>
            </a:pPr>
            <a:r>
              <a:rPr lang="en-US" b="1" dirty="0" smtClean="0">
                <a:solidFill>
                  <a:schemeClr val="tx1"/>
                </a:solidFill>
                <a:latin typeface="Times New Roman" pitchFamily="18" charset="0"/>
                <a:cs typeface="Times New Roman" pitchFamily="18" charset="0"/>
              </a:rPr>
              <a:t>No </a:t>
            </a:r>
            <a:r>
              <a:rPr lang="en-US" b="1" dirty="0">
                <a:solidFill>
                  <a:schemeClr val="tx1"/>
                </a:solidFill>
                <a:latin typeface="Times New Roman" pitchFamily="18" charset="0"/>
                <a:cs typeface="Times New Roman" pitchFamily="18" charset="0"/>
              </a:rPr>
              <a:t>feedback path:</a:t>
            </a:r>
            <a:r>
              <a:rPr lang="en-US" dirty="0">
                <a:solidFill>
                  <a:schemeClr val="tx1"/>
                </a:solidFill>
                <a:latin typeface="Times New Roman" pitchFamily="18" charset="0"/>
                <a:cs typeface="Times New Roman" pitchFamily="18" charset="0"/>
              </a:rPr>
              <a:t> In the classical waterfall model evolution of software from one phase to another phase is like a waterfall. It assumes that no error is ever committed by developers during any phase. Therefore, it does not incorporate any mechanism for error correction. </a:t>
            </a:r>
            <a:endParaRPr lang="en-US" dirty="0" smtClean="0">
              <a:solidFill>
                <a:schemeClr val="tx1"/>
              </a:solidFill>
              <a:latin typeface="Times New Roman" pitchFamily="18" charset="0"/>
              <a:cs typeface="Times New Roman" pitchFamily="18" charset="0"/>
            </a:endParaRPr>
          </a:p>
          <a:p>
            <a:pPr marL="457200" indent="-457200" algn="l" fontAlgn="base">
              <a:buFont typeface="Arial" pitchFamily="34" charset="0"/>
              <a:buChar char="•"/>
            </a:pPr>
            <a:r>
              <a:rPr lang="en-US" b="1" dirty="0">
                <a:solidFill>
                  <a:schemeClr val="tx1"/>
                </a:solidFill>
                <a:latin typeface="Times New Roman" pitchFamily="18" charset="0"/>
                <a:cs typeface="Times New Roman" pitchFamily="18" charset="0"/>
              </a:rPr>
              <a:t>Difficult to accommodate change requests:</a:t>
            </a:r>
            <a:r>
              <a:rPr lang="en-US" dirty="0">
                <a:solidFill>
                  <a:schemeClr val="tx1"/>
                </a:solidFill>
                <a:latin typeface="Times New Roman" pitchFamily="18" charset="0"/>
                <a:cs typeface="Times New Roman" pitchFamily="18" charset="0"/>
              </a:rPr>
              <a:t> This model assumes that all the customer requirements can be completely and correctly defined at the beginning of the project, but actually customers’ requirements keep on changing with time. It is difficult to accommodate any change requests after the requirements specification phase is complete. </a:t>
            </a: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 </a:t>
            </a:r>
          </a:p>
          <a:p>
            <a:pPr marL="457200" indent="-457200" algn="l" fontAlgn="base">
              <a:buFont typeface="Arial" pitchFamily="34" charset="0"/>
              <a:buChar char="•"/>
            </a:pPr>
            <a:r>
              <a:rPr lang="en-US" b="1" dirty="0">
                <a:solidFill>
                  <a:schemeClr val="tx1"/>
                </a:solidFill>
                <a:latin typeface="Times New Roman" pitchFamily="18" charset="0"/>
                <a:cs typeface="Times New Roman" pitchFamily="18" charset="0"/>
              </a:rPr>
              <a:t>No overlapping of phases:</a:t>
            </a:r>
            <a:r>
              <a:rPr lang="en-US" dirty="0">
                <a:solidFill>
                  <a:schemeClr val="tx1"/>
                </a:solidFill>
                <a:latin typeface="Times New Roman" pitchFamily="18" charset="0"/>
                <a:cs typeface="Times New Roman" pitchFamily="18" charset="0"/>
              </a:rPr>
              <a:t> This model recommends that a new phase can start only after the completion of the previous phase. But in real projects, this can’t be maintained. To increase efficiency and reduce cost, phases may overlap. </a:t>
            </a:r>
          </a:p>
          <a:p>
            <a:pPr algn="l" fontAlgn="base"/>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36781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319</Words>
  <Application>Microsoft Office PowerPoint</Application>
  <PresentationFormat>On-screen Show (4:3)</PresentationFormat>
  <Paragraphs>32</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Classical Waterfall Model </vt:lpstr>
      <vt:lpstr>Classical Waterfall Model </vt:lpstr>
      <vt:lpstr>Classical Waterfall Model </vt:lpstr>
      <vt:lpstr>Classical Waterfall Model </vt:lpstr>
      <vt:lpstr>Classical Waterfall Model </vt:lpstr>
      <vt:lpstr>Classical Waterfall Model </vt:lpstr>
      <vt:lpstr>Classical Waterfall Model </vt:lpstr>
      <vt:lpstr>Classical Waterfall Model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Classical Waterfall Model</dc:title>
  <dc:creator>tara</dc:creator>
  <cp:lastModifiedBy>tara</cp:lastModifiedBy>
  <cp:revision>3</cp:revision>
  <dcterms:created xsi:type="dcterms:W3CDTF">2022-09-09T06:57:41Z</dcterms:created>
  <dcterms:modified xsi:type="dcterms:W3CDTF">2022-09-09T07:22:32Z</dcterms:modified>
</cp:coreProperties>
</file>