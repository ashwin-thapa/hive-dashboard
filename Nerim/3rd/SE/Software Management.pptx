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98DA140-ACD3-43B8-8434-A8DD14F742EF}" type="datetimeFigureOut">
              <a:rPr lang="en-US" smtClean="0"/>
              <a:t>9/12/2022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1C1912-AE48-4D00-A2C1-35EB54994C64}" type="slidenum">
              <a:rPr lang="en-US" smtClean="0"/>
              <a:t>‹#›</a:t>
            </a:fld>
            <a:endParaRPr lang="en-US"/>
          </a:p>
        </p:txBody>
      </p:sp>
    </p:spTree>
    <p:extLst>
      <p:ext uri="{BB962C8B-B14F-4D97-AF65-F5344CB8AC3E}">
        <p14:creationId xmlns:p14="http://schemas.microsoft.com/office/powerpoint/2010/main" val="2725263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8DA140-ACD3-43B8-8434-A8DD14F742EF}" type="datetimeFigureOut">
              <a:rPr lang="en-US" smtClean="0"/>
              <a:t>9/12/2022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1C1912-AE48-4D00-A2C1-35EB54994C64}" type="slidenum">
              <a:rPr lang="en-US" smtClean="0"/>
              <a:t>‹#›</a:t>
            </a:fld>
            <a:endParaRPr lang="en-US"/>
          </a:p>
        </p:txBody>
      </p:sp>
    </p:spTree>
    <p:extLst>
      <p:ext uri="{BB962C8B-B14F-4D97-AF65-F5344CB8AC3E}">
        <p14:creationId xmlns:p14="http://schemas.microsoft.com/office/powerpoint/2010/main" val="516936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98DA140-ACD3-43B8-8434-A8DD14F742EF}" type="datetimeFigureOut">
              <a:rPr lang="en-US" smtClean="0"/>
              <a:t>9/12/2022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1C1912-AE48-4D00-A2C1-35EB54994C64}" type="slidenum">
              <a:rPr lang="en-US" smtClean="0"/>
              <a:t>‹#›</a:t>
            </a:fld>
            <a:endParaRPr lang="en-US"/>
          </a:p>
        </p:txBody>
      </p:sp>
    </p:spTree>
    <p:extLst>
      <p:ext uri="{BB962C8B-B14F-4D97-AF65-F5344CB8AC3E}">
        <p14:creationId xmlns:p14="http://schemas.microsoft.com/office/powerpoint/2010/main" val="4129734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98DA140-ACD3-43B8-8434-A8DD14F742EF}" type="datetimeFigureOut">
              <a:rPr lang="en-US" smtClean="0"/>
              <a:t>9/12/2022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1C1912-AE48-4D00-A2C1-35EB54994C64}" type="slidenum">
              <a:rPr lang="en-US" smtClean="0"/>
              <a:t>‹#›</a:t>
            </a:fld>
            <a:endParaRPr lang="en-US"/>
          </a:p>
        </p:txBody>
      </p:sp>
    </p:spTree>
    <p:extLst>
      <p:ext uri="{BB962C8B-B14F-4D97-AF65-F5344CB8AC3E}">
        <p14:creationId xmlns:p14="http://schemas.microsoft.com/office/powerpoint/2010/main" val="4006326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98DA140-ACD3-43B8-8434-A8DD14F742EF}" type="datetimeFigureOut">
              <a:rPr lang="en-US" smtClean="0"/>
              <a:t>9/12/2022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1C1912-AE48-4D00-A2C1-35EB54994C64}" type="slidenum">
              <a:rPr lang="en-US" smtClean="0"/>
              <a:t>‹#›</a:t>
            </a:fld>
            <a:endParaRPr lang="en-US"/>
          </a:p>
        </p:txBody>
      </p:sp>
    </p:spTree>
    <p:extLst>
      <p:ext uri="{BB962C8B-B14F-4D97-AF65-F5344CB8AC3E}">
        <p14:creationId xmlns:p14="http://schemas.microsoft.com/office/powerpoint/2010/main" val="1206357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98DA140-ACD3-43B8-8434-A8DD14F742EF}" type="datetimeFigureOut">
              <a:rPr lang="en-US" smtClean="0"/>
              <a:t>9/12/2022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1C1912-AE48-4D00-A2C1-35EB54994C64}" type="slidenum">
              <a:rPr lang="en-US" smtClean="0"/>
              <a:t>‹#›</a:t>
            </a:fld>
            <a:endParaRPr lang="en-US"/>
          </a:p>
        </p:txBody>
      </p:sp>
    </p:spTree>
    <p:extLst>
      <p:ext uri="{BB962C8B-B14F-4D97-AF65-F5344CB8AC3E}">
        <p14:creationId xmlns:p14="http://schemas.microsoft.com/office/powerpoint/2010/main" val="1480630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8DA140-ACD3-43B8-8434-A8DD14F742EF}" type="datetimeFigureOut">
              <a:rPr lang="en-US" smtClean="0"/>
              <a:t>9/12/2022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1C1912-AE48-4D00-A2C1-35EB54994C64}" type="slidenum">
              <a:rPr lang="en-US" smtClean="0"/>
              <a:t>‹#›</a:t>
            </a:fld>
            <a:endParaRPr lang="en-US"/>
          </a:p>
        </p:txBody>
      </p:sp>
    </p:spTree>
    <p:extLst>
      <p:ext uri="{BB962C8B-B14F-4D97-AF65-F5344CB8AC3E}">
        <p14:creationId xmlns:p14="http://schemas.microsoft.com/office/powerpoint/2010/main" val="1925848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8DA140-ACD3-43B8-8434-A8DD14F742EF}" type="datetimeFigureOut">
              <a:rPr lang="en-US" smtClean="0"/>
              <a:t>9/12/2022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1C1912-AE48-4D00-A2C1-35EB54994C64}" type="slidenum">
              <a:rPr lang="en-US" smtClean="0"/>
              <a:t>‹#›</a:t>
            </a:fld>
            <a:endParaRPr lang="en-US"/>
          </a:p>
        </p:txBody>
      </p:sp>
    </p:spTree>
    <p:extLst>
      <p:ext uri="{BB962C8B-B14F-4D97-AF65-F5344CB8AC3E}">
        <p14:creationId xmlns:p14="http://schemas.microsoft.com/office/powerpoint/2010/main" val="3505572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8DA140-ACD3-43B8-8434-A8DD14F742EF}" type="datetimeFigureOut">
              <a:rPr lang="en-US" smtClean="0"/>
              <a:t>9/12/2022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1C1912-AE48-4D00-A2C1-35EB54994C64}" type="slidenum">
              <a:rPr lang="en-US" smtClean="0"/>
              <a:t>‹#›</a:t>
            </a:fld>
            <a:endParaRPr lang="en-US"/>
          </a:p>
        </p:txBody>
      </p:sp>
    </p:spTree>
    <p:extLst>
      <p:ext uri="{BB962C8B-B14F-4D97-AF65-F5344CB8AC3E}">
        <p14:creationId xmlns:p14="http://schemas.microsoft.com/office/powerpoint/2010/main" val="3079797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8DA140-ACD3-43B8-8434-A8DD14F742EF}" type="datetimeFigureOut">
              <a:rPr lang="en-US" smtClean="0"/>
              <a:t>9/12/2022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1C1912-AE48-4D00-A2C1-35EB54994C64}" type="slidenum">
              <a:rPr lang="en-US" smtClean="0"/>
              <a:t>‹#›</a:t>
            </a:fld>
            <a:endParaRPr lang="en-US"/>
          </a:p>
        </p:txBody>
      </p:sp>
    </p:spTree>
    <p:extLst>
      <p:ext uri="{BB962C8B-B14F-4D97-AF65-F5344CB8AC3E}">
        <p14:creationId xmlns:p14="http://schemas.microsoft.com/office/powerpoint/2010/main" val="1099061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8DA140-ACD3-43B8-8434-A8DD14F742EF}" type="datetimeFigureOut">
              <a:rPr lang="en-US" smtClean="0"/>
              <a:t>9/12/2022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1C1912-AE48-4D00-A2C1-35EB54994C64}" type="slidenum">
              <a:rPr lang="en-US" smtClean="0"/>
              <a:t>‹#›</a:t>
            </a:fld>
            <a:endParaRPr lang="en-US"/>
          </a:p>
        </p:txBody>
      </p:sp>
    </p:spTree>
    <p:extLst>
      <p:ext uri="{BB962C8B-B14F-4D97-AF65-F5344CB8AC3E}">
        <p14:creationId xmlns:p14="http://schemas.microsoft.com/office/powerpoint/2010/main" val="2246102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8DA140-ACD3-43B8-8434-A8DD14F742EF}" type="datetimeFigureOut">
              <a:rPr lang="en-US" smtClean="0"/>
              <a:t>9/12/2022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1C1912-AE48-4D00-A2C1-35EB54994C64}" type="slidenum">
              <a:rPr lang="en-US" smtClean="0"/>
              <a:t>‹#›</a:t>
            </a:fld>
            <a:endParaRPr lang="en-US"/>
          </a:p>
        </p:txBody>
      </p:sp>
    </p:spTree>
    <p:extLst>
      <p:ext uri="{BB962C8B-B14F-4D97-AF65-F5344CB8AC3E}">
        <p14:creationId xmlns:p14="http://schemas.microsoft.com/office/powerpoint/2010/main" val="36762673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667000"/>
            <a:ext cx="7772400" cy="2590800"/>
          </a:xfrm>
        </p:spPr>
        <p:txBody>
          <a:bodyPr>
            <a:noAutofit/>
          </a:bodyPr>
          <a:lstStyle/>
          <a:p>
            <a:r>
              <a:rPr lang="en-US" sz="6000" b="1" i="1" dirty="0">
                <a:solidFill>
                  <a:srgbClr val="C00000"/>
                </a:solidFill>
              </a:rPr>
              <a:t>Software Management</a:t>
            </a:r>
            <a:br>
              <a:rPr lang="en-US" sz="6000" b="1" i="1" dirty="0">
                <a:solidFill>
                  <a:srgbClr val="C00000"/>
                </a:solidFill>
              </a:rPr>
            </a:br>
            <a:r>
              <a:rPr lang="en-US" sz="6000" i="1" dirty="0">
                <a:solidFill>
                  <a:srgbClr val="C00000"/>
                </a:solidFill>
              </a:rPr>
              <a:t/>
            </a:r>
            <a:br>
              <a:rPr lang="en-US" sz="6000" i="1" dirty="0">
                <a:solidFill>
                  <a:srgbClr val="C00000"/>
                </a:solidFill>
              </a:rPr>
            </a:br>
            <a:endParaRPr lang="en-US" sz="6000" i="1" dirty="0">
              <a:solidFill>
                <a:srgbClr val="C00000"/>
              </a:solidFill>
            </a:endParaRPr>
          </a:p>
        </p:txBody>
      </p:sp>
    </p:spTree>
    <p:extLst>
      <p:ext uri="{BB962C8B-B14F-4D97-AF65-F5344CB8AC3E}">
        <p14:creationId xmlns:p14="http://schemas.microsoft.com/office/powerpoint/2010/main" val="1728760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1066800"/>
          </a:xfrm>
        </p:spPr>
        <p:txBody>
          <a:bodyPr>
            <a:normAutofit fontScale="90000"/>
          </a:bodyPr>
          <a:lstStyle/>
          <a:p>
            <a:r>
              <a:rPr lang="en-US" dirty="0">
                <a:solidFill>
                  <a:srgbClr val="C00000"/>
                </a:solidFill>
              </a:rPr>
              <a:t>What is Project?</a:t>
            </a:r>
            <a:r>
              <a:rPr lang="en-US" dirty="0"/>
              <a:t/>
            </a:r>
            <a:br>
              <a:rPr lang="en-US" dirty="0"/>
            </a:br>
            <a:endParaRPr lang="en-US" dirty="0"/>
          </a:p>
        </p:txBody>
      </p:sp>
      <p:sp>
        <p:nvSpPr>
          <p:cNvPr id="3" name="Subtitle 2"/>
          <p:cNvSpPr>
            <a:spLocks noGrp="1"/>
          </p:cNvSpPr>
          <p:nvPr>
            <p:ph type="subTitle" idx="1"/>
          </p:nvPr>
        </p:nvSpPr>
        <p:spPr>
          <a:xfrm>
            <a:off x="762000" y="1524000"/>
            <a:ext cx="7696200" cy="4800600"/>
          </a:xfrm>
        </p:spPr>
        <p:txBody>
          <a:bodyPr>
            <a:normAutofit fontScale="85000" lnSpcReduction="20000"/>
          </a:bodyPr>
          <a:lstStyle/>
          <a:p>
            <a:pPr algn="just"/>
            <a:r>
              <a:rPr lang="en-US" dirty="0" smtClean="0">
                <a:solidFill>
                  <a:schemeClr val="tx1"/>
                </a:solidFill>
              </a:rPr>
              <a:t>	</a:t>
            </a:r>
            <a:r>
              <a:rPr lang="en-US" dirty="0" smtClean="0">
                <a:solidFill>
                  <a:schemeClr val="tx1"/>
                </a:solidFill>
                <a:latin typeface="Times New Roman" pitchFamily="18" charset="0"/>
                <a:cs typeface="Times New Roman" pitchFamily="18" charset="0"/>
              </a:rPr>
              <a:t>A </a:t>
            </a:r>
            <a:r>
              <a:rPr lang="en-US" dirty="0">
                <a:solidFill>
                  <a:schemeClr val="tx1"/>
                </a:solidFill>
                <a:latin typeface="Times New Roman" pitchFamily="18" charset="0"/>
                <a:cs typeface="Times New Roman" pitchFamily="18" charset="0"/>
              </a:rPr>
              <a:t>project is a group of tasks that need to complete to reach a clear result. A project also defines as a set of inputs and outputs which are required to achieve a goal. Projects can vary from simple to difficult and can be operated by one person or a hundred.</a:t>
            </a:r>
          </a:p>
          <a:p>
            <a:pPr algn="just"/>
            <a:r>
              <a:rPr lang="en-US" dirty="0" smtClean="0">
                <a:solidFill>
                  <a:schemeClr val="tx1"/>
                </a:solidFill>
                <a:latin typeface="Times New Roman" pitchFamily="18" charset="0"/>
                <a:cs typeface="Times New Roman" pitchFamily="18" charset="0"/>
              </a:rPr>
              <a:t>	Projects </a:t>
            </a:r>
            <a:r>
              <a:rPr lang="en-US" dirty="0">
                <a:solidFill>
                  <a:schemeClr val="tx1"/>
                </a:solidFill>
                <a:latin typeface="Times New Roman" pitchFamily="18" charset="0"/>
                <a:cs typeface="Times New Roman" pitchFamily="18" charset="0"/>
              </a:rPr>
              <a:t>usually described and approved by a project manager or team executive. They go beyond their expectations and objects, and it's up to the team to handle logistics and complete the project on time. For good project development, some teams split the project into specific tasks so they can manage responsibility and utilize team strengths.</a:t>
            </a:r>
          </a:p>
          <a:p>
            <a:pPr algn="just"/>
            <a:endParaRPr lang="en-US" dirty="0">
              <a:solidFill>
                <a:schemeClr val="tx1"/>
              </a:solidFill>
            </a:endParaRPr>
          </a:p>
        </p:txBody>
      </p:sp>
    </p:spTree>
    <p:extLst>
      <p:ext uri="{BB962C8B-B14F-4D97-AF65-F5344CB8AC3E}">
        <p14:creationId xmlns:p14="http://schemas.microsoft.com/office/powerpoint/2010/main" val="2184970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838199"/>
            <a:ext cx="8915400" cy="1219201"/>
          </a:xfrm>
        </p:spPr>
        <p:txBody>
          <a:bodyPr>
            <a:normAutofit fontScale="90000"/>
          </a:bodyPr>
          <a:lstStyle/>
          <a:p>
            <a:r>
              <a:rPr lang="en-US" dirty="0">
                <a:solidFill>
                  <a:srgbClr val="C00000"/>
                </a:solidFill>
              </a:rPr>
              <a:t>What is software project management?</a:t>
            </a:r>
            <a:r>
              <a:rPr lang="en-US" dirty="0"/>
              <a:t/>
            </a:r>
            <a:br>
              <a:rPr lang="en-US" dirty="0"/>
            </a:br>
            <a:r>
              <a:rPr lang="en-US" dirty="0"/>
              <a:t/>
            </a:r>
            <a:br>
              <a:rPr lang="en-US" dirty="0"/>
            </a:br>
            <a:endParaRPr lang="en-US" dirty="0"/>
          </a:p>
        </p:txBody>
      </p:sp>
      <p:sp>
        <p:nvSpPr>
          <p:cNvPr id="3" name="Subtitle 2"/>
          <p:cNvSpPr>
            <a:spLocks noGrp="1"/>
          </p:cNvSpPr>
          <p:nvPr>
            <p:ph type="subTitle" idx="1"/>
          </p:nvPr>
        </p:nvSpPr>
        <p:spPr>
          <a:xfrm>
            <a:off x="762000" y="1752600"/>
            <a:ext cx="7924800" cy="4572000"/>
          </a:xfrm>
        </p:spPr>
        <p:txBody>
          <a:bodyPr>
            <a:normAutofit fontScale="92500" lnSpcReduction="20000"/>
          </a:bodyPr>
          <a:lstStyle/>
          <a:p>
            <a:pPr algn="just"/>
            <a:r>
              <a:rPr lang="en-US" dirty="0" smtClean="0">
                <a:solidFill>
                  <a:schemeClr val="tx1"/>
                </a:solidFill>
                <a:latin typeface="Times New Roman" pitchFamily="18" charset="0"/>
                <a:cs typeface="Times New Roman" pitchFamily="18" charset="0"/>
              </a:rPr>
              <a:t>	</a:t>
            </a:r>
            <a:r>
              <a:rPr lang="en-US" dirty="0">
                <a:solidFill>
                  <a:schemeClr val="tx1"/>
                </a:solidFill>
                <a:latin typeface="Times New Roman" pitchFamily="18" charset="0"/>
                <a:cs typeface="Times New Roman" pitchFamily="18" charset="0"/>
              </a:rPr>
              <a:t>Software project management is an art and discipline of planning and supervising software projects. It is a sub-discipline of software project management in which software projects planned, implemented, monitored and controlled.</a:t>
            </a:r>
          </a:p>
          <a:p>
            <a:pPr algn="just"/>
            <a:r>
              <a:rPr lang="en-US" dirty="0" smtClean="0">
                <a:solidFill>
                  <a:schemeClr val="tx1"/>
                </a:solidFill>
                <a:latin typeface="Times New Roman" pitchFamily="18" charset="0"/>
                <a:cs typeface="Times New Roman" pitchFamily="18" charset="0"/>
              </a:rPr>
              <a:t>	It </a:t>
            </a:r>
            <a:r>
              <a:rPr lang="en-US" dirty="0">
                <a:solidFill>
                  <a:schemeClr val="tx1"/>
                </a:solidFill>
                <a:latin typeface="Times New Roman" pitchFamily="18" charset="0"/>
                <a:cs typeface="Times New Roman" pitchFamily="18" charset="0"/>
              </a:rPr>
              <a:t>is a procedure of managing, allocating and timing resources to develop computer software that fulfills requirements</a:t>
            </a:r>
            <a:r>
              <a:rPr lang="en-US" dirty="0" smtClean="0">
                <a:solidFill>
                  <a:schemeClr val="tx1"/>
                </a:solidFill>
                <a:latin typeface="Times New Roman" pitchFamily="18" charset="0"/>
                <a:cs typeface="Times New Roman" pitchFamily="18" charset="0"/>
              </a:rPr>
              <a:t>.</a:t>
            </a:r>
          </a:p>
          <a:p>
            <a:pPr algn="just"/>
            <a:r>
              <a:rPr lang="en-US" dirty="0" smtClean="0">
                <a:solidFill>
                  <a:schemeClr val="tx1"/>
                </a:solidFill>
                <a:latin typeface="Times New Roman" pitchFamily="18" charset="0"/>
                <a:cs typeface="Times New Roman" pitchFamily="18" charset="0"/>
              </a:rPr>
              <a:t>	In </a:t>
            </a:r>
            <a:r>
              <a:rPr lang="en-US" dirty="0">
                <a:solidFill>
                  <a:schemeClr val="tx1"/>
                </a:solidFill>
                <a:latin typeface="Times New Roman" pitchFamily="18" charset="0"/>
                <a:cs typeface="Times New Roman" pitchFamily="18" charset="0"/>
              </a:rPr>
              <a:t>software Project Management, the client and the developers need to know the length, period and cost of the project.</a:t>
            </a: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83004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838199"/>
            <a:ext cx="8915400" cy="1219201"/>
          </a:xfrm>
        </p:spPr>
        <p:txBody>
          <a:bodyPr>
            <a:normAutofit fontScale="90000"/>
          </a:bodyPr>
          <a:lstStyle/>
          <a:p>
            <a:r>
              <a:rPr lang="en-US" dirty="0">
                <a:solidFill>
                  <a:srgbClr val="C00000"/>
                </a:solidFill>
              </a:rPr>
              <a:t>Need of software project management</a:t>
            </a:r>
            <a:r>
              <a:rPr lang="en-US" dirty="0"/>
              <a:t/>
            </a:r>
            <a:br>
              <a:rPr lang="en-US" dirty="0"/>
            </a:br>
            <a:r>
              <a:rPr lang="en-US" dirty="0"/>
              <a:t/>
            </a:r>
            <a:br>
              <a:rPr lang="en-US" dirty="0"/>
            </a:br>
            <a:endParaRPr lang="en-US" dirty="0"/>
          </a:p>
        </p:txBody>
      </p:sp>
      <p:sp>
        <p:nvSpPr>
          <p:cNvPr id="3" name="Subtitle 2"/>
          <p:cNvSpPr>
            <a:spLocks noGrp="1"/>
          </p:cNvSpPr>
          <p:nvPr>
            <p:ph type="subTitle" idx="1"/>
          </p:nvPr>
        </p:nvSpPr>
        <p:spPr>
          <a:xfrm>
            <a:off x="762000" y="1752600"/>
            <a:ext cx="7924800" cy="4800600"/>
          </a:xfrm>
        </p:spPr>
        <p:txBody>
          <a:bodyPr>
            <a:normAutofit fontScale="85000" lnSpcReduction="20000"/>
          </a:bodyPr>
          <a:lstStyle/>
          <a:p>
            <a:pPr algn="just"/>
            <a:r>
              <a:rPr lang="en-US" dirty="0" smtClean="0">
                <a:solidFill>
                  <a:schemeClr val="tx1"/>
                </a:solidFill>
                <a:latin typeface="Times New Roman" pitchFamily="18" charset="0"/>
                <a:cs typeface="Times New Roman" pitchFamily="18" charset="0"/>
              </a:rPr>
              <a:t>	</a:t>
            </a:r>
            <a:r>
              <a:rPr lang="en-US" dirty="0">
                <a:solidFill>
                  <a:schemeClr val="tx1"/>
                </a:solidFill>
                <a:latin typeface="Times New Roman" pitchFamily="18" charset="0"/>
                <a:cs typeface="Times New Roman" pitchFamily="18" charset="0"/>
              </a:rPr>
              <a:t>Software is said to be an intangible product. Software development is a kind of all new stream in world business and there’s very little experience in building software products. Most software products are tailor made to fit client’s requirements. The most important is that the underlying technology changes and advances so frequently and rapidly that experience of one product may not be applied to the other one. All such business and environmental constraints bring risk in software development hence it is essential to manage software projects efficiently.</a:t>
            </a:r>
          </a:p>
          <a:p>
            <a:pPr algn="just"/>
            <a:r>
              <a:rPr lang="en-US" dirty="0" smtClean="0">
                <a:solidFill>
                  <a:schemeClr val="tx1"/>
                </a:solidFill>
                <a:latin typeface="Times New Roman" pitchFamily="18" charset="0"/>
                <a:cs typeface="Times New Roman" pitchFamily="18" charset="0"/>
              </a:rPr>
              <a:t/>
            </a:r>
            <a:br>
              <a:rPr lang="en-US" dirty="0" smtClean="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92723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04801"/>
            <a:ext cx="8915400" cy="1752600"/>
          </a:xfrm>
        </p:spPr>
        <p:txBody>
          <a:bodyPr>
            <a:normAutofit fontScale="90000"/>
          </a:bodyPr>
          <a:lstStyle/>
          <a:p>
            <a:r>
              <a:rPr lang="en-US" dirty="0">
                <a:solidFill>
                  <a:srgbClr val="C00000"/>
                </a:solidFill>
              </a:rPr>
              <a:t>Need of software project management</a:t>
            </a:r>
            <a:r>
              <a:rPr lang="en-US" dirty="0"/>
              <a:t/>
            </a:r>
            <a:br>
              <a:rPr lang="en-US" dirty="0"/>
            </a:br>
            <a:r>
              <a:rPr lang="en-US" dirty="0"/>
              <a:t/>
            </a:r>
            <a:br>
              <a:rPr lang="en-US" dirty="0"/>
            </a:br>
            <a:endParaRPr lang="en-US" dirty="0"/>
          </a:p>
        </p:txBody>
      </p:sp>
      <p:sp>
        <p:nvSpPr>
          <p:cNvPr id="3" name="Subtitle 2"/>
          <p:cNvSpPr>
            <a:spLocks noGrp="1"/>
          </p:cNvSpPr>
          <p:nvPr>
            <p:ph type="subTitle" idx="1"/>
          </p:nvPr>
        </p:nvSpPr>
        <p:spPr>
          <a:xfrm>
            <a:off x="533400" y="3200400"/>
            <a:ext cx="8153400" cy="3429000"/>
          </a:xfrm>
        </p:spPr>
        <p:txBody>
          <a:bodyPr>
            <a:normAutofit fontScale="25000" lnSpcReduction="20000"/>
          </a:bodyPr>
          <a:lstStyle/>
          <a:p>
            <a:pPr algn="just"/>
            <a:r>
              <a:rPr lang="en-US" dirty="0" smtClean="0">
                <a:solidFill>
                  <a:schemeClr val="tx1"/>
                </a:solidFill>
                <a:latin typeface="Times New Roman" pitchFamily="18" charset="0"/>
                <a:cs typeface="Times New Roman" pitchFamily="18" charset="0"/>
              </a:rPr>
              <a:t>	</a:t>
            </a:r>
            <a:r>
              <a:rPr lang="en-US" sz="9600" dirty="0" smtClean="0">
                <a:solidFill>
                  <a:schemeClr val="tx1"/>
                </a:solidFill>
                <a:latin typeface="Times New Roman" pitchFamily="18" charset="0"/>
                <a:cs typeface="Times New Roman" pitchFamily="18" charset="0"/>
              </a:rPr>
              <a:t>The </a:t>
            </a:r>
            <a:r>
              <a:rPr lang="en-US" sz="9600" dirty="0">
                <a:solidFill>
                  <a:schemeClr val="tx1"/>
                </a:solidFill>
                <a:latin typeface="Times New Roman" pitchFamily="18" charset="0"/>
                <a:cs typeface="Times New Roman" pitchFamily="18" charset="0"/>
              </a:rPr>
              <a:t>image above shows triple constraints for software projects. It is an essential part of software organization to deliver quality product, keeping the cost within client’s budget constrain and deliver the project as per scheduled. There are several factors, both internal and external, which may impact this triple constrain triangle. Any of three factor can severely impact the other two.</a:t>
            </a:r>
          </a:p>
          <a:p>
            <a:pPr algn="just"/>
            <a:r>
              <a:rPr lang="en-US" sz="9600" dirty="0">
                <a:solidFill>
                  <a:schemeClr val="tx1"/>
                </a:solidFill>
                <a:latin typeface="Times New Roman" pitchFamily="18" charset="0"/>
                <a:cs typeface="Times New Roman" pitchFamily="18" charset="0"/>
              </a:rPr>
              <a:t>Therefore, software project management is essential to incorporate user requirements along with budget and time constraints.</a:t>
            </a:r>
          </a:p>
          <a:p>
            <a:pPr algn="just"/>
            <a:endParaRPr lang="en-US" dirty="0">
              <a:solidFill>
                <a:schemeClr val="tx1"/>
              </a:solidFill>
              <a:latin typeface="Times New Roman" pitchFamily="18" charset="0"/>
              <a:cs typeface="Times New Roman" pitchFamily="18" charset="0"/>
            </a:endParaRPr>
          </a:p>
          <a:p>
            <a:pPr algn="just"/>
            <a:r>
              <a:rPr lang="en-US" dirty="0" smtClean="0">
                <a:solidFill>
                  <a:schemeClr val="tx1"/>
                </a:solidFill>
                <a:latin typeface="Times New Roman" pitchFamily="18" charset="0"/>
                <a:cs typeface="Times New Roman" pitchFamily="18" charset="0"/>
              </a:rPr>
              <a:t/>
            </a:r>
            <a:br>
              <a:rPr lang="en-US" dirty="0" smtClean="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8525" y="914400"/>
            <a:ext cx="2428875" cy="2033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2354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90601"/>
            <a:ext cx="7772400" cy="1523999"/>
          </a:xfrm>
        </p:spPr>
        <p:txBody>
          <a:bodyPr>
            <a:normAutofit fontScale="90000"/>
          </a:bodyPr>
          <a:lstStyle/>
          <a:p>
            <a:r>
              <a:rPr lang="en-US" dirty="0">
                <a:solidFill>
                  <a:srgbClr val="C00000"/>
                </a:solidFill>
              </a:rPr>
              <a:t>Responsibilities of a Project Manager:</a:t>
            </a:r>
            <a:br>
              <a:rPr lang="en-US" dirty="0">
                <a:solidFill>
                  <a:srgbClr val="C00000"/>
                </a:solidFill>
              </a:rPr>
            </a:br>
            <a:r>
              <a:rPr lang="en-US" dirty="0"/>
              <a:t/>
            </a:r>
            <a:br>
              <a:rPr lang="en-US" dirty="0"/>
            </a:br>
            <a:endParaRPr lang="en-US" dirty="0"/>
          </a:p>
        </p:txBody>
      </p:sp>
      <p:sp>
        <p:nvSpPr>
          <p:cNvPr id="3" name="Subtitle 2"/>
          <p:cNvSpPr>
            <a:spLocks noGrp="1"/>
          </p:cNvSpPr>
          <p:nvPr>
            <p:ph type="subTitle" idx="1"/>
          </p:nvPr>
        </p:nvSpPr>
        <p:spPr>
          <a:xfrm>
            <a:off x="762000" y="2667000"/>
            <a:ext cx="7696200" cy="3657600"/>
          </a:xfrm>
        </p:spPr>
        <p:txBody>
          <a:bodyPr>
            <a:normAutofit/>
          </a:bodyPr>
          <a:lstStyle/>
          <a:p>
            <a:pPr algn="l"/>
            <a:r>
              <a:rPr lang="en-US" u="sng" dirty="0" smtClean="0">
                <a:solidFill>
                  <a:schemeClr val="tx1"/>
                </a:solidFill>
                <a:latin typeface="Times New Roman" pitchFamily="18" charset="0"/>
                <a:cs typeface="Times New Roman" pitchFamily="18" charset="0"/>
              </a:rPr>
              <a:t>Managing </a:t>
            </a:r>
            <a:r>
              <a:rPr lang="en-US" u="sng" dirty="0">
                <a:solidFill>
                  <a:schemeClr val="tx1"/>
                </a:solidFill>
                <a:latin typeface="Times New Roman" pitchFamily="18" charset="0"/>
                <a:cs typeface="Times New Roman" pitchFamily="18" charset="0"/>
              </a:rPr>
              <a:t>People</a:t>
            </a:r>
          </a:p>
          <a:p>
            <a:pPr marL="457200" indent="-457200" algn="l">
              <a:buFont typeface="Arial" pitchFamily="34" charset="0"/>
              <a:buChar char="•"/>
            </a:pPr>
            <a:r>
              <a:rPr lang="en-US" dirty="0">
                <a:solidFill>
                  <a:schemeClr val="tx1"/>
                </a:solidFill>
                <a:latin typeface="Times New Roman" pitchFamily="18" charset="0"/>
                <a:cs typeface="Times New Roman" pitchFamily="18" charset="0"/>
              </a:rPr>
              <a:t>Act as project </a:t>
            </a:r>
            <a:r>
              <a:rPr lang="en-US" dirty="0" smtClean="0">
                <a:solidFill>
                  <a:schemeClr val="tx1"/>
                </a:solidFill>
                <a:latin typeface="Times New Roman" pitchFamily="18" charset="0"/>
                <a:cs typeface="Times New Roman" pitchFamily="18" charset="0"/>
              </a:rPr>
              <a:t>leader</a:t>
            </a:r>
          </a:p>
          <a:p>
            <a:pPr marL="457200" indent="-457200" algn="l">
              <a:buFont typeface="Arial" pitchFamily="34" charset="0"/>
              <a:buChar char="•"/>
            </a:pPr>
            <a:r>
              <a:rPr lang="en-US" dirty="0" smtClean="0">
                <a:solidFill>
                  <a:schemeClr val="tx1"/>
                </a:solidFill>
                <a:latin typeface="Times New Roman" pitchFamily="18" charset="0"/>
                <a:cs typeface="Times New Roman" pitchFamily="18" charset="0"/>
              </a:rPr>
              <a:t>Liaison </a:t>
            </a:r>
            <a:r>
              <a:rPr lang="en-US" dirty="0">
                <a:solidFill>
                  <a:schemeClr val="tx1"/>
                </a:solidFill>
                <a:latin typeface="Times New Roman" pitchFamily="18" charset="0"/>
                <a:cs typeface="Times New Roman" pitchFamily="18" charset="0"/>
              </a:rPr>
              <a:t>with </a:t>
            </a:r>
            <a:r>
              <a:rPr lang="en-US" dirty="0" smtClean="0">
                <a:solidFill>
                  <a:schemeClr val="tx1"/>
                </a:solidFill>
                <a:latin typeface="Times New Roman" pitchFamily="18" charset="0"/>
                <a:cs typeface="Times New Roman" pitchFamily="18" charset="0"/>
              </a:rPr>
              <a:t>stakeholders</a:t>
            </a:r>
          </a:p>
          <a:p>
            <a:pPr marL="457200" indent="-457200" algn="l">
              <a:buFont typeface="Arial" pitchFamily="34" charset="0"/>
              <a:buChar char="•"/>
            </a:pPr>
            <a:r>
              <a:rPr lang="en-US" dirty="0" smtClean="0">
                <a:solidFill>
                  <a:schemeClr val="tx1"/>
                </a:solidFill>
                <a:latin typeface="Times New Roman" pitchFamily="18" charset="0"/>
                <a:cs typeface="Times New Roman" pitchFamily="18" charset="0"/>
              </a:rPr>
              <a:t>Managing </a:t>
            </a:r>
            <a:r>
              <a:rPr lang="en-US" dirty="0">
                <a:solidFill>
                  <a:schemeClr val="tx1"/>
                </a:solidFill>
                <a:latin typeface="Times New Roman" pitchFamily="18" charset="0"/>
                <a:cs typeface="Times New Roman" pitchFamily="18" charset="0"/>
              </a:rPr>
              <a:t>human </a:t>
            </a:r>
            <a:r>
              <a:rPr lang="en-US" dirty="0" smtClean="0">
                <a:solidFill>
                  <a:schemeClr val="tx1"/>
                </a:solidFill>
                <a:latin typeface="Times New Roman" pitchFamily="18" charset="0"/>
                <a:cs typeface="Times New Roman" pitchFamily="18" charset="0"/>
              </a:rPr>
              <a:t>resources</a:t>
            </a:r>
          </a:p>
          <a:p>
            <a:pPr marL="457200" indent="-457200" algn="l">
              <a:buFont typeface="Arial" pitchFamily="34" charset="0"/>
              <a:buChar char="•"/>
            </a:pPr>
            <a:r>
              <a:rPr lang="en-US" dirty="0" smtClean="0">
                <a:solidFill>
                  <a:schemeClr val="tx1"/>
                </a:solidFill>
                <a:latin typeface="Times New Roman" pitchFamily="18" charset="0"/>
                <a:cs typeface="Times New Roman" pitchFamily="18" charset="0"/>
              </a:rPr>
              <a:t>Setting </a:t>
            </a:r>
            <a:r>
              <a:rPr lang="en-US" dirty="0">
                <a:solidFill>
                  <a:schemeClr val="tx1"/>
                </a:solidFill>
                <a:latin typeface="Times New Roman" pitchFamily="18" charset="0"/>
                <a:cs typeface="Times New Roman" pitchFamily="18" charset="0"/>
              </a:rPr>
              <a:t>up reporting hierarchy etc.</a:t>
            </a:r>
          </a:p>
          <a:p>
            <a:pPr algn="l"/>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006302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90601"/>
            <a:ext cx="7772400" cy="1523999"/>
          </a:xfrm>
        </p:spPr>
        <p:txBody>
          <a:bodyPr>
            <a:normAutofit fontScale="90000"/>
          </a:bodyPr>
          <a:lstStyle/>
          <a:p>
            <a:r>
              <a:rPr lang="en-US" dirty="0">
                <a:solidFill>
                  <a:srgbClr val="C00000"/>
                </a:solidFill>
              </a:rPr>
              <a:t>Responsibilities of a Project Manager:</a:t>
            </a:r>
            <a:br>
              <a:rPr lang="en-US" dirty="0">
                <a:solidFill>
                  <a:srgbClr val="C00000"/>
                </a:solidFill>
              </a:rPr>
            </a:br>
            <a:r>
              <a:rPr lang="en-US" dirty="0"/>
              <a:t/>
            </a:r>
            <a:br>
              <a:rPr lang="en-US" dirty="0"/>
            </a:br>
            <a:endParaRPr lang="en-US" dirty="0"/>
          </a:p>
        </p:txBody>
      </p:sp>
      <p:sp>
        <p:nvSpPr>
          <p:cNvPr id="3" name="Subtitle 2"/>
          <p:cNvSpPr>
            <a:spLocks noGrp="1"/>
          </p:cNvSpPr>
          <p:nvPr>
            <p:ph type="subTitle" idx="1"/>
          </p:nvPr>
        </p:nvSpPr>
        <p:spPr>
          <a:xfrm>
            <a:off x="762000" y="2667000"/>
            <a:ext cx="7696200" cy="3657600"/>
          </a:xfrm>
        </p:spPr>
        <p:txBody>
          <a:bodyPr>
            <a:normAutofit fontScale="92500" lnSpcReduction="20000"/>
          </a:bodyPr>
          <a:lstStyle/>
          <a:p>
            <a:pPr algn="l"/>
            <a:r>
              <a:rPr lang="en-US" u="sng" dirty="0">
                <a:solidFill>
                  <a:schemeClr val="tx1"/>
                </a:solidFill>
                <a:latin typeface="Times New Roman" pitchFamily="18" charset="0"/>
                <a:cs typeface="Times New Roman" pitchFamily="18" charset="0"/>
              </a:rPr>
              <a:t>Managing Project</a:t>
            </a:r>
          </a:p>
          <a:p>
            <a:pPr marL="457200" indent="-457200" algn="l">
              <a:buFont typeface="Arial" pitchFamily="34" charset="0"/>
              <a:buChar char="•"/>
            </a:pPr>
            <a:r>
              <a:rPr lang="en-US" dirty="0">
                <a:solidFill>
                  <a:schemeClr val="tx1"/>
                </a:solidFill>
                <a:latin typeface="Times New Roman" pitchFamily="18" charset="0"/>
                <a:cs typeface="Times New Roman" pitchFamily="18" charset="0"/>
              </a:rPr>
              <a:t>Defining and setting up project </a:t>
            </a:r>
            <a:r>
              <a:rPr lang="en-US" dirty="0" smtClean="0">
                <a:solidFill>
                  <a:schemeClr val="tx1"/>
                </a:solidFill>
                <a:latin typeface="Times New Roman" pitchFamily="18" charset="0"/>
                <a:cs typeface="Times New Roman" pitchFamily="18" charset="0"/>
              </a:rPr>
              <a:t>scope</a:t>
            </a:r>
          </a:p>
          <a:p>
            <a:pPr marL="457200" indent="-457200" algn="l">
              <a:buFont typeface="Arial" pitchFamily="34" charset="0"/>
              <a:buChar char="•"/>
            </a:pPr>
            <a:r>
              <a:rPr lang="en-US" dirty="0" smtClean="0">
                <a:solidFill>
                  <a:schemeClr val="tx1"/>
                </a:solidFill>
                <a:latin typeface="Times New Roman" pitchFamily="18" charset="0"/>
                <a:cs typeface="Times New Roman" pitchFamily="18" charset="0"/>
              </a:rPr>
              <a:t>Managing </a:t>
            </a:r>
            <a:r>
              <a:rPr lang="en-US" dirty="0">
                <a:solidFill>
                  <a:schemeClr val="tx1"/>
                </a:solidFill>
                <a:latin typeface="Times New Roman" pitchFamily="18" charset="0"/>
                <a:cs typeface="Times New Roman" pitchFamily="18" charset="0"/>
              </a:rPr>
              <a:t>project management </a:t>
            </a:r>
            <a:r>
              <a:rPr lang="en-US" dirty="0" smtClean="0">
                <a:solidFill>
                  <a:schemeClr val="tx1"/>
                </a:solidFill>
                <a:latin typeface="Times New Roman" pitchFamily="18" charset="0"/>
                <a:cs typeface="Times New Roman" pitchFamily="18" charset="0"/>
              </a:rPr>
              <a:t>activities</a:t>
            </a:r>
          </a:p>
          <a:p>
            <a:pPr marL="457200" indent="-457200" algn="l">
              <a:buFont typeface="Arial" pitchFamily="34" charset="0"/>
              <a:buChar char="•"/>
            </a:pPr>
            <a:r>
              <a:rPr lang="en-US" dirty="0" smtClean="0">
                <a:solidFill>
                  <a:schemeClr val="tx1"/>
                </a:solidFill>
                <a:latin typeface="Times New Roman" pitchFamily="18" charset="0"/>
                <a:cs typeface="Times New Roman" pitchFamily="18" charset="0"/>
              </a:rPr>
              <a:t>Monitoring </a:t>
            </a:r>
            <a:r>
              <a:rPr lang="en-US" dirty="0">
                <a:solidFill>
                  <a:schemeClr val="tx1"/>
                </a:solidFill>
                <a:latin typeface="Times New Roman" pitchFamily="18" charset="0"/>
                <a:cs typeface="Times New Roman" pitchFamily="18" charset="0"/>
              </a:rPr>
              <a:t>progress and </a:t>
            </a:r>
            <a:r>
              <a:rPr lang="en-US" dirty="0" smtClean="0">
                <a:solidFill>
                  <a:schemeClr val="tx1"/>
                </a:solidFill>
                <a:latin typeface="Times New Roman" pitchFamily="18" charset="0"/>
                <a:cs typeface="Times New Roman" pitchFamily="18" charset="0"/>
              </a:rPr>
              <a:t>performance </a:t>
            </a:r>
          </a:p>
          <a:p>
            <a:pPr marL="457200" indent="-457200" algn="l">
              <a:buFont typeface="Arial" pitchFamily="34" charset="0"/>
              <a:buChar char="•"/>
            </a:pPr>
            <a:r>
              <a:rPr lang="en-US" dirty="0" smtClean="0">
                <a:solidFill>
                  <a:schemeClr val="tx1"/>
                </a:solidFill>
                <a:latin typeface="Times New Roman" pitchFamily="18" charset="0"/>
                <a:cs typeface="Times New Roman" pitchFamily="18" charset="0"/>
              </a:rPr>
              <a:t>Risk </a:t>
            </a:r>
            <a:r>
              <a:rPr lang="en-US" dirty="0">
                <a:solidFill>
                  <a:schemeClr val="tx1"/>
                </a:solidFill>
                <a:latin typeface="Times New Roman" pitchFamily="18" charset="0"/>
                <a:cs typeface="Times New Roman" pitchFamily="18" charset="0"/>
              </a:rPr>
              <a:t>analysis at every </a:t>
            </a:r>
            <a:r>
              <a:rPr lang="en-US" dirty="0" smtClean="0">
                <a:solidFill>
                  <a:schemeClr val="tx1"/>
                </a:solidFill>
                <a:latin typeface="Times New Roman" pitchFamily="18" charset="0"/>
                <a:cs typeface="Times New Roman" pitchFamily="18" charset="0"/>
              </a:rPr>
              <a:t>phase</a:t>
            </a:r>
          </a:p>
          <a:p>
            <a:pPr marL="457200" indent="-457200" algn="l">
              <a:buFont typeface="Arial" pitchFamily="34" charset="0"/>
              <a:buChar char="•"/>
            </a:pPr>
            <a:r>
              <a:rPr lang="en-US" dirty="0" smtClean="0">
                <a:solidFill>
                  <a:schemeClr val="tx1"/>
                </a:solidFill>
                <a:latin typeface="Times New Roman" pitchFamily="18" charset="0"/>
                <a:cs typeface="Times New Roman" pitchFamily="18" charset="0"/>
              </a:rPr>
              <a:t>Take </a:t>
            </a:r>
            <a:r>
              <a:rPr lang="en-US" dirty="0">
                <a:solidFill>
                  <a:schemeClr val="tx1"/>
                </a:solidFill>
                <a:latin typeface="Times New Roman" pitchFamily="18" charset="0"/>
                <a:cs typeface="Times New Roman" pitchFamily="18" charset="0"/>
              </a:rPr>
              <a:t>necessary step to avoid or come out of </a:t>
            </a:r>
            <a:r>
              <a:rPr lang="en-US" dirty="0" smtClean="0">
                <a:solidFill>
                  <a:schemeClr val="tx1"/>
                </a:solidFill>
                <a:latin typeface="Times New Roman" pitchFamily="18" charset="0"/>
                <a:cs typeface="Times New Roman" pitchFamily="18" charset="0"/>
              </a:rPr>
              <a:t>problems</a:t>
            </a:r>
          </a:p>
          <a:p>
            <a:pPr marL="457200" indent="-457200" algn="l">
              <a:buFont typeface="Arial" pitchFamily="34" charset="0"/>
              <a:buChar char="•"/>
            </a:pPr>
            <a:r>
              <a:rPr lang="en-US" dirty="0" smtClean="0">
                <a:solidFill>
                  <a:schemeClr val="tx1"/>
                </a:solidFill>
                <a:latin typeface="Times New Roman" pitchFamily="18" charset="0"/>
                <a:cs typeface="Times New Roman" pitchFamily="18" charset="0"/>
              </a:rPr>
              <a:t>Act </a:t>
            </a:r>
            <a:r>
              <a:rPr lang="en-US" dirty="0">
                <a:solidFill>
                  <a:schemeClr val="tx1"/>
                </a:solidFill>
                <a:latin typeface="Times New Roman" pitchFamily="18" charset="0"/>
                <a:cs typeface="Times New Roman" pitchFamily="18" charset="0"/>
              </a:rPr>
              <a:t>as project spokesperson</a:t>
            </a:r>
          </a:p>
          <a:p>
            <a:pPr algn="l"/>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219555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90601"/>
            <a:ext cx="7772400" cy="1447799"/>
          </a:xfrm>
        </p:spPr>
        <p:txBody>
          <a:bodyPr>
            <a:normAutofit fontScale="90000"/>
          </a:bodyPr>
          <a:lstStyle/>
          <a:p>
            <a:r>
              <a:rPr lang="en-US" dirty="0">
                <a:solidFill>
                  <a:srgbClr val="C00000"/>
                </a:solidFill>
              </a:rPr>
              <a:t>Software Management Activities</a:t>
            </a:r>
            <a:br>
              <a:rPr lang="en-US" dirty="0">
                <a:solidFill>
                  <a:srgbClr val="C00000"/>
                </a:solidFill>
              </a:rPr>
            </a:br>
            <a:r>
              <a:rPr lang="en-US" dirty="0">
                <a:solidFill>
                  <a:srgbClr val="C00000"/>
                </a:solidFill>
              </a:rPr>
              <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762000" y="1905000"/>
            <a:ext cx="7696200" cy="4419600"/>
          </a:xfrm>
        </p:spPr>
        <p:txBody>
          <a:bodyPr>
            <a:normAutofit fontScale="92500" lnSpcReduction="20000"/>
          </a:bodyPr>
          <a:lstStyle/>
          <a:p>
            <a:pPr algn="just"/>
            <a:r>
              <a:rPr lang="en-US" dirty="0">
                <a:solidFill>
                  <a:schemeClr val="tx1"/>
                </a:solidFill>
                <a:latin typeface="Times New Roman" pitchFamily="18" charset="0"/>
                <a:cs typeface="Times New Roman" pitchFamily="18" charset="0"/>
              </a:rPr>
              <a:t>Software project management comprises of a number of activities, which contains planning of project, deciding scope of software product, estimation of cost in various terms, scheduling of tasks and events, and resource management. Project management activities may include</a:t>
            </a:r>
            <a:r>
              <a:rPr lang="en-US" dirty="0" smtClean="0">
                <a:solidFill>
                  <a:schemeClr val="tx1"/>
                </a:solidFill>
                <a:latin typeface="Times New Roman" pitchFamily="18" charset="0"/>
                <a:cs typeface="Times New Roman" pitchFamily="18" charset="0"/>
              </a:rPr>
              <a:t>:</a:t>
            </a:r>
          </a:p>
          <a:p>
            <a:pPr algn="just"/>
            <a:endParaRPr lang="en-US" dirty="0">
              <a:solidFill>
                <a:schemeClr val="tx1"/>
              </a:solidFill>
              <a:latin typeface="Times New Roman" pitchFamily="18" charset="0"/>
              <a:cs typeface="Times New Roman" pitchFamily="18" charset="0"/>
            </a:endParaRPr>
          </a:p>
          <a:p>
            <a:pPr marL="457200" indent="-457200" algn="just">
              <a:buFont typeface="Arial" pitchFamily="34" charset="0"/>
              <a:buChar char="•"/>
            </a:pPr>
            <a:r>
              <a:rPr lang="en-US" b="1" dirty="0">
                <a:solidFill>
                  <a:schemeClr val="tx1"/>
                </a:solidFill>
                <a:latin typeface="Times New Roman" pitchFamily="18" charset="0"/>
                <a:cs typeface="Times New Roman" pitchFamily="18" charset="0"/>
              </a:rPr>
              <a:t>Project Planning</a:t>
            </a:r>
            <a:endParaRPr lang="en-US" dirty="0">
              <a:solidFill>
                <a:schemeClr val="tx1"/>
              </a:solidFill>
              <a:latin typeface="Times New Roman" pitchFamily="18" charset="0"/>
              <a:cs typeface="Times New Roman" pitchFamily="18" charset="0"/>
            </a:endParaRPr>
          </a:p>
          <a:p>
            <a:pPr marL="457200" indent="-457200" algn="just">
              <a:buFont typeface="Arial" pitchFamily="34" charset="0"/>
              <a:buChar char="•"/>
            </a:pPr>
            <a:r>
              <a:rPr lang="en-US" b="1" dirty="0">
                <a:solidFill>
                  <a:schemeClr val="tx1"/>
                </a:solidFill>
                <a:latin typeface="Times New Roman" pitchFamily="18" charset="0"/>
                <a:cs typeface="Times New Roman" pitchFamily="18" charset="0"/>
              </a:rPr>
              <a:t>Scope Management</a:t>
            </a:r>
            <a:endParaRPr lang="en-US" dirty="0">
              <a:solidFill>
                <a:schemeClr val="tx1"/>
              </a:solidFill>
              <a:latin typeface="Times New Roman" pitchFamily="18" charset="0"/>
              <a:cs typeface="Times New Roman" pitchFamily="18" charset="0"/>
            </a:endParaRPr>
          </a:p>
          <a:p>
            <a:pPr marL="457200" indent="-457200" algn="just">
              <a:buFont typeface="Arial" pitchFamily="34" charset="0"/>
              <a:buChar char="•"/>
            </a:pPr>
            <a:r>
              <a:rPr lang="en-US" b="1" dirty="0">
                <a:solidFill>
                  <a:schemeClr val="tx1"/>
                </a:solidFill>
                <a:latin typeface="Times New Roman" pitchFamily="18" charset="0"/>
                <a:cs typeface="Times New Roman" pitchFamily="18" charset="0"/>
              </a:rPr>
              <a:t>Project Estimation</a:t>
            </a:r>
            <a:endParaRPr lang="en-US" dirty="0">
              <a:solidFill>
                <a:schemeClr val="tx1"/>
              </a:solidFill>
              <a:latin typeface="Times New Roman" pitchFamily="18" charset="0"/>
              <a:cs typeface="Times New Roman" pitchFamily="18" charset="0"/>
            </a:endParaRP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266098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90601"/>
            <a:ext cx="7772400" cy="1447799"/>
          </a:xfrm>
        </p:spPr>
        <p:txBody>
          <a:bodyPr>
            <a:normAutofit fontScale="90000"/>
          </a:bodyPr>
          <a:lstStyle/>
          <a:p>
            <a:r>
              <a:rPr lang="en-US" dirty="0">
                <a:solidFill>
                  <a:srgbClr val="C00000"/>
                </a:solidFill>
              </a:rPr>
              <a:t>Project Planning</a:t>
            </a:r>
            <a:r>
              <a:rPr lang="en-US" dirty="0"/>
              <a:t/>
            </a:r>
            <a:br>
              <a:rPr lang="en-US" dirty="0"/>
            </a:br>
            <a:r>
              <a:rPr lang="en-US" dirty="0">
                <a:solidFill>
                  <a:srgbClr val="C00000"/>
                </a:solidFill>
              </a:rPr>
              <a:t/>
            </a:r>
            <a:br>
              <a:rPr lang="en-US" dirty="0">
                <a:solidFill>
                  <a:srgbClr val="C00000"/>
                </a:solidFill>
              </a:rPr>
            </a:br>
            <a:r>
              <a:rPr lang="en-US" dirty="0">
                <a:solidFill>
                  <a:srgbClr val="C00000"/>
                </a:solidFill>
              </a:rPr>
              <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762000" y="1905000"/>
            <a:ext cx="7696200" cy="4419600"/>
          </a:xfrm>
        </p:spPr>
        <p:txBody>
          <a:bodyPr>
            <a:normAutofit/>
          </a:bodyPr>
          <a:lstStyle/>
          <a:p>
            <a:pPr algn="just"/>
            <a:r>
              <a:rPr lang="en-US" dirty="0">
                <a:solidFill>
                  <a:schemeClr val="tx1"/>
                </a:solidFill>
              </a:rPr>
              <a:t>Software project planning is task, which is performed before the production of software actually starts. It is there for the software production but involves no concrete activity that has any direction connection with software production; rather it is a set of multiple processes, which facilitates software production. </a:t>
            </a:r>
          </a:p>
        </p:txBody>
      </p:sp>
    </p:spTree>
    <p:extLst>
      <p:ext uri="{BB962C8B-B14F-4D97-AF65-F5344CB8AC3E}">
        <p14:creationId xmlns:p14="http://schemas.microsoft.com/office/powerpoint/2010/main" val="949390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66800"/>
            <a:ext cx="7772400" cy="2209800"/>
          </a:xfrm>
        </p:spPr>
        <p:txBody>
          <a:bodyPr>
            <a:normAutofit fontScale="90000"/>
          </a:bodyPr>
          <a:lstStyle/>
          <a:p>
            <a:r>
              <a:rPr lang="en-US" dirty="0">
                <a:solidFill>
                  <a:srgbClr val="C00000"/>
                </a:solidFill>
              </a:rPr>
              <a:t>Scope Management</a:t>
            </a:r>
            <a:r>
              <a:rPr lang="en-US" dirty="0"/>
              <a:t/>
            </a:r>
            <a:br>
              <a:rPr lang="en-US" dirty="0"/>
            </a:br>
            <a:r>
              <a:rPr lang="en-US" dirty="0"/>
              <a:t/>
            </a:r>
            <a:br>
              <a:rPr lang="en-US" dirty="0"/>
            </a:br>
            <a:r>
              <a:rPr lang="en-US" dirty="0">
                <a:solidFill>
                  <a:srgbClr val="C00000"/>
                </a:solidFill>
              </a:rPr>
              <a:t/>
            </a:r>
            <a:br>
              <a:rPr lang="en-US" dirty="0">
                <a:solidFill>
                  <a:srgbClr val="C00000"/>
                </a:solidFill>
              </a:rPr>
            </a:br>
            <a:r>
              <a:rPr lang="en-US" dirty="0">
                <a:solidFill>
                  <a:srgbClr val="C00000"/>
                </a:solidFill>
              </a:rPr>
              <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762000" y="1905000"/>
            <a:ext cx="7696200" cy="4419600"/>
          </a:xfrm>
        </p:spPr>
        <p:txBody>
          <a:bodyPr>
            <a:normAutofit fontScale="92500" lnSpcReduction="10000"/>
          </a:bodyPr>
          <a:lstStyle/>
          <a:p>
            <a:pPr algn="just"/>
            <a:r>
              <a:rPr lang="en-US" dirty="0">
                <a:solidFill>
                  <a:schemeClr val="tx1"/>
                </a:solidFill>
                <a:latin typeface="Times New Roman" pitchFamily="18" charset="0"/>
                <a:cs typeface="Times New Roman" pitchFamily="18" charset="0"/>
              </a:rPr>
              <a:t>It defines the scope of project; this includes all the activities, process need to be done in order to make a deliverable software product. Scope management is essential because it creates boundaries of the project by clearly defining what would be done in the project and what would not be done. This makes project to contain limited and quantifiable tasks, which can easily be documented and in turn avoids cost and time overrun.</a:t>
            </a:r>
          </a:p>
        </p:txBody>
      </p:sp>
    </p:spTree>
    <p:extLst>
      <p:ext uri="{BB962C8B-B14F-4D97-AF65-F5344CB8AC3E}">
        <p14:creationId xmlns:p14="http://schemas.microsoft.com/office/powerpoint/2010/main" val="182574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66800"/>
            <a:ext cx="7772400" cy="2209800"/>
          </a:xfrm>
        </p:spPr>
        <p:txBody>
          <a:bodyPr>
            <a:normAutofit fontScale="90000"/>
          </a:bodyPr>
          <a:lstStyle/>
          <a:p>
            <a:r>
              <a:rPr lang="en-US" dirty="0">
                <a:solidFill>
                  <a:srgbClr val="C00000"/>
                </a:solidFill>
              </a:rPr>
              <a:t>Scope Management</a:t>
            </a:r>
            <a:r>
              <a:rPr lang="en-US" dirty="0"/>
              <a:t/>
            </a:r>
            <a:br>
              <a:rPr lang="en-US" dirty="0"/>
            </a:br>
            <a:r>
              <a:rPr lang="en-US" dirty="0"/>
              <a:t/>
            </a:r>
            <a:br>
              <a:rPr lang="en-US" dirty="0"/>
            </a:br>
            <a:r>
              <a:rPr lang="en-US" dirty="0">
                <a:solidFill>
                  <a:srgbClr val="C00000"/>
                </a:solidFill>
              </a:rPr>
              <a:t/>
            </a:r>
            <a:br>
              <a:rPr lang="en-US" dirty="0">
                <a:solidFill>
                  <a:srgbClr val="C00000"/>
                </a:solidFill>
              </a:rPr>
            </a:br>
            <a:r>
              <a:rPr lang="en-US" dirty="0">
                <a:solidFill>
                  <a:srgbClr val="C00000"/>
                </a:solidFill>
              </a:rPr>
              <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762000" y="1905000"/>
            <a:ext cx="7696200" cy="4419600"/>
          </a:xfrm>
        </p:spPr>
        <p:txBody>
          <a:bodyPr>
            <a:normAutofit fontScale="92500" lnSpcReduction="10000"/>
          </a:bodyPr>
          <a:lstStyle/>
          <a:p>
            <a:pPr algn="just"/>
            <a:r>
              <a:rPr lang="en-US" dirty="0">
                <a:solidFill>
                  <a:schemeClr val="tx1"/>
                </a:solidFill>
                <a:latin typeface="Times New Roman" pitchFamily="18" charset="0"/>
                <a:cs typeface="Times New Roman" pitchFamily="18" charset="0"/>
              </a:rPr>
              <a:t>During Project Scope management, it is necessary to -</a:t>
            </a:r>
          </a:p>
          <a:p>
            <a:pPr marL="457200" indent="-457200" algn="just">
              <a:buFont typeface="Arial" pitchFamily="34" charset="0"/>
              <a:buChar char="•"/>
            </a:pPr>
            <a:r>
              <a:rPr lang="en-US" dirty="0">
                <a:solidFill>
                  <a:schemeClr val="tx1"/>
                </a:solidFill>
                <a:latin typeface="Times New Roman" pitchFamily="18" charset="0"/>
                <a:cs typeface="Times New Roman" pitchFamily="18" charset="0"/>
              </a:rPr>
              <a:t>Define the </a:t>
            </a:r>
            <a:r>
              <a:rPr lang="en-US" dirty="0" smtClean="0">
                <a:solidFill>
                  <a:schemeClr val="tx1"/>
                </a:solidFill>
                <a:latin typeface="Times New Roman" pitchFamily="18" charset="0"/>
                <a:cs typeface="Times New Roman" pitchFamily="18" charset="0"/>
              </a:rPr>
              <a:t>scope</a:t>
            </a:r>
          </a:p>
          <a:p>
            <a:pPr marL="457200" indent="-457200" algn="just">
              <a:buFont typeface="Arial" pitchFamily="34" charset="0"/>
              <a:buChar char="•"/>
            </a:pPr>
            <a:r>
              <a:rPr lang="en-US" dirty="0" smtClean="0">
                <a:solidFill>
                  <a:schemeClr val="tx1"/>
                </a:solidFill>
                <a:latin typeface="Times New Roman" pitchFamily="18" charset="0"/>
                <a:cs typeface="Times New Roman" pitchFamily="18" charset="0"/>
              </a:rPr>
              <a:t>Decide </a:t>
            </a:r>
            <a:r>
              <a:rPr lang="en-US" dirty="0">
                <a:solidFill>
                  <a:schemeClr val="tx1"/>
                </a:solidFill>
                <a:latin typeface="Times New Roman" pitchFamily="18" charset="0"/>
                <a:cs typeface="Times New Roman" pitchFamily="18" charset="0"/>
              </a:rPr>
              <a:t>its verification and </a:t>
            </a:r>
            <a:r>
              <a:rPr lang="en-US" dirty="0" smtClean="0">
                <a:solidFill>
                  <a:schemeClr val="tx1"/>
                </a:solidFill>
                <a:latin typeface="Times New Roman" pitchFamily="18" charset="0"/>
                <a:cs typeface="Times New Roman" pitchFamily="18" charset="0"/>
              </a:rPr>
              <a:t>control</a:t>
            </a:r>
          </a:p>
          <a:p>
            <a:pPr marL="457200" indent="-457200" algn="just">
              <a:buFont typeface="Arial" pitchFamily="34" charset="0"/>
              <a:buChar char="•"/>
            </a:pPr>
            <a:r>
              <a:rPr lang="en-US" dirty="0" smtClean="0">
                <a:solidFill>
                  <a:schemeClr val="tx1"/>
                </a:solidFill>
                <a:latin typeface="Times New Roman" pitchFamily="18" charset="0"/>
                <a:cs typeface="Times New Roman" pitchFamily="18" charset="0"/>
              </a:rPr>
              <a:t>Divide </a:t>
            </a:r>
            <a:r>
              <a:rPr lang="en-US" dirty="0">
                <a:solidFill>
                  <a:schemeClr val="tx1"/>
                </a:solidFill>
                <a:latin typeface="Times New Roman" pitchFamily="18" charset="0"/>
                <a:cs typeface="Times New Roman" pitchFamily="18" charset="0"/>
              </a:rPr>
              <a:t>the project into various smaller parts for ease of management</a:t>
            </a:r>
            <a:r>
              <a:rPr lang="en-US" dirty="0" smtClean="0">
                <a:solidFill>
                  <a:schemeClr val="tx1"/>
                </a:solidFill>
                <a:latin typeface="Times New Roman" pitchFamily="18" charset="0"/>
                <a:cs typeface="Times New Roman" pitchFamily="18" charset="0"/>
              </a:rPr>
              <a:t>.</a:t>
            </a:r>
          </a:p>
          <a:p>
            <a:pPr marL="457200" indent="-457200" algn="just">
              <a:buFont typeface="Arial" pitchFamily="34" charset="0"/>
              <a:buChar char="•"/>
            </a:pPr>
            <a:r>
              <a:rPr lang="en-US" dirty="0" smtClean="0">
                <a:solidFill>
                  <a:schemeClr val="tx1"/>
                </a:solidFill>
                <a:latin typeface="Times New Roman" pitchFamily="18" charset="0"/>
                <a:cs typeface="Times New Roman" pitchFamily="18" charset="0"/>
              </a:rPr>
              <a:t>Verify </a:t>
            </a:r>
            <a:r>
              <a:rPr lang="en-US" dirty="0">
                <a:solidFill>
                  <a:schemeClr val="tx1"/>
                </a:solidFill>
                <a:latin typeface="Times New Roman" pitchFamily="18" charset="0"/>
                <a:cs typeface="Times New Roman" pitchFamily="18" charset="0"/>
              </a:rPr>
              <a:t>the </a:t>
            </a:r>
            <a:r>
              <a:rPr lang="en-US" dirty="0" smtClean="0">
                <a:solidFill>
                  <a:schemeClr val="tx1"/>
                </a:solidFill>
                <a:latin typeface="Times New Roman" pitchFamily="18" charset="0"/>
                <a:cs typeface="Times New Roman" pitchFamily="18" charset="0"/>
              </a:rPr>
              <a:t>scope</a:t>
            </a:r>
          </a:p>
          <a:p>
            <a:pPr marL="457200" indent="-457200" algn="just">
              <a:buFont typeface="Arial" pitchFamily="34" charset="0"/>
              <a:buChar char="•"/>
            </a:pPr>
            <a:r>
              <a:rPr lang="en-US" dirty="0" smtClean="0">
                <a:solidFill>
                  <a:schemeClr val="tx1"/>
                </a:solidFill>
                <a:latin typeface="Times New Roman" pitchFamily="18" charset="0"/>
                <a:cs typeface="Times New Roman" pitchFamily="18" charset="0"/>
              </a:rPr>
              <a:t>Control </a:t>
            </a:r>
            <a:r>
              <a:rPr lang="en-US" dirty="0">
                <a:solidFill>
                  <a:schemeClr val="tx1"/>
                </a:solidFill>
                <a:latin typeface="Times New Roman" pitchFamily="18" charset="0"/>
                <a:cs typeface="Times New Roman" pitchFamily="18" charset="0"/>
              </a:rPr>
              <a:t>the scope by incorporating changes to the scope</a:t>
            </a:r>
          </a:p>
        </p:txBody>
      </p:sp>
    </p:spTree>
    <p:extLst>
      <p:ext uri="{BB962C8B-B14F-4D97-AF65-F5344CB8AC3E}">
        <p14:creationId xmlns:p14="http://schemas.microsoft.com/office/powerpoint/2010/main" val="2823191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66800"/>
            <a:ext cx="7772400" cy="2209800"/>
          </a:xfrm>
        </p:spPr>
        <p:txBody>
          <a:bodyPr>
            <a:normAutofit fontScale="90000"/>
          </a:bodyPr>
          <a:lstStyle/>
          <a:p>
            <a:r>
              <a:rPr lang="en-US" dirty="0">
                <a:solidFill>
                  <a:srgbClr val="C00000"/>
                </a:solidFill>
              </a:rPr>
              <a:t>Project Estimation</a:t>
            </a:r>
            <a:br>
              <a:rPr lang="en-US" dirty="0">
                <a:solidFill>
                  <a:srgbClr val="C00000"/>
                </a:solidFill>
              </a:rPr>
            </a:br>
            <a:r>
              <a:rPr lang="en-US" dirty="0"/>
              <a:t/>
            </a:r>
            <a:br>
              <a:rPr lang="en-US" dirty="0"/>
            </a:br>
            <a:r>
              <a:rPr lang="en-US" dirty="0"/>
              <a:t/>
            </a:r>
            <a:br>
              <a:rPr lang="en-US" dirty="0"/>
            </a:br>
            <a:r>
              <a:rPr lang="en-US" dirty="0">
                <a:solidFill>
                  <a:srgbClr val="C00000"/>
                </a:solidFill>
              </a:rPr>
              <a:t/>
            </a:r>
            <a:br>
              <a:rPr lang="en-US" dirty="0">
                <a:solidFill>
                  <a:srgbClr val="C00000"/>
                </a:solidFill>
              </a:rPr>
            </a:br>
            <a:r>
              <a:rPr lang="en-US" dirty="0">
                <a:solidFill>
                  <a:srgbClr val="C00000"/>
                </a:solidFill>
              </a:rPr>
              <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762000" y="1524000"/>
            <a:ext cx="7696200" cy="4800600"/>
          </a:xfrm>
        </p:spPr>
        <p:txBody>
          <a:bodyPr>
            <a:normAutofit fontScale="85000" lnSpcReduction="20000"/>
          </a:bodyPr>
          <a:lstStyle/>
          <a:p>
            <a:pPr algn="just"/>
            <a:r>
              <a:rPr lang="en-US" dirty="0" smtClean="0">
                <a:solidFill>
                  <a:schemeClr val="tx1"/>
                </a:solidFill>
                <a:latin typeface="Times New Roman" pitchFamily="18" charset="0"/>
                <a:cs typeface="Times New Roman" pitchFamily="18" charset="0"/>
              </a:rPr>
              <a:t>	For </a:t>
            </a:r>
            <a:r>
              <a:rPr lang="en-US" dirty="0">
                <a:solidFill>
                  <a:schemeClr val="tx1"/>
                </a:solidFill>
                <a:latin typeface="Times New Roman" pitchFamily="18" charset="0"/>
                <a:cs typeface="Times New Roman" pitchFamily="18" charset="0"/>
              </a:rPr>
              <a:t>an effective management accurate estimation of various measures is a must. With correct estimation managers can manage and control the project more efficiently and effectively</a:t>
            </a:r>
            <a:r>
              <a:rPr lang="en-US" dirty="0" smtClean="0">
                <a:solidFill>
                  <a:schemeClr val="tx1"/>
                </a:solidFill>
                <a:latin typeface="Times New Roman" pitchFamily="18" charset="0"/>
                <a:cs typeface="Times New Roman" pitchFamily="18" charset="0"/>
              </a:rPr>
              <a:t>.</a:t>
            </a:r>
          </a:p>
          <a:p>
            <a:pPr algn="just"/>
            <a:endParaRPr lang="en-US" dirty="0">
              <a:solidFill>
                <a:schemeClr val="tx1"/>
              </a:solidFill>
              <a:latin typeface="Times New Roman" pitchFamily="18" charset="0"/>
              <a:cs typeface="Times New Roman" pitchFamily="18" charset="0"/>
            </a:endParaRPr>
          </a:p>
          <a:p>
            <a:pPr algn="just"/>
            <a:r>
              <a:rPr lang="en-US" dirty="0">
                <a:solidFill>
                  <a:schemeClr val="tx1"/>
                </a:solidFill>
                <a:latin typeface="Times New Roman" pitchFamily="18" charset="0"/>
                <a:cs typeface="Times New Roman" pitchFamily="18" charset="0"/>
              </a:rPr>
              <a:t>Project estimation may involve the following:</a:t>
            </a:r>
          </a:p>
          <a:p>
            <a:pPr marL="457200" indent="-457200" algn="just">
              <a:buFont typeface="Arial" pitchFamily="34" charset="0"/>
              <a:buChar char="•"/>
            </a:pPr>
            <a:r>
              <a:rPr lang="en-US" b="1" dirty="0">
                <a:solidFill>
                  <a:schemeClr val="tx1"/>
                </a:solidFill>
                <a:latin typeface="Times New Roman" pitchFamily="18" charset="0"/>
                <a:cs typeface="Times New Roman" pitchFamily="18" charset="0"/>
              </a:rPr>
              <a:t>Software size </a:t>
            </a:r>
            <a:r>
              <a:rPr lang="en-US" b="1" dirty="0" smtClean="0">
                <a:solidFill>
                  <a:schemeClr val="tx1"/>
                </a:solidFill>
                <a:latin typeface="Times New Roman" pitchFamily="18" charset="0"/>
                <a:cs typeface="Times New Roman" pitchFamily="18" charset="0"/>
              </a:rPr>
              <a:t>estimation</a:t>
            </a:r>
          </a:p>
          <a:p>
            <a:pPr algn="just"/>
            <a:r>
              <a:rPr lang="en-US" dirty="0" smtClean="0">
                <a:solidFill>
                  <a:schemeClr val="tx1"/>
                </a:solidFill>
                <a:latin typeface="Times New Roman" pitchFamily="18" charset="0"/>
                <a:cs typeface="Times New Roman" pitchFamily="18" charset="0"/>
              </a:rPr>
              <a:t>Software </a:t>
            </a:r>
            <a:r>
              <a:rPr lang="en-US" dirty="0">
                <a:solidFill>
                  <a:schemeClr val="tx1"/>
                </a:solidFill>
                <a:latin typeface="Times New Roman" pitchFamily="18" charset="0"/>
                <a:cs typeface="Times New Roman" pitchFamily="18" charset="0"/>
              </a:rPr>
              <a:t>size may be estimated either in terms of KLOC (Kilo Line of Code) or by calculating number of function points in the software. Lines of code depend upon coding practices and Function points vary according to the user or software requirement.</a:t>
            </a:r>
          </a:p>
        </p:txBody>
      </p:sp>
    </p:spTree>
    <p:extLst>
      <p:ext uri="{BB962C8B-B14F-4D97-AF65-F5344CB8AC3E}">
        <p14:creationId xmlns:p14="http://schemas.microsoft.com/office/powerpoint/2010/main" val="2013918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66800"/>
            <a:ext cx="7772400" cy="2209800"/>
          </a:xfrm>
        </p:spPr>
        <p:txBody>
          <a:bodyPr>
            <a:normAutofit fontScale="90000"/>
          </a:bodyPr>
          <a:lstStyle/>
          <a:p>
            <a:r>
              <a:rPr lang="en-US" dirty="0">
                <a:solidFill>
                  <a:srgbClr val="C00000"/>
                </a:solidFill>
              </a:rPr>
              <a:t>Project Estimation</a:t>
            </a:r>
            <a:br>
              <a:rPr lang="en-US" dirty="0">
                <a:solidFill>
                  <a:srgbClr val="C00000"/>
                </a:solidFill>
              </a:rPr>
            </a:br>
            <a:r>
              <a:rPr lang="en-US" dirty="0"/>
              <a:t/>
            </a:r>
            <a:br>
              <a:rPr lang="en-US" dirty="0"/>
            </a:br>
            <a:r>
              <a:rPr lang="en-US" dirty="0"/>
              <a:t/>
            </a:r>
            <a:br>
              <a:rPr lang="en-US" dirty="0"/>
            </a:br>
            <a:r>
              <a:rPr lang="en-US" dirty="0">
                <a:solidFill>
                  <a:srgbClr val="C00000"/>
                </a:solidFill>
              </a:rPr>
              <a:t/>
            </a:r>
            <a:br>
              <a:rPr lang="en-US" dirty="0">
                <a:solidFill>
                  <a:srgbClr val="C00000"/>
                </a:solidFill>
              </a:rPr>
            </a:br>
            <a:r>
              <a:rPr lang="en-US" dirty="0">
                <a:solidFill>
                  <a:srgbClr val="C00000"/>
                </a:solidFill>
              </a:rPr>
              <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762000" y="1524000"/>
            <a:ext cx="7696200" cy="4800600"/>
          </a:xfrm>
        </p:spPr>
        <p:txBody>
          <a:bodyPr>
            <a:normAutofit/>
          </a:bodyPr>
          <a:lstStyle/>
          <a:p>
            <a:pPr marL="457200" indent="-457200" algn="just">
              <a:buFont typeface="Arial" pitchFamily="34" charset="0"/>
              <a:buChar char="•"/>
            </a:pPr>
            <a:r>
              <a:rPr lang="en-US" b="1" dirty="0" smtClean="0">
                <a:solidFill>
                  <a:schemeClr val="tx1"/>
                </a:solidFill>
                <a:latin typeface="Times New Roman" pitchFamily="18" charset="0"/>
                <a:cs typeface="Times New Roman" pitchFamily="18" charset="0"/>
              </a:rPr>
              <a:t>Effort estimation</a:t>
            </a:r>
          </a:p>
          <a:p>
            <a:pPr algn="just"/>
            <a:r>
              <a:rPr lang="en-US" dirty="0" smtClean="0">
                <a:solidFill>
                  <a:schemeClr val="tx1"/>
                </a:solidFill>
                <a:latin typeface="Times New Roman" pitchFamily="18" charset="0"/>
                <a:cs typeface="Times New Roman" pitchFamily="18" charset="0"/>
              </a:rPr>
              <a:t>The </a:t>
            </a:r>
            <a:r>
              <a:rPr lang="en-US" dirty="0">
                <a:solidFill>
                  <a:schemeClr val="tx1"/>
                </a:solidFill>
                <a:latin typeface="Times New Roman" pitchFamily="18" charset="0"/>
                <a:cs typeface="Times New Roman" pitchFamily="18" charset="0"/>
              </a:rPr>
              <a:t>managers estimate efforts in terms of personnel requirement and man-hour required to produce the software. For effort estimation software size should be known. This can either be derived by managers’ experience, organization’s historical data or software size can be converted into efforts by using some standard formulae.</a:t>
            </a:r>
          </a:p>
        </p:txBody>
      </p:sp>
    </p:spTree>
    <p:extLst>
      <p:ext uri="{BB962C8B-B14F-4D97-AF65-F5344CB8AC3E}">
        <p14:creationId xmlns:p14="http://schemas.microsoft.com/office/powerpoint/2010/main" val="658351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66800"/>
            <a:ext cx="7772400" cy="2209800"/>
          </a:xfrm>
        </p:spPr>
        <p:txBody>
          <a:bodyPr>
            <a:normAutofit fontScale="90000"/>
          </a:bodyPr>
          <a:lstStyle/>
          <a:p>
            <a:r>
              <a:rPr lang="en-US" dirty="0">
                <a:solidFill>
                  <a:srgbClr val="C00000"/>
                </a:solidFill>
              </a:rPr>
              <a:t>Project Estimation</a:t>
            </a:r>
            <a:br>
              <a:rPr lang="en-US" dirty="0">
                <a:solidFill>
                  <a:srgbClr val="C00000"/>
                </a:solidFill>
              </a:rPr>
            </a:br>
            <a:r>
              <a:rPr lang="en-US" dirty="0"/>
              <a:t/>
            </a:r>
            <a:br>
              <a:rPr lang="en-US" dirty="0"/>
            </a:br>
            <a:r>
              <a:rPr lang="en-US" dirty="0"/>
              <a:t/>
            </a:r>
            <a:br>
              <a:rPr lang="en-US" dirty="0"/>
            </a:br>
            <a:r>
              <a:rPr lang="en-US" dirty="0">
                <a:solidFill>
                  <a:srgbClr val="C00000"/>
                </a:solidFill>
              </a:rPr>
              <a:t/>
            </a:r>
            <a:br>
              <a:rPr lang="en-US" dirty="0">
                <a:solidFill>
                  <a:srgbClr val="C00000"/>
                </a:solidFill>
              </a:rPr>
            </a:br>
            <a:r>
              <a:rPr lang="en-US" dirty="0">
                <a:solidFill>
                  <a:srgbClr val="C00000"/>
                </a:solidFill>
              </a:rPr>
              <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762000" y="1524000"/>
            <a:ext cx="7696200" cy="4800600"/>
          </a:xfrm>
        </p:spPr>
        <p:txBody>
          <a:bodyPr>
            <a:normAutofit fontScale="85000" lnSpcReduction="10000"/>
          </a:bodyPr>
          <a:lstStyle/>
          <a:p>
            <a:pPr marL="457200" indent="-457200" algn="just">
              <a:buFont typeface="Arial" pitchFamily="34" charset="0"/>
              <a:buChar char="•"/>
            </a:pPr>
            <a:r>
              <a:rPr lang="en-US" b="1" dirty="0">
                <a:solidFill>
                  <a:schemeClr val="tx1"/>
                </a:solidFill>
                <a:latin typeface="Times New Roman" pitchFamily="18" charset="0"/>
                <a:cs typeface="Times New Roman" pitchFamily="18" charset="0"/>
              </a:rPr>
              <a:t>Time </a:t>
            </a:r>
            <a:r>
              <a:rPr lang="en-US" b="1" dirty="0" smtClean="0">
                <a:solidFill>
                  <a:schemeClr val="tx1"/>
                </a:solidFill>
                <a:latin typeface="Times New Roman" pitchFamily="18" charset="0"/>
                <a:cs typeface="Times New Roman" pitchFamily="18" charset="0"/>
              </a:rPr>
              <a:t>estimation</a:t>
            </a:r>
          </a:p>
          <a:p>
            <a:pPr algn="just"/>
            <a:r>
              <a:rPr lang="en-US" dirty="0" smtClean="0">
                <a:solidFill>
                  <a:schemeClr val="tx1"/>
                </a:solidFill>
                <a:latin typeface="Times New Roman" pitchFamily="18" charset="0"/>
                <a:cs typeface="Times New Roman" pitchFamily="18" charset="0"/>
              </a:rPr>
              <a:t>Once </a:t>
            </a:r>
            <a:r>
              <a:rPr lang="en-US" dirty="0">
                <a:solidFill>
                  <a:schemeClr val="tx1"/>
                </a:solidFill>
                <a:latin typeface="Times New Roman" pitchFamily="18" charset="0"/>
                <a:cs typeface="Times New Roman" pitchFamily="18" charset="0"/>
              </a:rPr>
              <a:t>size and efforts are estimated, the time required to produce the software can be estimated. Efforts required is segregated into sub categories as per the requirement specifications and interdependency of various components of software. Software tasks are divided into smaller tasks, activities or events by Work Breakthrough Structure (WBS). The tasks are scheduled on day-to-day basis or in calendar months.</a:t>
            </a:r>
          </a:p>
          <a:p>
            <a:pPr algn="just"/>
            <a:r>
              <a:rPr lang="en-US" dirty="0" smtClean="0">
                <a:solidFill>
                  <a:schemeClr val="tx1"/>
                </a:solidFill>
                <a:latin typeface="Times New Roman" pitchFamily="18" charset="0"/>
                <a:cs typeface="Times New Roman" pitchFamily="18" charset="0"/>
              </a:rPr>
              <a:t>	The </a:t>
            </a:r>
            <a:r>
              <a:rPr lang="en-US" dirty="0">
                <a:solidFill>
                  <a:schemeClr val="tx1"/>
                </a:solidFill>
                <a:latin typeface="Times New Roman" pitchFamily="18" charset="0"/>
                <a:cs typeface="Times New Roman" pitchFamily="18" charset="0"/>
              </a:rPr>
              <a:t>sum of time required to complete all tasks in hours or days is the total time invested to complete the project.</a:t>
            </a:r>
          </a:p>
        </p:txBody>
      </p:sp>
    </p:spTree>
    <p:extLst>
      <p:ext uri="{BB962C8B-B14F-4D97-AF65-F5344CB8AC3E}">
        <p14:creationId xmlns:p14="http://schemas.microsoft.com/office/powerpoint/2010/main" val="3634992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66800"/>
            <a:ext cx="7772400" cy="2209800"/>
          </a:xfrm>
        </p:spPr>
        <p:txBody>
          <a:bodyPr>
            <a:normAutofit fontScale="90000"/>
          </a:bodyPr>
          <a:lstStyle/>
          <a:p>
            <a:r>
              <a:rPr lang="en-US" dirty="0">
                <a:solidFill>
                  <a:srgbClr val="C00000"/>
                </a:solidFill>
              </a:rPr>
              <a:t>Project Estimation</a:t>
            </a:r>
            <a:br>
              <a:rPr lang="en-US" dirty="0">
                <a:solidFill>
                  <a:srgbClr val="C00000"/>
                </a:solidFill>
              </a:rPr>
            </a:br>
            <a:r>
              <a:rPr lang="en-US" dirty="0"/>
              <a:t/>
            </a:r>
            <a:br>
              <a:rPr lang="en-US" dirty="0"/>
            </a:br>
            <a:r>
              <a:rPr lang="en-US" dirty="0"/>
              <a:t/>
            </a:r>
            <a:br>
              <a:rPr lang="en-US" dirty="0"/>
            </a:br>
            <a:r>
              <a:rPr lang="en-US" dirty="0">
                <a:solidFill>
                  <a:srgbClr val="C00000"/>
                </a:solidFill>
              </a:rPr>
              <a:t/>
            </a:r>
            <a:br>
              <a:rPr lang="en-US" dirty="0">
                <a:solidFill>
                  <a:srgbClr val="C00000"/>
                </a:solidFill>
              </a:rPr>
            </a:br>
            <a:r>
              <a:rPr lang="en-US" dirty="0">
                <a:solidFill>
                  <a:srgbClr val="C00000"/>
                </a:solidFill>
              </a:rPr>
              <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762000" y="1524000"/>
            <a:ext cx="7696200" cy="4800600"/>
          </a:xfrm>
        </p:spPr>
        <p:txBody>
          <a:bodyPr>
            <a:normAutofit fontScale="85000" lnSpcReduction="20000"/>
          </a:bodyPr>
          <a:lstStyle/>
          <a:p>
            <a:pPr marL="457200" indent="-457200" algn="just">
              <a:buFont typeface="Arial" pitchFamily="34" charset="0"/>
              <a:buChar char="•"/>
            </a:pPr>
            <a:r>
              <a:rPr lang="en-US" b="1" dirty="0">
                <a:solidFill>
                  <a:schemeClr val="tx1"/>
                </a:solidFill>
                <a:latin typeface="Times New Roman" pitchFamily="18" charset="0"/>
                <a:cs typeface="Times New Roman" pitchFamily="18" charset="0"/>
              </a:rPr>
              <a:t>Cost </a:t>
            </a:r>
            <a:r>
              <a:rPr lang="en-US" b="1" dirty="0" smtClean="0">
                <a:solidFill>
                  <a:schemeClr val="tx1"/>
                </a:solidFill>
                <a:latin typeface="Times New Roman" pitchFamily="18" charset="0"/>
                <a:cs typeface="Times New Roman" pitchFamily="18" charset="0"/>
              </a:rPr>
              <a:t>estimation</a:t>
            </a:r>
          </a:p>
          <a:p>
            <a:pPr algn="just"/>
            <a:r>
              <a:rPr lang="en-US" dirty="0" smtClean="0">
                <a:solidFill>
                  <a:schemeClr val="tx1"/>
                </a:solidFill>
                <a:latin typeface="Times New Roman" pitchFamily="18" charset="0"/>
                <a:cs typeface="Times New Roman" pitchFamily="18" charset="0"/>
              </a:rPr>
              <a:t>This </a:t>
            </a:r>
            <a:r>
              <a:rPr lang="en-US" dirty="0">
                <a:solidFill>
                  <a:schemeClr val="tx1"/>
                </a:solidFill>
                <a:latin typeface="Times New Roman" pitchFamily="18" charset="0"/>
                <a:cs typeface="Times New Roman" pitchFamily="18" charset="0"/>
              </a:rPr>
              <a:t>might be considered as the most difficult of all because it depends on more elements than any of the previous ones. For estimating project cost, it is required to consider -</a:t>
            </a:r>
          </a:p>
          <a:p>
            <a:pPr marL="914400" lvl="1" indent="-457200" algn="just">
              <a:buFont typeface="Wingdings" pitchFamily="2" charset="2"/>
              <a:buChar char="Ø"/>
            </a:pPr>
            <a:r>
              <a:rPr lang="en-US" dirty="0">
                <a:solidFill>
                  <a:schemeClr val="tx1"/>
                </a:solidFill>
                <a:latin typeface="Times New Roman" pitchFamily="18" charset="0"/>
                <a:cs typeface="Times New Roman" pitchFamily="18" charset="0"/>
              </a:rPr>
              <a:t>Size of </a:t>
            </a:r>
            <a:r>
              <a:rPr lang="en-US" dirty="0" smtClean="0">
                <a:solidFill>
                  <a:schemeClr val="tx1"/>
                </a:solidFill>
                <a:latin typeface="Times New Roman" pitchFamily="18" charset="0"/>
                <a:cs typeface="Times New Roman" pitchFamily="18" charset="0"/>
              </a:rPr>
              <a:t>software</a:t>
            </a:r>
          </a:p>
          <a:p>
            <a:pPr marL="914400" lvl="1" indent="-457200" algn="just">
              <a:buFont typeface="Wingdings" pitchFamily="2" charset="2"/>
              <a:buChar char="Ø"/>
            </a:pPr>
            <a:r>
              <a:rPr lang="en-US" dirty="0" smtClean="0">
                <a:solidFill>
                  <a:schemeClr val="tx1"/>
                </a:solidFill>
                <a:latin typeface="Times New Roman" pitchFamily="18" charset="0"/>
                <a:cs typeface="Times New Roman" pitchFamily="18" charset="0"/>
              </a:rPr>
              <a:t>Software quality</a:t>
            </a:r>
          </a:p>
          <a:p>
            <a:pPr marL="914400" lvl="1" indent="-457200" algn="just">
              <a:buFont typeface="Wingdings" pitchFamily="2" charset="2"/>
              <a:buChar char="Ø"/>
            </a:pPr>
            <a:r>
              <a:rPr lang="en-US" dirty="0" smtClean="0">
                <a:solidFill>
                  <a:schemeClr val="tx1"/>
                </a:solidFill>
                <a:latin typeface="Times New Roman" pitchFamily="18" charset="0"/>
                <a:cs typeface="Times New Roman" pitchFamily="18" charset="0"/>
              </a:rPr>
              <a:t>Hardware</a:t>
            </a:r>
          </a:p>
          <a:p>
            <a:pPr marL="914400" lvl="1" indent="-457200" algn="just">
              <a:buFont typeface="Wingdings" pitchFamily="2" charset="2"/>
              <a:buChar char="Ø"/>
            </a:pPr>
            <a:r>
              <a:rPr lang="en-US" dirty="0" smtClean="0">
                <a:solidFill>
                  <a:schemeClr val="tx1"/>
                </a:solidFill>
                <a:latin typeface="Times New Roman" pitchFamily="18" charset="0"/>
                <a:cs typeface="Times New Roman" pitchFamily="18" charset="0"/>
              </a:rPr>
              <a:t>Additional </a:t>
            </a:r>
            <a:r>
              <a:rPr lang="en-US" dirty="0">
                <a:solidFill>
                  <a:schemeClr val="tx1"/>
                </a:solidFill>
                <a:latin typeface="Times New Roman" pitchFamily="18" charset="0"/>
                <a:cs typeface="Times New Roman" pitchFamily="18" charset="0"/>
              </a:rPr>
              <a:t>software or tools, licenses etc</a:t>
            </a:r>
            <a:r>
              <a:rPr lang="en-US" dirty="0" smtClean="0">
                <a:solidFill>
                  <a:schemeClr val="tx1"/>
                </a:solidFill>
                <a:latin typeface="Times New Roman" pitchFamily="18" charset="0"/>
                <a:cs typeface="Times New Roman" pitchFamily="18" charset="0"/>
              </a:rPr>
              <a:t>.</a:t>
            </a:r>
          </a:p>
          <a:p>
            <a:pPr marL="914400" lvl="1" indent="-457200" algn="just">
              <a:buFont typeface="Wingdings" pitchFamily="2" charset="2"/>
              <a:buChar char="Ø"/>
            </a:pPr>
            <a:r>
              <a:rPr lang="en-US" dirty="0" smtClean="0">
                <a:solidFill>
                  <a:schemeClr val="tx1"/>
                </a:solidFill>
                <a:latin typeface="Times New Roman" pitchFamily="18" charset="0"/>
                <a:cs typeface="Times New Roman" pitchFamily="18" charset="0"/>
              </a:rPr>
              <a:t>Skilled </a:t>
            </a:r>
            <a:r>
              <a:rPr lang="en-US" dirty="0">
                <a:solidFill>
                  <a:schemeClr val="tx1"/>
                </a:solidFill>
                <a:latin typeface="Times New Roman" pitchFamily="18" charset="0"/>
                <a:cs typeface="Times New Roman" pitchFamily="18" charset="0"/>
              </a:rPr>
              <a:t>personnel with task-specific </a:t>
            </a:r>
            <a:r>
              <a:rPr lang="en-US" dirty="0" smtClean="0">
                <a:solidFill>
                  <a:schemeClr val="tx1"/>
                </a:solidFill>
                <a:latin typeface="Times New Roman" pitchFamily="18" charset="0"/>
                <a:cs typeface="Times New Roman" pitchFamily="18" charset="0"/>
              </a:rPr>
              <a:t>skills</a:t>
            </a:r>
          </a:p>
          <a:p>
            <a:pPr marL="914400" lvl="1" indent="-457200" algn="just">
              <a:buFont typeface="Wingdings" pitchFamily="2" charset="2"/>
              <a:buChar char="Ø"/>
            </a:pPr>
            <a:r>
              <a:rPr lang="en-US" dirty="0" smtClean="0">
                <a:solidFill>
                  <a:schemeClr val="tx1"/>
                </a:solidFill>
                <a:latin typeface="Times New Roman" pitchFamily="18" charset="0"/>
                <a:cs typeface="Times New Roman" pitchFamily="18" charset="0"/>
              </a:rPr>
              <a:t>Travel involved</a:t>
            </a:r>
          </a:p>
          <a:p>
            <a:pPr marL="914400" lvl="1" indent="-457200" algn="just">
              <a:buFont typeface="Wingdings" pitchFamily="2" charset="2"/>
              <a:buChar char="Ø"/>
            </a:pPr>
            <a:r>
              <a:rPr lang="en-US" dirty="0" smtClean="0">
                <a:solidFill>
                  <a:schemeClr val="tx1"/>
                </a:solidFill>
                <a:latin typeface="Times New Roman" pitchFamily="18" charset="0"/>
                <a:cs typeface="Times New Roman" pitchFamily="18" charset="0"/>
              </a:rPr>
              <a:t>Communication</a:t>
            </a:r>
          </a:p>
          <a:p>
            <a:pPr marL="914400" lvl="1" indent="-457200" algn="just">
              <a:buFont typeface="Wingdings" pitchFamily="2" charset="2"/>
              <a:buChar char="Ø"/>
            </a:pPr>
            <a:r>
              <a:rPr lang="en-US" dirty="0" smtClean="0">
                <a:solidFill>
                  <a:schemeClr val="tx1"/>
                </a:solidFill>
                <a:latin typeface="Times New Roman" pitchFamily="18" charset="0"/>
                <a:cs typeface="Times New Roman" pitchFamily="18" charset="0"/>
              </a:rPr>
              <a:t>Training </a:t>
            </a:r>
            <a:r>
              <a:rPr lang="en-US" dirty="0">
                <a:solidFill>
                  <a:schemeClr val="tx1"/>
                </a:solidFill>
                <a:latin typeface="Times New Roman" pitchFamily="18" charset="0"/>
                <a:cs typeface="Times New Roman" pitchFamily="18" charset="0"/>
              </a:rPr>
              <a:t>and support</a:t>
            </a: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891058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514</Words>
  <Application>Microsoft Office PowerPoint</Application>
  <PresentationFormat>On-screen Show (4:3)</PresentationFormat>
  <Paragraphs>71</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Software Management  </vt:lpstr>
      <vt:lpstr>What is Project? </vt:lpstr>
      <vt:lpstr>What is software project management?  </vt:lpstr>
      <vt:lpstr>Need of software project management  </vt:lpstr>
      <vt:lpstr>Need of software project management  </vt:lpstr>
      <vt:lpstr>Responsibilities of a Project Manager:  </vt:lpstr>
      <vt:lpstr>Responsibilities of a Project Manager:  </vt:lpstr>
      <vt:lpstr>Software Management Activities  </vt:lpstr>
      <vt:lpstr>Project Planning   </vt:lpstr>
      <vt:lpstr>Scope Management    </vt:lpstr>
      <vt:lpstr>Scope Management    </vt:lpstr>
      <vt:lpstr>Project Estimation     </vt:lpstr>
      <vt:lpstr>Project Estimation     </vt:lpstr>
      <vt:lpstr>Project Estimation     </vt:lpstr>
      <vt:lpstr>Project Estimation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Management</dc:title>
  <dc:creator>tara</dc:creator>
  <cp:lastModifiedBy>tara</cp:lastModifiedBy>
  <cp:revision>6</cp:revision>
  <dcterms:created xsi:type="dcterms:W3CDTF">2022-09-12T06:23:04Z</dcterms:created>
  <dcterms:modified xsi:type="dcterms:W3CDTF">2022-09-12T07:03:35Z</dcterms:modified>
</cp:coreProperties>
</file>