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36F20F-0442-41F0-AF02-6275F5859900}" type="datetimeFigureOut">
              <a:rPr lang="en-US" smtClean="0"/>
              <a:t>9/6/2022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813734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36F20F-0442-41F0-AF02-6275F5859900}" type="datetimeFigureOut">
              <a:rPr lang="en-US" smtClean="0"/>
              <a:t>9/6/2022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1529533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36F20F-0442-41F0-AF02-6275F5859900}" type="datetimeFigureOut">
              <a:rPr lang="en-US" smtClean="0"/>
              <a:t>9/6/2022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1336553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36F20F-0442-41F0-AF02-6275F5859900}" type="datetimeFigureOut">
              <a:rPr lang="en-US" smtClean="0"/>
              <a:t>9/6/2022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3952922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36F20F-0442-41F0-AF02-6275F5859900}" type="datetimeFigureOut">
              <a:rPr lang="en-US" smtClean="0"/>
              <a:t>9/6/2022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1358600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36F20F-0442-41F0-AF02-6275F5859900}" type="datetimeFigureOut">
              <a:rPr lang="en-US" smtClean="0"/>
              <a:t>9/6/2022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304528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36F20F-0442-41F0-AF02-6275F5859900}" type="datetimeFigureOut">
              <a:rPr lang="en-US" smtClean="0"/>
              <a:t>9/6/2022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55108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36F20F-0442-41F0-AF02-6275F5859900}" type="datetimeFigureOut">
              <a:rPr lang="en-US" smtClean="0"/>
              <a:t>9/6/2022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305321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36F20F-0442-41F0-AF02-6275F5859900}" type="datetimeFigureOut">
              <a:rPr lang="en-US" smtClean="0"/>
              <a:t>9/6/2022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1486421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36F20F-0442-41F0-AF02-6275F5859900}" type="datetimeFigureOut">
              <a:rPr lang="en-US" smtClean="0"/>
              <a:t>9/6/2022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4199324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36F20F-0442-41F0-AF02-6275F5859900}" type="datetimeFigureOut">
              <a:rPr lang="en-US" smtClean="0"/>
              <a:t>9/6/2022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A56E1-5CE6-495B-8B0B-B9CAFECE2AAD}" type="slidenum">
              <a:rPr lang="en-US" smtClean="0"/>
              <a:t>‹#›</a:t>
            </a:fld>
            <a:endParaRPr lang="en-US"/>
          </a:p>
        </p:txBody>
      </p:sp>
    </p:spTree>
    <p:extLst>
      <p:ext uri="{BB962C8B-B14F-4D97-AF65-F5344CB8AC3E}">
        <p14:creationId xmlns:p14="http://schemas.microsoft.com/office/powerpoint/2010/main" val="2461820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6F20F-0442-41F0-AF02-6275F5859900}" type="datetimeFigureOut">
              <a:rPr lang="en-US" smtClean="0"/>
              <a:t>9/6/2022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EA56E1-5CE6-495B-8B0B-B9CAFECE2AAD}" type="slidenum">
              <a:rPr lang="en-US" smtClean="0"/>
              <a:t>‹#›</a:t>
            </a:fld>
            <a:endParaRPr lang="en-US"/>
          </a:p>
        </p:txBody>
      </p:sp>
    </p:spTree>
    <p:extLst>
      <p:ext uri="{BB962C8B-B14F-4D97-AF65-F5344CB8AC3E}">
        <p14:creationId xmlns:p14="http://schemas.microsoft.com/office/powerpoint/2010/main" val="417763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rgbClr val="C00000"/>
                </a:solidFill>
              </a:rPr>
              <a:t>Introduction to Software Engineering</a:t>
            </a:r>
            <a:endParaRPr lang="en-US" dirty="0">
              <a:solidFill>
                <a:srgbClr val="C00000"/>
              </a:solidFill>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8921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1470025"/>
          </a:xfrm>
        </p:spPr>
        <p:txBody>
          <a:bodyPr/>
          <a:lstStyle/>
          <a:p>
            <a:r>
              <a:rPr lang="en-US" u="sng" dirty="0" smtClean="0">
                <a:solidFill>
                  <a:srgbClr val="C00000"/>
                </a:solidFill>
              </a:rPr>
              <a:t>Program </a:t>
            </a:r>
            <a:r>
              <a:rPr lang="en-US" u="sng" dirty="0" err="1" smtClean="0">
                <a:solidFill>
                  <a:srgbClr val="C00000"/>
                </a:solidFill>
              </a:rPr>
              <a:t>vs</a:t>
            </a:r>
            <a:r>
              <a:rPr lang="en-US" u="sng" dirty="0" smtClean="0">
                <a:solidFill>
                  <a:srgbClr val="C00000"/>
                </a:solidFill>
              </a:rPr>
              <a:t> Software</a:t>
            </a:r>
            <a:endParaRPr lang="en-US" u="sng" dirty="0">
              <a:solidFill>
                <a:srgbClr val="C00000"/>
              </a:solidFill>
            </a:endParaRPr>
          </a:p>
        </p:txBody>
      </p:sp>
      <p:sp>
        <p:nvSpPr>
          <p:cNvPr id="3" name="Subtitle 2"/>
          <p:cNvSpPr>
            <a:spLocks noGrp="1"/>
          </p:cNvSpPr>
          <p:nvPr>
            <p:ph type="subTitle" idx="1"/>
          </p:nvPr>
        </p:nvSpPr>
        <p:spPr>
          <a:xfrm>
            <a:off x="685800" y="1981200"/>
            <a:ext cx="7924800" cy="4419600"/>
          </a:xfrm>
        </p:spPr>
        <p:txBody>
          <a:bodyPr>
            <a:normAutofit fontScale="77500" lnSpcReduction="20000"/>
          </a:bodyPr>
          <a:lstStyle/>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A </a:t>
            </a:r>
            <a:r>
              <a:rPr lang="en-US" dirty="0">
                <a:solidFill>
                  <a:schemeClr val="tx1"/>
                </a:solidFill>
                <a:latin typeface="Times New Roman" pitchFamily="18" charset="0"/>
                <a:cs typeface="Times New Roman" pitchFamily="18" charset="0"/>
              </a:rPr>
              <a:t>program is a set of instructions that are given to a computer in order to achieve a specific task whereas software is when a program is made available for commercial business and is properly documented along with its licensing. </a:t>
            </a:r>
            <a:endParaRPr lang="en-US" dirty="0" smtClean="0">
              <a:solidFill>
                <a:schemeClr val="tx1"/>
              </a:solidFill>
              <a:latin typeface="Times New Roman" pitchFamily="18" charset="0"/>
              <a:cs typeface="Times New Roman" pitchFamily="18" charset="0"/>
            </a:endParaRPr>
          </a:p>
          <a:p>
            <a:pPr algn="l"/>
            <a:r>
              <a:rPr lang="en-US" dirty="0" smtClean="0">
                <a:solidFill>
                  <a:schemeClr val="tx1"/>
                </a:solidFill>
                <a:latin typeface="Times New Roman" pitchFamily="18" charset="0"/>
                <a:cs typeface="Times New Roman" pitchFamily="18" charset="0"/>
              </a:rPr>
              <a:t>	</a:t>
            </a:r>
            <a:r>
              <a:rPr lang="en-US" dirty="0" smtClean="0">
                <a:solidFill>
                  <a:srgbClr val="0070C0"/>
                </a:solidFill>
                <a:latin typeface="Times New Roman" pitchFamily="18" charset="0"/>
                <a:cs typeface="Times New Roman" pitchFamily="18" charset="0"/>
              </a:rPr>
              <a:t>Software=</a:t>
            </a:r>
            <a:r>
              <a:rPr lang="en-US" dirty="0" err="1" smtClean="0">
                <a:solidFill>
                  <a:srgbClr val="0070C0"/>
                </a:solidFill>
                <a:latin typeface="Times New Roman" pitchFamily="18" charset="0"/>
                <a:cs typeface="Times New Roman" pitchFamily="18" charset="0"/>
              </a:rPr>
              <a:t>Program+documentation+licensing</a:t>
            </a:r>
            <a:r>
              <a:rPr lang="en-US" dirty="0" smtClean="0">
                <a:solidFill>
                  <a:srgbClr val="0070C0"/>
                </a:solidFill>
                <a:latin typeface="Times New Roman" pitchFamily="18" charset="0"/>
                <a:cs typeface="Times New Roman" pitchFamily="18" charset="0"/>
              </a:rPr>
              <a:t>.</a:t>
            </a:r>
          </a:p>
          <a:p>
            <a:pPr algn="l"/>
            <a:endParaRPr lang="en-US" dirty="0" smtClean="0">
              <a:solidFill>
                <a:srgbClr val="0070C0"/>
              </a:solidFill>
              <a:latin typeface="Times New Roman" pitchFamily="18" charset="0"/>
              <a:cs typeface="Times New Roman" pitchFamily="18" charset="0"/>
            </a:endParaRP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 A </a:t>
            </a:r>
            <a:r>
              <a:rPr lang="en-US" dirty="0">
                <a:solidFill>
                  <a:schemeClr val="tx1"/>
                </a:solidFill>
                <a:latin typeface="Times New Roman" pitchFamily="18" charset="0"/>
                <a:cs typeface="Times New Roman" pitchFamily="18" charset="0"/>
              </a:rPr>
              <a:t>program is one of the stages involved in the development of the software, whereas a software development usually follows a life cycle, which involves the feasibility study of the project, requirement gathering, development of a prototype, system design, coding, and testing.</a:t>
            </a:r>
          </a:p>
          <a:p>
            <a:pPr algn="l"/>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99149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1470025"/>
          </a:xfrm>
        </p:spPr>
        <p:txBody>
          <a:bodyPr/>
          <a:lstStyle/>
          <a:p>
            <a:r>
              <a:rPr lang="en-US" dirty="0">
                <a:solidFill>
                  <a:srgbClr val="C00000"/>
                </a:solidFill>
              </a:rPr>
              <a:t>What is Software Engineering?</a:t>
            </a:r>
          </a:p>
        </p:txBody>
      </p:sp>
      <p:sp>
        <p:nvSpPr>
          <p:cNvPr id="3" name="Subtitle 2"/>
          <p:cNvSpPr>
            <a:spLocks noGrp="1"/>
          </p:cNvSpPr>
          <p:nvPr>
            <p:ph type="subTitle" idx="1"/>
          </p:nvPr>
        </p:nvSpPr>
        <p:spPr>
          <a:xfrm>
            <a:off x="685800" y="1981200"/>
            <a:ext cx="7924800" cy="4419600"/>
          </a:xfrm>
        </p:spPr>
        <p:txBody>
          <a:bodyPr>
            <a:normAutofit fontScale="92500" lnSpcReduction="20000"/>
          </a:bodyPr>
          <a:lstStyle/>
          <a:p>
            <a:pPr marL="457200" indent="-457200" algn="l">
              <a:buFont typeface="Arial" pitchFamily="34" charset="0"/>
              <a:buChar char="•"/>
            </a:pPr>
            <a:r>
              <a:rPr lang="en-US" dirty="0">
                <a:solidFill>
                  <a:schemeClr val="tx1"/>
                </a:solidFill>
                <a:latin typeface="Times New Roman" pitchFamily="18" charset="0"/>
                <a:cs typeface="Times New Roman" pitchFamily="18" charset="0"/>
              </a:rPr>
              <a:t>The term </a:t>
            </a:r>
            <a:r>
              <a:rPr lang="en-US" b="1" dirty="0">
                <a:solidFill>
                  <a:schemeClr val="tx1"/>
                </a:solidFill>
                <a:latin typeface="Times New Roman" pitchFamily="18" charset="0"/>
                <a:cs typeface="Times New Roman" pitchFamily="18" charset="0"/>
              </a:rPr>
              <a:t>software engineering</a:t>
            </a:r>
            <a:r>
              <a:rPr lang="en-US" dirty="0">
                <a:solidFill>
                  <a:schemeClr val="tx1"/>
                </a:solidFill>
                <a:latin typeface="Times New Roman" pitchFamily="18" charset="0"/>
                <a:cs typeface="Times New Roman" pitchFamily="18" charset="0"/>
              </a:rPr>
              <a:t> is the product of two words, </a:t>
            </a:r>
            <a:r>
              <a:rPr lang="en-US" b="1" dirty="0">
                <a:solidFill>
                  <a:schemeClr val="tx1"/>
                </a:solidFill>
                <a:latin typeface="Times New Roman" pitchFamily="18" charset="0"/>
                <a:cs typeface="Times New Roman" pitchFamily="18" charset="0"/>
              </a:rPr>
              <a:t>software</a:t>
            </a:r>
            <a:r>
              <a:rPr lang="en-US" dirty="0">
                <a:solidFill>
                  <a:schemeClr val="tx1"/>
                </a:solidFill>
                <a:latin typeface="Times New Roman" pitchFamily="18" charset="0"/>
                <a:cs typeface="Times New Roman" pitchFamily="18" charset="0"/>
              </a:rPr>
              <a:t>, and </a:t>
            </a:r>
            <a:r>
              <a:rPr lang="en-US" b="1" dirty="0">
                <a:solidFill>
                  <a:schemeClr val="tx1"/>
                </a:solidFill>
                <a:latin typeface="Times New Roman" pitchFamily="18" charset="0"/>
                <a:cs typeface="Times New Roman" pitchFamily="18" charset="0"/>
              </a:rPr>
              <a:t>engineering</a:t>
            </a:r>
            <a:r>
              <a:rPr lang="en-US" dirty="0">
                <a:solidFill>
                  <a:schemeClr val="tx1"/>
                </a:solidFill>
                <a:latin typeface="Times New Roman" pitchFamily="18" charset="0"/>
                <a:cs typeface="Times New Roman" pitchFamily="18" charset="0"/>
              </a:rPr>
              <a:t>.</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The</a:t>
            </a:r>
            <a:r>
              <a:rPr lang="en-US" dirty="0">
                <a:solidFill>
                  <a:schemeClr val="tx1"/>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software</a:t>
            </a:r>
            <a:r>
              <a:rPr lang="en-US" dirty="0">
                <a:solidFill>
                  <a:schemeClr val="tx1"/>
                </a:solidFill>
                <a:latin typeface="Times New Roman" pitchFamily="18" charset="0"/>
                <a:cs typeface="Times New Roman" pitchFamily="18" charset="0"/>
              </a:rPr>
              <a:t> is a collection of integrated programs.</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 Software </a:t>
            </a:r>
            <a:r>
              <a:rPr lang="en-US" dirty="0">
                <a:solidFill>
                  <a:schemeClr val="tx1"/>
                </a:solidFill>
                <a:latin typeface="Times New Roman" pitchFamily="18" charset="0"/>
                <a:cs typeface="Times New Roman" pitchFamily="18" charset="0"/>
              </a:rPr>
              <a:t>subsists of carefully-organized instructions and code written by developers on any of various particular computer languages.</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Computer programs and related documentation such as requirements, design models and user manuals.</a:t>
            </a:r>
          </a:p>
          <a:p>
            <a:pPr algn="l"/>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51695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1"/>
            <a:ext cx="7772400" cy="990600"/>
          </a:xfrm>
        </p:spPr>
        <p:txBody>
          <a:bodyPr/>
          <a:lstStyle/>
          <a:p>
            <a:r>
              <a:rPr lang="en-US" dirty="0">
                <a:solidFill>
                  <a:srgbClr val="C00000"/>
                </a:solidFill>
              </a:rPr>
              <a:t>What is Software Engineering?</a:t>
            </a:r>
          </a:p>
        </p:txBody>
      </p:sp>
      <p:sp>
        <p:nvSpPr>
          <p:cNvPr id="3" name="Subtitle 2"/>
          <p:cNvSpPr>
            <a:spLocks noGrp="1"/>
          </p:cNvSpPr>
          <p:nvPr>
            <p:ph type="subTitle" idx="1"/>
          </p:nvPr>
        </p:nvSpPr>
        <p:spPr>
          <a:xfrm>
            <a:off x="685800" y="1295400"/>
            <a:ext cx="7924800" cy="5105400"/>
          </a:xfrm>
        </p:spPr>
        <p:txBody>
          <a:bodyPr>
            <a:normAutofit/>
          </a:bodyPr>
          <a:lstStyle/>
          <a:p>
            <a:pPr marL="457200" indent="-457200" algn="l">
              <a:buFont typeface="Arial" pitchFamily="34" charset="0"/>
              <a:buChar char="•"/>
            </a:pPr>
            <a:r>
              <a:rPr lang="en-US" b="1" dirty="0" smtClean="0">
                <a:solidFill>
                  <a:schemeClr val="tx1"/>
                </a:solidFill>
                <a:latin typeface="Times New Roman" pitchFamily="18" charset="0"/>
                <a:cs typeface="Times New Roman" pitchFamily="18" charset="0"/>
              </a:rPr>
              <a:t>Engineering</a:t>
            </a:r>
            <a:r>
              <a:rPr lang="en-US" dirty="0" smtClean="0">
                <a:solidFill>
                  <a:schemeClr val="tx1"/>
                </a:solidFill>
                <a:latin typeface="Times New Roman" pitchFamily="18" charset="0"/>
                <a:cs typeface="Times New Roman" pitchFamily="18" charset="0"/>
              </a:rPr>
              <a:t> is the application of </a:t>
            </a:r>
            <a:r>
              <a:rPr lang="en-US" b="1" dirty="0" smtClean="0">
                <a:solidFill>
                  <a:schemeClr val="tx1"/>
                </a:solidFill>
                <a:latin typeface="Times New Roman" pitchFamily="18" charset="0"/>
                <a:cs typeface="Times New Roman" pitchFamily="18" charset="0"/>
              </a:rPr>
              <a:t>scientific</a:t>
            </a:r>
            <a:r>
              <a:rPr lang="en-US" dirty="0" smtClean="0">
                <a:solidFill>
                  <a:schemeClr val="tx1"/>
                </a:solidFill>
                <a:latin typeface="Times New Roman" pitchFamily="18" charset="0"/>
                <a:cs typeface="Times New Roman" pitchFamily="18" charset="0"/>
              </a:rPr>
              <a:t> and </a:t>
            </a:r>
            <a:r>
              <a:rPr lang="en-US" b="1" dirty="0" smtClean="0">
                <a:solidFill>
                  <a:schemeClr val="tx1"/>
                </a:solidFill>
                <a:latin typeface="Times New Roman" pitchFamily="18" charset="0"/>
                <a:cs typeface="Times New Roman" pitchFamily="18" charset="0"/>
              </a:rPr>
              <a:t>practical</a:t>
            </a:r>
            <a:r>
              <a:rPr lang="en-US" dirty="0" smtClean="0">
                <a:solidFill>
                  <a:schemeClr val="tx1"/>
                </a:solidFill>
                <a:latin typeface="Times New Roman" pitchFamily="18" charset="0"/>
                <a:cs typeface="Times New Roman" pitchFamily="18" charset="0"/>
              </a:rPr>
              <a:t> knowledge to </a:t>
            </a:r>
            <a:r>
              <a:rPr lang="en-US" b="1" dirty="0" smtClean="0">
                <a:solidFill>
                  <a:schemeClr val="tx1"/>
                </a:solidFill>
                <a:latin typeface="Times New Roman" pitchFamily="18" charset="0"/>
                <a:cs typeface="Times New Roman" pitchFamily="18" charset="0"/>
              </a:rPr>
              <a:t>invent, design, build, maintain</a:t>
            </a:r>
            <a:r>
              <a:rPr lang="en-US" dirty="0" smtClean="0">
                <a:solidFill>
                  <a:schemeClr val="tx1"/>
                </a:solidFill>
                <a:latin typeface="Times New Roman" pitchFamily="18" charset="0"/>
                <a:cs typeface="Times New Roman" pitchFamily="18" charset="0"/>
              </a:rPr>
              <a:t>, and </a:t>
            </a:r>
            <a:r>
              <a:rPr lang="en-US" b="1" dirty="0" smtClean="0">
                <a:solidFill>
                  <a:schemeClr val="tx1"/>
                </a:solidFill>
                <a:latin typeface="Times New Roman" pitchFamily="18" charset="0"/>
                <a:cs typeface="Times New Roman" pitchFamily="18" charset="0"/>
              </a:rPr>
              <a:t>improve frameworks, processes, etc</a:t>
            </a:r>
            <a:r>
              <a:rPr lang="en-US" dirty="0" smtClean="0">
                <a:solidFill>
                  <a:schemeClr val="tx1"/>
                </a:solidFill>
                <a:latin typeface="Times New Roman" pitchFamily="18" charset="0"/>
                <a:cs typeface="Times New Roman" pitchFamily="18" charset="0"/>
              </a:rPr>
              <a:t>.</a:t>
            </a:r>
            <a:endParaRPr lang="en-US" b="1" dirty="0" smtClean="0">
              <a:solidFill>
                <a:schemeClr val="tx1"/>
              </a:solidFill>
              <a:latin typeface="Times New Roman" pitchFamily="18" charset="0"/>
              <a:cs typeface="Times New Roman" pitchFamily="18" charset="0"/>
            </a:endParaRPr>
          </a:p>
          <a:p>
            <a:pPr marL="457200" indent="-457200" algn="l">
              <a:buFont typeface="Arial" pitchFamily="34" charset="0"/>
              <a:buChar char="•"/>
            </a:pPr>
            <a:r>
              <a:rPr lang="en-US" b="1" dirty="0" smtClean="0">
                <a:solidFill>
                  <a:schemeClr val="tx1"/>
                </a:solidFill>
                <a:latin typeface="Times New Roman" pitchFamily="18" charset="0"/>
                <a:cs typeface="Times New Roman" pitchFamily="18" charset="0"/>
              </a:rPr>
              <a:t>Software </a:t>
            </a:r>
            <a:r>
              <a:rPr lang="en-US" b="1" dirty="0">
                <a:solidFill>
                  <a:schemeClr val="tx1"/>
                </a:solidFill>
                <a:latin typeface="Times New Roman" pitchFamily="18" charset="0"/>
                <a:cs typeface="Times New Roman" pitchFamily="18" charset="0"/>
              </a:rPr>
              <a:t>Engineering</a:t>
            </a:r>
            <a:r>
              <a:rPr lang="en-US" dirty="0">
                <a:solidFill>
                  <a:schemeClr val="tx1"/>
                </a:solidFill>
                <a:latin typeface="Times New Roman" pitchFamily="18" charset="0"/>
                <a:cs typeface="Times New Roman" pitchFamily="18" charset="0"/>
              </a:rPr>
              <a:t> is an engineering branch related to the evolution of software product using well-defined scientific principles, techniques, and procedures. The result of software engineering is an effective and reliable software product.</a:t>
            </a:r>
          </a:p>
        </p:txBody>
      </p:sp>
    </p:spTree>
    <p:extLst>
      <p:ext uri="{BB962C8B-B14F-4D97-AF65-F5344CB8AC3E}">
        <p14:creationId xmlns:p14="http://schemas.microsoft.com/office/powerpoint/2010/main" val="642637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1"/>
            <a:ext cx="7772400" cy="990600"/>
          </a:xfrm>
        </p:spPr>
        <p:txBody>
          <a:bodyPr/>
          <a:lstStyle/>
          <a:p>
            <a:r>
              <a:rPr lang="en-US" dirty="0">
                <a:solidFill>
                  <a:srgbClr val="C00000"/>
                </a:solidFill>
              </a:rPr>
              <a:t>What is Software Engineering?</a:t>
            </a:r>
          </a:p>
        </p:txBody>
      </p:sp>
      <p:sp>
        <p:nvSpPr>
          <p:cNvPr id="3" name="Subtitle 2"/>
          <p:cNvSpPr>
            <a:spLocks noGrp="1"/>
          </p:cNvSpPr>
          <p:nvPr>
            <p:ph type="subTitle" idx="1"/>
          </p:nvPr>
        </p:nvSpPr>
        <p:spPr>
          <a:xfrm>
            <a:off x="685800" y="1295400"/>
            <a:ext cx="7924800" cy="5105400"/>
          </a:xfrm>
        </p:spPr>
        <p:txBody>
          <a:bodyPr>
            <a:normAutofit/>
          </a:bodyPr>
          <a:lstStyle/>
          <a:p>
            <a:pPr algn="l"/>
            <a:endParaRPr lang="en-US" dirty="0">
              <a:solidFill>
                <a:schemeClr val="tx1"/>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938" y="1724025"/>
            <a:ext cx="6334125"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7600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1"/>
            <a:ext cx="7772400" cy="990600"/>
          </a:xfrm>
        </p:spPr>
        <p:txBody>
          <a:bodyPr>
            <a:normAutofit/>
          </a:bodyPr>
          <a:lstStyle/>
          <a:p>
            <a:r>
              <a:rPr lang="en-US" dirty="0" smtClean="0">
                <a:solidFill>
                  <a:srgbClr val="C00000"/>
                </a:solidFill>
              </a:rPr>
              <a:t>What </a:t>
            </a:r>
            <a:r>
              <a:rPr lang="en-US" dirty="0">
                <a:solidFill>
                  <a:srgbClr val="C00000"/>
                </a:solidFill>
              </a:rPr>
              <a:t>is Software Engineering?</a:t>
            </a:r>
          </a:p>
        </p:txBody>
      </p:sp>
      <p:sp>
        <p:nvSpPr>
          <p:cNvPr id="3" name="Subtitle 2"/>
          <p:cNvSpPr>
            <a:spLocks noGrp="1"/>
          </p:cNvSpPr>
          <p:nvPr>
            <p:ph type="subTitle" idx="1"/>
          </p:nvPr>
        </p:nvSpPr>
        <p:spPr>
          <a:xfrm>
            <a:off x="381000" y="1295400"/>
            <a:ext cx="8458200" cy="5105400"/>
          </a:xfrm>
        </p:spPr>
        <p:txBody>
          <a:bodyPr>
            <a:normAutofit/>
          </a:bodyPr>
          <a:lstStyle/>
          <a:p>
            <a:pPr algn="l"/>
            <a:r>
              <a:rPr lang="en-US" dirty="0">
                <a:solidFill>
                  <a:schemeClr val="tx1"/>
                </a:solidFill>
                <a:latin typeface="Times New Roman" pitchFamily="18" charset="0"/>
                <a:cs typeface="Times New Roman" pitchFamily="18" charset="0"/>
              </a:rPr>
              <a:t>Software Engineering is required due to the following reasons:</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To manage Large software</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For more Scalability</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Cost Management</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To manage the dynamic nature of software</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For better quality Management</a:t>
            </a:r>
          </a:p>
          <a:p>
            <a:pPr algn="l"/>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5613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a:solidFill>
                  <a:srgbClr val="C00000"/>
                </a:solidFill>
              </a:rPr>
              <a:t>Need of Software Engineering</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fontScale="85000" lnSpcReduction="10000"/>
          </a:bodyPr>
          <a:lstStyle/>
          <a:p>
            <a:pPr algn="just"/>
            <a:r>
              <a:rPr lang="en-US" dirty="0">
                <a:solidFill>
                  <a:schemeClr val="tx1"/>
                </a:solidFill>
                <a:latin typeface="Times New Roman" pitchFamily="18" charset="0"/>
                <a:cs typeface="Times New Roman" pitchFamily="18" charset="0"/>
              </a:rPr>
              <a:t>The necessity of software engineering appears because of a higher rate of progress in user requirements and the environment on which the program is working</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Huge Programming: </a:t>
            </a:r>
            <a:r>
              <a:rPr lang="en-US" dirty="0">
                <a:solidFill>
                  <a:schemeClr val="tx1"/>
                </a:solidFill>
                <a:latin typeface="Times New Roman" pitchFamily="18" charset="0"/>
                <a:cs typeface="Times New Roman" pitchFamily="18" charset="0"/>
              </a:rPr>
              <a:t>It is simpler to manufacture a wall than to a house or building, similarly, as the measure of programming become extensive engineering has to step to give it a scientific process.</a:t>
            </a: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Adaptability: </a:t>
            </a:r>
            <a:r>
              <a:rPr lang="en-US" dirty="0">
                <a:solidFill>
                  <a:schemeClr val="tx1"/>
                </a:solidFill>
                <a:latin typeface="Times New Roman" pitchFamily="18" charset="0"/>
                <a:cs typeface="Times New Roman" pitchFamily="18" charset="0"/>
              </a:rPr>
              <a:t>If the software procedure were not based on scientific and engineering ideas, it would be simpler to re-create new software than to scale an existing one.</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7758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a:solidFill>
                  <a:srgbClr val="C00000"/>
                </a:solidFill>
              </a:rPr>
              <a:t>Need of Software Engineering</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fontScale="77500" lnSpcReduction="20000"/>
          </a:bodyPr>
          <a:lstStyle/>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Cost: </a:t>
            </a:r>
            <a:r>
              <a:rPr lang="en-US" dirty="0">
                <a:solidFill>
                  <a:schemeClr val="tx1"/>
                </a:solidFill>
                <a:latin typeface="Times New Roman" pitchFamily="18" charset="0"/>
                <a:cs typeface="Times New Roman" pitchFamily="18" charset="0"/>
              </a:rPr>
              <a:t>As the hardware industry has demonstrated its skills and huge manufacturing has let down the cost of computer and electronic hardware. But the cost of programming remains high if the proper process is not adapted</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Dynamic Nature: </a:t>
            </a:r>
            <a:r>
              <a:rPr lang="en-US" dirty="0">
                <a:solidFill>
                  <a:schemeClr val="tx1"/>
                </a:solidFill>
                <a:latin typeface="Times New Roman" pitchFamily="18" charset="0"/>
                <a:cs typeface="Times New Roman" pitchFamily="18" charset="0"/>
              </a:rPr>
              <a:t>The continually growing and adapting nature of programming hugely depends upon the environment in which the client works. If the quality of the software is continually changing, new upgrades need to be done in the existing one</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Quality Management:</a:t>
            </a:r>
            <a:r>
              <a:rPr lang="en-US" dirty="0">
                <a:solidFill>
                  <a:schemeClr val="tx1"/>
                </a:solidFill>
                <a:latin typeface="Times New Roman" pitchFamily="18" charset="0"/>
                <a:cs typeface="Times New Roman" pitchFamily="18" charset="0"/>
              </a:rPr>
              <a:t> Better procedure of software development provides a better and quality software product.</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69277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smtClean="0">
                <a:solidFill>
                  <a:srgbClr val="C00000"/>
                </a:solidFill>
              </a:rPr>
              <a:t>Importance of Software Engineering</a:t>
            </a:r>
            <a:br>
              <a:rPr lang="en-US" dirty="0" smtClean="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lnSpcReduction="10000"/>
          </a:bodyPr>
          <a:lstStyle/>
          <a:p>
            <a:pPr algn="just"/>
            <a:r>
              <a:rPr lang="en-US" b="1" dirty="0">
                <a:solidFill>
                  <a:schemeClr val="tx1"/>
                </a:solidFill>
                <a:latin typeface="Times New Roman" pitchFamily="18" charset="0"/>
                <a:cs typeface="Times New Roman" pitchFamily="18" charset="0"/>
              </a:rPr>
              <a:t>The importance of Software engineering is as follows:</a:t>
            </a:r>
            <a:endParaRPr lang="en-US" dirty="0">
              <a:solidFill>
                <a:schemeClr val="tx1"/>
              </a:solidFill>
              <a:latin typeface="Times New Roman" pitchFamily="18" charset="0"/>
              <a:cs typeface="Times New Roman" pitchFamily="18" charset="0"/>
            </a:endParaRPr>
          </a:p>
          <a:p>
            <a:pPr marL="514350" indent="-514350" algn="just">
              <a:buFont typeface="+mj-lt"/>
              <a:buAutoNum type="arabicPeriod"/>
            </a:pPr>
            <a:r>
              <a:rPr lang="en-US" b="1" dirty="0">
                <a:solidFill>
                  <a:schemeClr val="tx1"/>
                </a:solidFill>
                <a:latin typeface="Times New Roman" pitchFamily="18" charset="0"/>
                <a:cs typeface="Times New Roman" pitchFamily="18" charset="0"/>
              </a:rPr>
              <a:t>Reduces complexity:</a:t>
            </a:r>
            <a:r>
              <a:rPr lang="en-US" dirty="0">
                <a:solidFill>
                  <a:schemeClr val="tx1"/>
                </a:solidFill>
                <a:latin typeface="Times New Roman" pitchFamily="18" charset="0"/>
                <a:cs typeface="Times New Roman" pitchFamily="18" charset="0"/>
              </a:rPr>
              <a:t> Big software is always complicated and challenging to progress. Software engineering has a great solution to reduce the complication of any project. Software engineering divides big problems into various small issues. And then start solving each small issue one by one. All these small problems are solved independently to each other.</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627717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smtClean="0">
                <a:solidFill>
                  <a:srgbClr val="C00000"/>
                </a:solidFill>
              </a:rPr>
              <a:t>Importance of Software Engineering</a:t>
            </a:r>
            <a:br>
              <a:rPr lang="en-US" dirty="0" smtClean="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a:bodyPr>
          <a:lstStyle/>
          <a:p>
            <a:pPr algn="just"/>
            <a:r>
              <a:rPr lang="en-US" b="1" dirty="0" smtClean="0">
                <a:solidFill>
                  <a:schemeClr val="tx1"/>
                </a:solidFill>
                <a:latin typeface="Times New Roman" pitchFamily="18" charset="0"/>
                <a:cs typeface="Times New Roman" pitchFamily="18" charset="0"/>
              </a:rPr>
              <a:t>2. To </a:t>
            </a:r>
            <a:r>
              <a:rPr lang="en-US" b="1" dirty="0">
                <a:solidFill>
                  <a:schemeClr val="tx1"/>
                </a:solidFill>
                <a:latin typeface="Times New Roman" pitchFamily="18" charset="0"/>
                <a:cs typeface="Times New Roman" pitchFamily="18" charset="0"/>
              </a:rPr>
              <a:t>minimize software cost:</a:t>
            </a:r>
            <a:r>
              <a:rPr lang="en-US" dirty="0">
                <a:solidFill>
                  <a:schemeClr val="tx1"/>
                </a:solidFill>
                <a:latin typeface="Times New Roman" pitchFamily="18" charset="0"/>
                <a:cs typeface="Times New Roman" pitchFamily="18" charset="0"/>
              </a:rPr>
              <a:t> Software needs a lot of </a:t>
            </a:r>
            <a:r>
              <a:rPr lang="en-US" dirty="0" err="1">
                <a:solidFill>
                  <a:schemeClr val="tx1"/>
                </a:solidFill>
                <a:latin typeface="Times New Roman" pitchFamily="18" charset="0"/>
                <a:cs typeface="Times New Roman" pitchFamily="18" charset="0"/>
              </a:rPr>
              <a:t>hardwork</a:t>
            </a:r>
            <a:r>
              <a:rPr lang="en-US" dirty="0">
                <a:solidFill>
                  <a:schemeClr val="tx1"/>
                </a:solidFill>
                <a:latin typeface="Times New Roman" pitchFamily="18" charset="0"/>
                <a:cs typeface="Times New Roman" pitchFamily="18" charset="0"/>
              </a:rPr>
              <a:t> and software engineers are highly paid experts. A lot of manpower is required to develop software with a large number of codes. But in software engineering, programmers project everything and decrease all those things that are not needed. In turn, the cost for software productions becomes less as compared to any software that does not use software engineering method.</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78784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smtClean="0">
                <a:solidFill>
                  <a:srgbClr val="C00000"/>
                </a:solidFill>
              </a:rPr>
              <a:t>Importance of Software Engineering</a:t>
            </a:r>
            <a:br>
              <a:rPr lang="en-US" dirty="0" smtClean="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a:bodyPr>
          <a:lstStyle/>
          <a:p>
            <a:pPr algn="just"/>
            <a:r>
              <a:rPr lang="en-US" b="1" dirty="0" smtClean="0">
                <a:solidFill>
                  <a:schemeClr val="tx1"/>
                </a:solidFill>
                <a:latin typeface="Times New Roman" pitchFamily="18" charset="0"/>
                <a:cs typeface="Times New Roman" pitchFamily="18" charset="0"/>
              </a:rPr>
              <a:t>3. To </a:t>
            </a:r>
            <a:r>
              <a:rPr lang="en-US" b="1" dirty="0">
                <a:solidFill>
                  <a:schemeClr val="tx1"/>
                </a:solidFill>
                <a:latin typeface="Times New Roman" pitchFamily="18" charset="0"/>
                <a:cs typeface="Times New Roman" pitchFamily="18" charset="0"/>
              </a:rPr>
              <a:t>decrease time:</a:t>
            </a:r>
            <a:r>
              <a:rPr lang="en-US" dirty="0">
                <a:solidFill>
                  <a:schemeClr val="tx1"/>
                </a:solidFill>
                <a:latin typeface="Times New Roman" pitchFamily="18" charset="0"/>
                <a:cs typeface="Times New Roman" pitchFamily="18" charset="0"/>
              </a:rPr>
              <a:t> Anything that is not made according to the project always wastes time. And if you are making great software, then you may need to run many codes to get the definitive running code. This is a very time-consuming procedure, and if it is not well handled, then this can take a lot of time. So if you are making your software according to the software engineering method, then it will decrease a lot of time.</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654709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smtClean="0">
                <a:solidFill>
                  <a:srgbClr val="C00000"/>
                </a:solidFill>
              </a:rPr>
              <a:t>Importance of Software Engineering</a:t>
            </a:r>
            <a:br>
              <a:rPr lang="en-US" dirty="0" smtClean="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fontScale="92500" lnSpcReduction="10000"/>
          </a:bodyPr>
          <a:lstStyle/>
          <a:p>
            <a:pPr algn="just"/>
            <a:r>
              <a:rPr lang="en-US" b="1" dirty="0" smtClean="0">
                <a:solidFill>
                  <a:schemeClr val="tx1"/>
                </a:solidFill>
                <a:latin typeface="Times New Roman" pitchFamily="18" charset="0"/>
                <a:cs typeface="Times New Roman" pitchFamily="18" charset="0"/>
              </a:rPr>
              <a:t>4. </a:t>
            </a:r>
            <a:r>
              <a:rPr lang="en-US" b="1" dirty="0">
                <a:solidFill>
                  <a:schemeClr val="tx1"/>
                </a:solidFill>
                <a:latin typeface="Times New Roman" pitchFamily="18" charset="0"/>
                <a:cs typeface="Times New Roman" pitchFamily="18" charset="0"/>
              </a:rPr>
              <a:t>Handling big projects:</a:t>
            </a:r>
            <a:r>
              <a:rPr lang="en-US" dirty="0">
                <a:solidFill>
                  <a:schemeClr val="tx1"/>
                </a:solidFill>
                <a:latin typeface="Times New Roman" pitchFamily="18" charset="0"/>
                <a:cs typeface="Times New Roman" pitchFamily="18" charset="0"/>
              </a:rPr>
              <a:t> Big projects are not done in a couple of days, and they need lots of patience, planning, and management. And to invest six and seven months of any company, it requires heaps of planning, direction, testing, and maintenance. No one can say that he has given four months of a company to the task, and the project is still in its first stage. Because the company has provided many resources to the plan and it should be completed. So to handle a big project without any problem, the company has to go for a software engineering method.</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82715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smtClean="0">
                <a:solidFill>
                  <a:srgbClr val="C00000"/>
                </a:solidFill>
              </a:rPr>
              <a:t>Importance of Software Engineering</a:t>
            </a:r>
            <a:br>
              <a:rPr lang="en-US" dirty="0" smtClean="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a:bodyPr>
          <a:lstStyle/>
          <a:p>
            <a:pPr algn="just"/>
            <a:r>
              <a:rPr lang="en-US" b="1" dirty="0" smtClean="0">
                <a:solidFill>
                  <a:schemeClr val="tx1"/>
                </a:solidFill>
                <a:latin typeface="Times New Roman" pitchFamily="18" charset="0"/>
                <a:cs typeface="Times New Roman" pitchFamily="18" charset="0"/>
              </a:rPr>
              <a:t>5. Reliable </a:t>
            </a:r>
            <a:r>
              <a:rPr lang="en-US" b="1" dirty="0">
                <a:solidFill>
                  <a:schemeClr val="tx1"/>
                </a:solidFill>
                <a:latin typeface="Times New Roman" pitchFamily="18" charset="0"/>
                <a:cs typeface="Times New Roman" pitchFamily="18" charset="0"/>
              </a:rPr>
              <a:t>software:</a:t>
            </a:r>
            <a:r>
              <a:rPr lang="en-US" dirty="0">
                <a:solidFill>
                  <a:schemeClr val="tx1"/>
                </a:solidFill>
                <a:latin typeface="Times New Roman" pitchFamily="18" charset="0"/>
                <a:cs typeface="Times New Roman" pitchFamily="18" charset="0"/>
              </a:rPr>
              <a:t> Software should be secure, means if you have delivered the software, then it should work for at least its given time or subscription. And if any bugs come in the software, the company is responsible for solving all these bugs. Because in software engineering, testing and maintenance are given, so there is no worry of its reliability.</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74524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990600"/>
          </a:xfrm>
        </p:spPr>
        <p:txBody>
          <a:bodyPr>
            <a:normAutofit fontScale="90000"/>
          </a:bodyPr>
          <a:lstStyle/>
          <a:p>
            <a:r>
              <a:rPr lang="en-US" dirty="0" smtClean="0">
                <a:solidFill>
                  <a:srgbClr val="C00000"/>
                </a:solidFill>
              </a:rPr>
              <a:t>Importance of Software Engineering</a:t>
            </a:r>
            <a:br>
              <a:rPr lang="en-US" dirty="0" smtClean="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295400"/>
            <a:ext cx="8610600" cy="5105400"/>
          </a:xfrm>
        </p:spPr>
        <p:txBody>
          <a:bodyPr>
            <a:normAutofit/>
          </a:bodyPr>
          <a:lstStyle/>
          <a:p>
            <a:pPr algn="just"/>
            <a:r>
              <a:rPr lang="en-US" b="1" dirty="0">
                <a:solidFill>
                  <a:schemeClr val="tx1"/>
                </a:solidFill>
                <a:latin typeface="Times New Roman" pitchFamily="18" charset="0"/>
                <a:cs typeface="Times New Roman" pitchFamily="18" charset="0"/>
              </a:rPr>
              <a:t>6</a:t>
            </a:r>
            <a:r>
              <a:rPr lang="en-US" b="1" dirty="0" smtClean="0">
                <a:solidFill>
                  <a:schemeClr val="tx1"/>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Effectiveness:</a:t>
            </a:r>
            <a:r>
              <a:rPr lang="en-US" dirty="0">
                <a:solidFill>
                  <a:schemeClr val="tx1"/>
                </a:solidFill>
                <a:latin typeface="Times New Roman" pitchFamily="18" charset="0"/>
                <a:cs typeface="Times New Roman" pitchFamily="18" charset="0"/>
              </a:rPr>
              <a:t> Effectiveness comes if anything has made according to the standards. Software standards are the big target of companies to make it more effective. So Software becomes more effective in the act with the help of software engineering.</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1812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204</Words>
  <Application>Microsoft Office PowerPoint</Application>
  <PresentationFormat>On-screen Show (4:3)</PresentationFormat>
  <Paragraphs>46</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Introduction to Software Engineering</vt:lpstr>
      <vt:lpstr>Program vs Software</vt:lpstr>
      <vt:lpstr>What is Software Engineering?</vt:lpstr>
      <vt:lpstr>What is Software Engineering?</vt:lpstr>
      <vt:lpstr>What is Software Engineering?</vt:lpstr>
      <vt:lpstr>What is Software Engineering?</vt:lpstr>
      <vt:lpstr>Need of Software Engineering </vt:lpstr>
      <vt:lpstr>Need of Software Engineering </vt:lpstr>
      <vt:lpstr>Importance of Software Engineering </vt:lpstr>
      <vt:lpstr>Importance of Software Engineering </vt:lpstr>
      <vt:lpstr>Importance of Software Engineering </vt:lpstr>
      <vt:lpstr>Importance of Software Engineering </vt:lpstr>
      <vt:lpstr>Importance of Software Engineering </vt:lpstr>
      <vt:lpstr>Importance of Software Engineering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creator>tara</dc:creator>
  <cp:lastModifiedBy>tara</cp:lastModifiedBy>
  <cp:revision>5</cp:revision>
  <dcterms:created xsi:type="dcterms:W3CDTF">2022-09-06T08:48:09Z</dcterms:created>
  <dcterms:modified xsi:type="dcterms:W3CDTF">2022-09-06T10:02:03Z</dcterms:modified>
</cp:coreProperties>
</file>