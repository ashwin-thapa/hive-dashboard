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B227151-CC3B-476F-B8C9-E393FE87A663}" type="datetimeFigureOut">
              <a:rPr lang="en-US" smtClean="0"/>
              <a:t>9/8/2022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1FEE19-C447-4F52-B56B-10061AE647AD}" type="slidenum">
              <a:rPr lang="en-US" smtClean="0"/>
              <a:t>‹#›</a:t>
            </a:fld>
            <a:endParaRPr lang="en-US"/>
          </a:p>
        </p:txBody>
      </p:sp>
    </p:spTree>
    <p:extLst>
      <p:ext uri="{BB962C8B-B14F-4D97-AF65-F5344CB8AC3E}">
        <p14:creationId xmlns:p14="http://schemas.microsoft.com/office/powerpoint/2010/main" val="4183102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B227151-CC3B-476F-B8C9-E393FE87A663}" type="datetimeFigureOut">
              <a:rPr lang="en-US" smtClean="0"/>
              <a:t>9/8/2022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1FEE19-C447-4F52-B56B-10061AE647AD}" type="slidenum">
              <a:rPr lang="en-US" smtClean="0"/>
              <a:t>‹#›</a:t>
            </a:fld>
            <a:endParaRPr lang="en-US"/>
          </a:p>
        </p:txBody>
      </p:sp>
    </p:spTree>
    <p:extLst>
      <p:ext uri="{BB962C8B-B14F-4D97-AF65-F5344CB8AC3E}">
        <p14:creationId xmlns:p14="http://schemas.microsoft.com/office/powerpoint/2010/main" val="3372486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B227151-CC3B-476F-B8C9-E393FE87A663}" type="datetimeFigureOut">
              <a:rPr lang="en-US" smtClean="0"/>
              <a:t>9/8/2022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1FEE19-C447-4F52-B56B-10061AE647AD}" type="slidenum">
              <a:rPr lang="en-US" smtClean="0"/>
              <a:t>‹#›</a:t>
            </a:fld>
            <a:endParaRPr lang="en-US"/>
          </a:p>
        </p:txBody>
      </p:sp>
    </p:spTree>
    <p:extLst>
      <p:ext uri="{BB962C8B-B14F-4D97-AF65-F5344CB8AC3E}">
        <p14:creationId xmlns:p14="http://schemas.microsoft.com/office/powerpoint/2010/main" val="32424841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B227151-CC3B-476F-B8C9-E393FE87A663}" type="datetimeFigureOut">
              <a:rPr lang="en-US" smtClean="0"/>
              <a:t>9/8/2022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1FEE19-C447-4F52-B56B-10061AE647AD}" type="slidenum">
              <a:rPr lang="en-US" smtClean="0"/>
              <a:t>‹#›</a:t>
            </a:fld>
            <a:endParaRPr lang="en-US"/>
          </a:p>
        </p:txBody>
      </p:sp>
    </p:spTree>
    <p:extLst>
      <p:ext uri="{BB962C8B-B14F-4D97-AF65-F5344CB8AC3E}">
        <p14:creationId xmlns:p14="http://schemas.microsoft.com/office/powerpoint/2010/main" val="25638357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B227151-CC3B-476F-B8C9-E393FE87A663}" type="datetimeFigureOut">
              <a:rPr lang="en-US" smtClean="0"/>
              <a:t>9/8/2022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41FEE19-C447-4F52-B56B-10061AE647AD}" type="slidenum">
              <a:rPr lang="en-US" smtClean="0"/>
              <a:t>‹#›</a:t>
            </a:fld>
            <a:endParaRPr lang="en-US"/>
          </a:p>
        </p:txBody>
      </p:sp>
    </p:spTree>
    <p:extLst>
      <p:ext uri="{BB962C8B-B14F-4D97-AF65-F5344CB8AC3E}">
        <p14:creationId xmlns:p14="http://schemas.microsoft.com/office/powerpoint/2010/main" val="635946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B227151-CC3B-476F-B8C9-E393FE87A663}" type="datetimeFigureOut">
              <a:rPr lang="en-US" smtClean="0"/>
              <a:t>9/8/2022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41FEE19-C447-4F52-B56B-10061AE647AD}" type="slidenum">
              <a:rPr lang="en-US" smtClean="0"/>
              <a:t>‹#›</a:t>
            </a:fld>
            <a:endParaRPr lang="en-US"/>
          </a:p>
        </p:txBody>
      </p:sp>
    </p:spTree>
    <p:extLst>
      <p:ext uri="{BB962C8B-B14F-4D97-AF65-F5344CB8AC3E}">
        <p14:creationId xmlns:p14="http://schemas.microsoft.com/office/powerpoint/2010/main" val="23945227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227151-CC3B-476F-B8C9-E393FE87A663}" type="datetimeFigureOut">
              <a:rPr lang="en-US" smtClean="0"/>
              <a:t>9/8/2022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41FEE19-C447-4F52-B56B-10061AE647AD}" type="slidenum">
              <a:rPr lang="en-US" smtClean="0"/>
              <a:t>‹#›</a:t>
            </a:fld>
            <a:endParaRPr lang="en-US"/>
          </a:p>
        </p:txBody>
      </p:sp>
    </p:spTree>
    <p:extLst>
      <p:ext uri="{BB962C8B-B14F-4D97-AF65-F5344CB8AC3E}">
        <p14:creationId xmlns:p14="http://schemas.microsoft.com/office/powerpoint/2010/main" val="4210753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B227151-CC3B-476F-B8C9-E393FE87A663}" type="datetimeFigureOut">
              <a:rPr lang="en-US" smtClean="0"/>
              <a:t>9/8/2022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1FEE19-C447-4F52-B56B-10061AE647AD}" type="slidenum">
              <a:rPr lang="en-US" smtClean="0"/>
              <a:t>‹#›</a:t>
            </a:fld>
            <a:endParaRPr lang="en-US"/>
          </a:p>
        </p:txBody>
      </p:sp>
    </p:spTree>
    <p:extLst>
      <p:ext uri="{BB962C8B-B14F-4D97-AF65-F5344CB8AC3E}">
        <p14:creationId xmlns:p14="http://schemas.microsoft.com/office/powerpoint/2010/main" val="40861924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B227151-CC3B-476F-B8C9-E393FE87A663}" type="datetimeFigureOut">
              <a:rPr lang="en-US" smtClean="0"/>
              <a:t>9/8/2022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1FEE19-C447-4F52-B56B-10061AE647AD}" type="slidenum">
              <a:rPr lang="en-US" smtClean="0"/>
              <a:t>‹#›</a:t>
            </a:fld>
            <a:endParaRPr lang="en-US"/>
          </a:p>
        </p:txBody>
      </p:sp>
    </p:spTree>
    <p:extLst>
      <p:ext uri="{BB962C8B-B14F-4D97-AF65-F5344CB8AC3E}">
        <p14:creationId xmlns:p14="http://schemas.microsoft.com/office/powerpoint/2010/main" val="1855878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B227151-CC3B-476F-B8C9-E393FE87A663}" type="datetimeFigureOut">
              <a:rPr lang="en-US" smtClean="0"/>
              <a:t>9/8/2022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1FEE19-C447-4F52-B56B-10061AE647AD}" type="slidenum">
              <a:rPr lang="en-US" smtClean="0"/>
              <a:t>‹#›</a:t>
            </a:fld>
            <a:endParaRPr lang="en-US"/>
          </a:p>
        </p:txBody>
      </p:sp>
    </p:spTree>
    <p:extLst>
      <p:ext uri="{BB962C8B-B14F-4D97-AF65-F5344CB8AC3E}">
        <p14:creationId xmlns:p14="http://schemas.microsoft.com/office/powerpoint/2010/main" val="41038693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B227151-CC3B-476F-B8C9-E393FE87A663}" type="datetimeFigureOut">
              <a:rPr lang="en-US" smtClean="0"/>
              <a:t>9/8/2022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1FEE19-C447-4F52-B56B-10061AE647AD}" type="slidenum">
              <a:rPr lang="en-US" smtClean="0"/>
              <a:t>‹#›</a:t>
            </a:fld>
            <a:endParaRPr lang="en-US"/>
          </a:p>
        </p:txBody>
      </p:sp>
    </p:spTree>
    <p:extLst>
      <p:ext uri="{BB962C8B-B14F-4D97-AF65-F5344CB8AC3E}">
        <p14:creationId xmlns:p14="http://schemas.microsoft.com/office/powerpoint/2010/main" val="9891774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227151-CC3B-476F-B8C9-E393FE87A663}" type="datetimeFigureOut">
              <a:rPr lang="en-US" smtClean="0"/>
              <a:t>9/8/2022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1FEE19-C447-4F52-B56B-10061AE647AD}" type="slidenum">
              <a:rPr lang="en-US" smtClean="0"/>
              <a:t>‹#›</a:t>
            </a:fld>
            <a:endParaRPr lang="en-US"/>
          </a:p>
        </p:txBody>
      </p:sp>
    </p:spTree>
    <p:extLst>
      <p:ext uri="{BB962C8B-B14F-4D97-AF65-F5344CB8AC3E}">
        <p14:creationId xmlns:p14="http://schemas.microsoft.com/office/powerpoint/2010/main" val="3431262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381001"/>
            <a:ext cx="8763000" cy="1219199"/>
          </a:xfrm>
        </p:spPr>
        <p:txBody>
          <a:bodyPr>
            <a:normAutofit fontScale="90000"/>
          </a:bodyPr>
          <a:lstStyle/>
          <a:p>
            <a:r>
              <a:rPr lang="en-US" dirty="0">
                <a:solidFill>
                  <a:srgbClr val="FF0000"/>
                </a:solidFill>
              </a:rPr>
              <a:t>Software Development Life Cycle (SDLC)</a:t>
            </a:r>
          </a:p>
        </p:txBody>
      </p:sp>
      <p:sp>
        <p:nvSpPr>
          <p:cNvPr id="3" name="Subtitle 2"/>
          <p:cNvSpPr>
            <a:spLocks noGrp="1"/>
          </p:cNvSpPr>
          <p:nvPr>
            <p:ph type="subTitle" idx="1"/>
          </p:nvPr>
        </p:nvSpPr>
        <p:spPr>
          <a:xfrm>
            <a:off x="609600" y="2133600"/>
            <a:ext cx="8001000" cy="4343400"/>
          </a:xfrm>
        </p:spPr>
        <p:txBody>
          <a:bodyPr>
            <a:normAutofit fontScale="85000" lnSpcReduction="20000"/>
          </a:bodyPr>
          <a:lstStyle/>
          <a:p>
            <a:pPr algn="just"/>
            <a:r>
              <a:rPr lang="en-US" dirty="0">
                <a:solidFill>
                  <a:schemeClr val="tx1"/>
                </a:solidFill>
                <a:latin typeface="Times New Roman" pitchFamily="18" charset="0"/>
                <a:cs typeface="Times New Roman" pitchFamily="18" charset="0"/>
              </a:rPr>
              <a:t>Software Development Life Cycle (SDLC) is a process used by the software industry to design, develop and test high quality </a:t>
            </a:r>
            <a:r>
              <a:rPr lang="en-US" dirty="0" err="1">
                <a:solidFill>
                  <a:schemeClr val="tx1"/>
                </a:solidFill>
                <a:latin typeface="Times New Roman" pitchFamily="18" charset="0"/>
                <a:cs typeface="Times New Roman" pitchFamily="18" charset="0"/>
              </a:rPr>
              <a:t>softwares</a:t>
            </a:r>
            <a:r>
              <a:rPr lang="en-US" dirty="0">
                <a:solidFill>
                  <a:schemeClr val="tx1"/>
                </a:solidFill>
                <a:latin typeface="Times New Roman" pitchFamily="18" charset="0"/>
                <a:cs typeface="Times New Roman" pitchFamily="18" charset="0"/>
              </a:rPr>
              <a:t>. The SDLC aims to produce a high-quality software that meets or exceeds customer expectations, reaches completion within times and cost estimates.</a:t>
            </a:r>
          </a:p>
          <a:p>
            <a:pPr marL="457200" indent="-457200" algn="just">
              <a:buFont typeface="Arial" pitchFamily="34" charset="0"/>
              <a:buChar char="•"/>
            </a:pPr>
            <a:r>
              <a:rPr lang="en-US" dirty="0">
                <a:solidFill>
                  <a:schemeClr val="tx1"/>
                </a:solidFill>
                <a:latin typeface="Times New Roman" pitchFamily="18" charset="0"/>
                <a:cs typeface="Times New Roman" pitchFamily="18" charset="0"/>
              </a:rPr>
              <a:t>SDLC is the acronym of Software Development Life Cycle.</a:t>
            </a:r>
          </a:p>
          <a:p>
            <a:pPr marL="457200" indent="-457200" algn="just">
              <a:buFont typeface="Arial" pitchFamily="34" charset="0"/>
              <a:buChar char="•"/>
            </a:pPr>
            <a:r>
              <a:rPr lang="en-US" dirty="0">
                <a:solidFill>
                  <a:schemeClr val="tx1"/>
                </a:solidFill>
                <a:latin typeface="Times New Roman" pitchFamily="18" charset="0"/>
                <a:cs typeface="Times New Roman" pitchFamily="18" charset="0"/>
              </a:rPr>
              <a:t>It is also called as Software Development Process.</a:t>
            </a:r>
          </a:p>
          <a:p>
            <a:pPr marL="457200" indent="-457200" algn="just">
              <a:buFont typeface="Arial" pitchFamily="34" charset="0"/>
              <a:buChar char="•"/>
            </a:pPr>
            <a:r>
              <a:rPr lang="en-US" dirty="0">
                <a:solidFill>
                  <a:schemeClr val="tx1"/>
                </a:solidFill>
                <a:latin typeface="Times New Roman" pitchFamily="18" charset="0"/>
                <a:cs typeface="Times New Roman" pitchFamily="18" charset="0"/>
              </a:rPr>
              <a:t>SDLC is a framework defining tasks performed at each step in the software development process.</a:t>
            </a:r>
          </a:p>
          <a:p>
            <a:pPr algn="just"/>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44480382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381001"/>
            <a:ext cx="8763000" cy="1447800"/>
          </a:xfrm>
        </p:spPr>
        <p:txBody>
          <a:bodyPr/>
          <a:lstStyle/>
          <a:p>
            <a:r>
              <a:rPr lang="en-US" dirty="0">
                <a:solidFill>
                  <a:srgbClr val="FF0000"/>
                </a:solidFill>
              </a:rPr>
              <a:t>Software Development Life Cycle (SDLC)</a:t>
            </a:r>
          </a:p>
        </p:txBody>
      </p:sp>
      <p:sp>
        <p:nvSpPr>
          <p:cNvPr id="3" name="Subtitle 2"/>
          <p:cNvSpPr>
            <a:spLocks noGrp="1"/>
          </p:cNvSpPr>
          <p:nvPr>
            <p:ph type="subTitle" idx="1"/>
          </p:nvPr>
        </p:nvSpPr>
        <p:spPr>
          <a:xfrm>
            <a:off x="609600" y="2133600"/>
            <a:ext cx="8001000" cy="4343400"/>
          </a:xfrm>
        </p:spPr>
        <p:txBody>
          <a:bodyPr>
            <a:normAutofit fontScale="92500" lnSpcReduction="10000"/>
          </a:bodyPr>
          <a:lstStyle/>
          <a:p>
            <a:pPr algn="just"/>
            <a:r>
              <a:rPr lang="en-US" u="sng" dirty="0">
                <a:solidFill>
                  <a:schemeClr val="tx1"/>
                </a:solidFill>
                <a:latin typeface="Times New Roman" pitchFamily="18" charset="0"/>
                <a:cs typeface="Times New Roman" pitchFamily="18" charset="0"/>
              </a:rPr>
              <a:t>What is SDLC</a:t>
            </a:r>
            <a:r>
              <a:rPr lang="en-US" u="sng" dirty="0" smtClean="0">
                <a:solidFill>
                  <a:schemeClr val="tx1"/>
                </a:solidFill>
                <a:latin typeface="Times New Roman" pitchFamily="18" charset="0"/>
                <a:cs typeface="Times New Roman" pitchFamily="18" charset="0"/>
              </a:rPr>
              <a:t>?</a:t>
            </a:r>
          </a:p>
          <a:p>
            <a:pPr algn="just"/>
            <a:endParaRPr lang="en-US" u="sng" dirty="0">
              <a:solidFill>
                <a:schemeClr val="tx1"/>
              </a:solidFill>
              <a:latin typeface="Times New Roman" pitchFamily="18" charset="0"/>
              <a:cs typeface="Times New Roman" pitchFamily="18" charset="0"/>
            </a:endParaRPr>
          </a:p>
          <a:p>
            <a:pPr algn="just"/>
            <a:r>
              <a:rPr lang="en-US" dirty="0">
                <a:solidFill>
                  <a:schemeClr val="tx1"/>
                </a:solidFill>
                <a:latin typeface="Times New Roman" pitchFamily="18" charset="0"/>
                <a:cs typeface="Times New Roman" pitchFamily="18" charset="0"/>
              </a:rPr>
              <a:t>SDLC is a process followed for a software project, within a software organization. It consists of a detailed plan describing how to develop, maintain, replace and alter or enhance specific software. The life cycle defines a methodology for improving the quality of software and the overall development process</a:t>
            </a:r>
            <a:r>
              <a:rPr lang="en-US" dirty="0" smtClean="0">
                <a:solidFill>
                  <a:schemeClr val="tx1"/>
                </a:solidFill>
                <a:latin typeface="Times New Roman" pitchFamily="18" charset="0"/>
                <a:cs typeface="Times New Roman" pitchFamily="18" charset="0"/>
              </a:rPr>
              <a:t>.</a:t>
            </a:r>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60553145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381001"/>
            <a:ext cx="8763000" cy="1142999"/>
          </a:xfrm>
        </p:spPr>
        <p:txBody>
          <a:bodyPr>
            <a:normAutofit fontScale="90000"/>
          </a:bodyPr>
          <a:lstStyle/>
          <a:p>
            <a:r>
              <a:rPr lang="en-US" dirty="0">
                <a:solidFill>
                  <a:srgbClr val="FF0000"/>
                </a:solidFill>
              </a:rPr>
              <a:t>Software Development Life Cycle (SDLC)</a:t>
            </a:r>
          </a:p>
        </p:txBody>
      </p:sp>
      <p:sp>
        <p:nvSpPr>
          <p:cNvPr id="3" name="Subtitle 2"/>
          <p:cNvSpPr>
            <a:spLocks noGrp="1"/>
          </p:cNvSpPr>
          <p:nvPr>
            <p:ph type="subTitle" idx="1"/>
          </p:nvPr>
        </p:nvSpPr>
        <p:spPr>
          <a:xfrm>
            <a:off x="609600" y="1752600"/>
            <a:ext cx="8001000" cy="4724400"/>
          </a:xfrm>
        </p:spPr>
        <p:txBody>
          <a:bodyPr>
            <a:normAutofit/>
          </a:bodyPr>
          <a:lstStyle/>
          <a:p>
            <a:pPr algn="just"/>
            <a:r>
              <a:rPr lang="en-US" u="sng" dirty="0">
                <a:solidFill>
                  <a:schemeClr val="tx1"/>
                </a:solidFill>
                <a:latin typeface="Times New Roman" pitchFamily="18" charset="0"/>
                <a:cs typeface="Times New Roman" pitchFamily="18" charset="0"/>
              </a:rPr>
              <a:t>What is SDLC</a:t>
            </a:r>
            <a:r>
              <a:rPr lang="en-US" u="sng" dirty="0" smtClean="0">
                <a:solidFill>
                  <a:schemeClr val="tx1"/>
                </a:solidFill>
                <a:latin typeface="Times New Roman" pitchFamily="18" charset="0"/>
                <a:cs typeface="Times New Roman" pitchFamily="18" charset="0"/>
              </a:rPr>
              <a:t>?</a:t>
            </a:r>
          </a:p>
          <a:p>
            <a:pPr algn="just"/>
            <a:endParaRPr lang="en-US" u="sng" dirty="0">
              <a:solidFill>
                <a:schemeClr val="tx1"/>
              </a:solidFill>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599" y="2362200"/>
            <a:ext cx="5578675" cy="408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0757764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381001"/>
            <a:ext cx="8763000" cy="1066799"/>
          </a:xfrm>
        </p:spPr>
        <p:txBody>
          <a:bodyPr>
            <a:normAutofit fontScale="90000"/>
          </a:bodyPr>
          <a:lstStyle/>
          <a:p>
            <a:r>
              <a:rPr lang="en-US" dirty="0">
                <a:solidFill>
                  <a:srgbClr val="FF0000"/>
                </a:solidFill>
              </a:rPr>
              <a:t>Software Development Life Cycle (SDLC)</a:t>
            </a:r>
          </a:p>
        </p:txBody>
      </p:sp>
      <p:sp>
        <p:nvSpPr>
          <p:cNvPr id="3" name="Subtitle 2"/>
          <p:cNvSpPr>
            <a:spLocks noGrp="1"/>
          </p:cNvSpPr>
          <p:nvPr>
            <p:ph type="subTitle" idx="1"/>
          </p:nvPr>
        </p:nvSpPr>
        <p:spPr>
          <a:xfrm>
            <a:off x="381000" y="1752600"/>
            <a:ext cx="8458200" cy="4876800"/>
          </a:xfrm>
        </p:spPr>
        <p:txBody>
          <a:bodyPr>
            <a:normAutofit fontScale="70000" lnSpcReduction="20000"/>
          </a:bodyPr>
          <a:lstStyle/>
          <a:p>
            <a:pPr algn="just"/>
            <a:r>
              <a:rPr lang="en-US" dirty="0">
                <a:solidFill>
                  <a:schemeClr val="tx1"/>
                </a:solidFill>
                <a:latin typeface="Times New Roman" pitchFamily="18" charset="0"/>
                <a:cs typeface="Times New Roman" pitchFamily="18" charset="0"/>
              </a:rPr>
              <a:t>A typical Software Development Life Cycle consists of the following stages −</a:t>
            </a:r>
          </a:p>
          <a:p>
            <a:pPr algn="just"/>
            <a:r>
              <a:rPr lang="en-US" b="1" u="sng" dirty="0">
                <a:solidFill>
                  <a:schemeClr val="tx1"/>
                </a:solidFill>
                <a:latin typeface="Times New Roman" pitchFamily="18" charset="0"/>
                <a:cs typeface="Times New Roman" pitchFamily="18" charset="0"/>
              </a:rPr>
              <a:t>Stage 1: Planning and Requirement </a:t>
            </a:r>
            <a:r>
              <a:rPr lang="en-US" b="1" u="sng" dirty="0" smtClean="0">
                <a:solidFill>
                  <a:schemeClr val="tx1"/>
                </a:solidFill>
                <a:latin typeface="Times New Roman" pitchFamily="18" charset="0"/>
                <a:cs typeface="Times New Roman" pitchFamily="18" charset="0"/>
              </a:rPr>
              <a:t>Analysis</a:t>
            </a:r>
          </a:p>
          <a:p>
            <a:pPr algn="just"/>
            <a:endParaRPr lang="en-US" b="1" u="sng" dirty="0">
              <a:solidFill>
                <a:schemeClr val="tx1"/>
              </a:solidFill>
              <a:latin typeface="Times New Roman" pitchFamily="18" charset="0"/>
              <a:cs typeface="Times New Roman" pitchFamily="18" charset="0"/>
            </a:endParaRPr>
          </a:p>
          <a:p>
            <a:pPr algn="just"/>
            <a:r>
              <a:rPr lang="en-US" dirty="0">
                <a:solidFill>
                  <a:schemeClr val="tx1"/>
                </a:solidFill>
                <a:latin typeface="Times New Roman" pitchFamily="18" charset="0"/>
                <a:cs typeface="Times New Roman" pitchFamily="18" charset="0"/>
              </a:rPr>
              <a:t>Requirement analysis is the most important and fundamental stage in SDLC. It is performed by the senior members of the team with inputs from the customer, the sales department, market surveys and domain experts in the industry. This information is then used to plan the basic project approach and to conduct product feasibility study in the economical, operational and technical areas.</a:t>
            </a:r>
          </a:p>
          <a:p>
            <a:pPr algn="just"/>
            <a:r>
              <a:rPr lang="en-US" dirty="0">
                <a:solidFill>
                  <a:schemeClr val="tx1"/>
                </a:solidFill>
                <a:latin typeface="Times New Roman" pitchFamily="18" charset="0"/>
                <a:cs typeface="Times New Roman" pitchFamily="18" charset="0"/>
              </a:rPr>
              <a:t>Planning for the quality assurance requirements and identification of the risks associated with the project is also done in the planning stage. The outcome of the technical feasibility study is to define the various technical approaches that can be followed to implement the project successfully with minimum risks.</a:t>
            </a:r>
          </a:p>
        </p:txBody>
      </p:sp>
    </p:spTree>
    <p:extLst>
      <p:ext uri="{BB962C8B-B14F-4D97-AF65-F5344CB8AC3E}">
        <p14:creationId xmlns:p14="http://schemas.microsoft.com/office/powerpoint/2010/main" val="20080990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381001"/>
            <a:ext cx="8763000" cy="1066799"/>
          </a:xfrm>
        </p:spPr>
        <p:txBody>
          <a:bodyPr>
            <a:normAutofit fontScale="90000"/>
          </a:bodyPr>
          <a:lstStyle/>
          <a:p>
            <a:r>
              <a:rPr lang="en-US" dirty="0">
                <a:solidFill>
                  <a:srgbClr val="FF0000"/>
                </a:solidFill>
              </a:rPr>
              <a:t>Software Development Life Cycle (SDLC)</a:t>
            </a:r>
          </a:p>
        </p:txBody>
      </p:sp>
      <p:sp>
        <p:nvSpPr>
          <p:cNvPr id="3" name="Subtitle 2"/>
          <p:cNvSpPr>
            <a:spLocks noGrp="1"/>
          </p:cNvSpPr>
          <p:nvPr>
            <p:ph type="subTitle" idx="1"/>
          </p:nvPr>
        </p:nvSpPr>
        <p:spPr>
          <a:xfrm>
            <a:off x="381000" y="1752600"/>
            <a:ext cx="8458200" cy="4876800"/>
          </a:xfrm>
        </p:spPr>
        <p:txBody>
          <a:bodyPr>
            <a:normAutofit/>
          </a:bodyPr>
          <a:lstStyle/>
          <a:p>
            <a:pPr algn="just"/>
            <a:r>
              <a:rPr lang="en-US" b="1" u="sng" dirty="0">
                <a:solidFill>
                  <a:schemeClr val="tx1"/>
                </a:solidFill>
                <a:latin typeface="Times New Roman" pitchFamily="18" charset="0"/>
                <a:cs typeface="Times New Roman" pitchFamily="18" charset="0"/>
              </a:rPr>
              <a:t>Stage 2: Defining Requirements</a:t>
            </a:r>
          </a:p>
          <a:p>
            <a:pPr algn="just"/>
            <a:r>
              <a:rPr lang="en-US" dirty="0">
                <a:solidFill>
                  <a:schemeClr val="tx1"/>
                </a:solidFill>
                <a:latin typeface="Times New Roman" pitchFamily="18" charset="0"/>
                <a:cs typeface="Times New Roman" pitchFamily="18" charset="0"/>
              </a:rPr>
              <a:t>Once the requirement analysis is done the next step is to clearly define and document the product requirements and get them approved from the customer or the market analysts. This is done through an </a:t>
            </a:r>
            <a:r>
              <a:rPr lang="en-US" b="1" dirty="0">
                <a:solidFill>
                  <a:schemeClr val="tx1"/>
                </a:solidFill>
                <a:latin typeface="Times New Roman" pitchFamily="18" charset="0"/>
                <a:cs typeface="Times New Roman" pitchFamily="18" charset="0"/>
              </a:rPr>
              <a:t>SRS (Software Requirement Specification)</a:t>
            </a:r>
            <a:r>
              <a:rPr lang="en-US" dirty="0">
                <a:solidFill>
                  <a:schemeClr val="tx1"/>
                </a:solidFill>
                <a:latin typeface="Times New Roman" pitchFamily="18" charset="0"/>
                <a:cs typeface="Times New Roman" pitchFamily="18" charset="0"/>
              </a:rPr>
              <a:t> document which consists of all the product requirements to be designed and developed during the project life cycle.</a:t>
            </a:r>
          </a:p>
        </p:txBody>
      </p:sp>
    </p:spTree>
    <p:extLst>
      <p:ext uri="{BB962C8B-B14F-4D97-AF65-F5344CB8AC3E}">
        <p14:creationId xmlns:p14="http://schemas.microsoft.com/office/powerpoint/2010/main" val="146954210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381001"/>
            <a:ext cx="8763000" cy="1066799"/>
          </a:xfrm>
        </p:spPr>
        <p:txBody>
          <a:bodyPr>
            <a:normAutofit fontScale="90000"/>
          </a:bodyPr>
          <a:lstStyle/>
          <a:p>
            <a:r>
              <a:rPr lang="en-US" dirty="0">
                <a:solidFill>
                  <a:srgbClr val="FF0000"/>
                </a:solidFill>
              </a:rPr>
              <a:t>Software Development Life Cycle (SDLC)</a:t>
            </a:r>
          </a:p>
        </p:txBody>
      </p:sp>
      <p:sp>
        <p:nvSpPr>
          <p:cNvPr id="3" name="Subtitle 2"/>
          <p:cNvSpPr>
            <a:spLocks noGrp="1"/>
          </p:cNvSpPr>
          <p:nvPr>
            <p:ph type="subTitle" idx="1"/>
          </p:nvPr>
        </p:nvSpPr>
        <p:spPr>
          <a:xfrm>
            <a:off x="381000" y="1600200"/>
            <a:ext cx="8458200" cy="5029200"/>
          </a:xfrm>
        </p:spPr>
        <p:txBody>
          <a:bodyPr>
            <a:normAutofit fontScale="70000" lnSpcReduction="20000"/>
          </a:bodyPr>
          <a:lstStyle/>
          <a:p>
            <a:pPr algn="just"/>
            <a:r>
              <a:rPr lang="en-US" b="1" u="sng" dirty="0">
                <a:solidFill>
                  <a:schemeClr val="tx1"/>
                </a:solidFill>
                <a:latin typeface="Times New Roman" pitchFamily="18" charset="0"/>
                <a:cs typeface="Times New Roman" pitchFamily="18" charset="0"/>
              </a:rPr>
              <a:t>Stage 3: Designing the Product </a:t>
            </a:r>
            <a:r>
              <a:rPr lang="en-US" b="1" u="sng" dirty="0" smtClean="0">
                <a:solidFill>
                  <a:schemeClr val="tx1"/>
                </a:solidFill>
                <a:latin typeface="Times New Roman" pitchFamily="18" charset="0"/>
                <a:cs typeface="Times New Roman" pitchFamily="18" charset="0"/>
              </a:rPr>
              <a:t>Architecture</a:t>
            </a:r>
          </a:p>
          <a:p>
            <a:pPr algn="just"/>
            <a:endParaRPr lang="en-US" b="1" u="sng" dirty="0">
              <a:solidFill>
                <a:schemeClr val="tx1"/>
              </a:solidFill>
              <a:latin typeface="Times New Roman" pitchFamily="18" charset="0"/>
              <a:cs typeface="Times New Roman" pitchFamily="18" charset="0"/>
            </a:endParaRPr>
          </a:p>
          <a:p>
            <a:pPr algn="just"/>
            <a:r>
              <a:rPr lang="en-US" dirty="0">
                <a:solidFill>
                  <a:schemeClr val="tx1"/>
                </a:solidFill>
                <a:latin typeface="Times New Roman" pitchFamily="18" charset="0"/>
                <a:cs typeface="Times New Roman" pitchFamily="18" charset="0"/>
              </a:rPr>
              <a:t>SRS is the reference for product architects to come out with the best architecture for the product to be developed. Based on the requirements specified in SRS, usually more than one design approach for the product architecture is proposed and documented in a DDS - Design Document Specification.</a:t>
            </a:r>
          </a:p>
          <a:p>
            <a:pPr algn="just"/>
            <a:r>
              <a:rPr lang="en-US" dirty="0">
                <a:solidFill>
                  <a:schemeClr val="tx1"/>
                </a:solidFill>
                <a:latin typeface="Times New Roman" pitchFamily="18" charset="0"/>
                <a:cs typeface="Times New Roman" pitchFamily="18" charset="0"/>
              </a:rPr>
              <a:t>This DDS is reviewed by all the important stakeholders and based on various parameters as risk assessment, product robustness, design modularity, budget and time constraints, the best design approach is selected for the product.</a:t>
            </a:r>
          </a:p>
          <a:p>
            <a:pPr algn="just"/>
            <a:r>
              <a:rPr lang="en-US" dirty="0">
                <a:solidFill>
                  <a:schemeClr val="tx1"/>
                </a:solidFill>
                <a:latin typeface="Times New Roman" pitchFamily="18" charset="0"/>
                <a:cs typeface="Times New Roman" pitchFamily="18" charset="0"/>
              </a:rPr>
              <a:t>A design approach clearly defines all the architectural modules of the product along with its communication and data flow representation with the external and third party modules (if any). The internal design of all the modules of the proposed architecture should be clearly defined with the minutest of the details in DDS.</a:t>
            </a:r>
          </a:p>
        </p:txBody>
      </p:sp>
    </p:spTree>
    <p:extLst>
      <p:ext uri="{BB962C8B-B14F-4D97-AF65-F5344CB8AC3E}">
        <p14:creationId xmlns:p14="http://schemas.microsoft.com/office/powerpoint/2010/main" val="173193505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381001"/>
            <a:ext cx="8763000" cy="1066799"/>
          </a:xfrm>
        </p:spPr>
        <p:txBody>
          <a:bodyPr>
            <a:normAutofit fontScale="90000"/>
          </a:bodyPr>
          <a:lstStyle/>
          <a:p>
            <a:r>
              <a:rPr lang="en-US" dirty="0">
                <a:solidFill>
                  <a:srgbClr val="FF0000"/>
                </a:solidFill>
              </a:rPr>
              <a:t>Software Development Life Cycle (SDLC)</a:t>
            </a:r>
          </a:p>
        </p:txBody>
      </p:sp>
      <p:sp>
        <p:nvSpPr>
          <p:cNvPr id="3" name="Subtitle 2"/>
          <p:cNvSpPr>
            <a:spLocks noGrp="1"/>
          </p:cNvSpPr>
          <p:nvPr>
            <p:ph type="subTitle" idx="1"/>
          </p:nvPr>
        </p:nvSpPr>
        <p:spPr>
          <a:xfrm>
            <a:off x="381000" y="1600200"/>
            <a:ext cx="8458200" cy="5029200"/>
          </a:xfrm>
        </p:spPr>
        <p:txBody>
          <a:bodyPr>
            <a:normAutofit fontScale="85000" lnSpcReduction="20000"/>
          </a:bodyPr>
          <a:lstStyle/>
          <a:p>
            <a:pPr algn="just"/>
            <a:r>
              <a:rPr lang="en-US" b="1" u="sng" dirty="0">
                <a:solidFill>
                  <a:schemeClr val="tx1"/>
                </a:solidFill>
                <a:latin typeface="Times New Roman" pitchFamily="18" charset="0"/>
                <a:cs typeface="Times New Roman" pitchFamily="18" charset="0"/>
              </a:rPr>
              <a:t>Stage 4: Building or Developing the </a:t>
            </a:r>
            <a:r>
              <a:rPr lang="en-US" b="1" u="sng" dirty="0" smtClean="0">
                <a:solidFill>
                  <a:schemeClr val="tx1"/>
                </a:solidFill>
                <a:latin typeface="Times New Roman" pitchFamily="18" charset="0"/>
                <a:cs typeface="Times New Roman" pitchFamily="18" charset="0"/>
              </a:rPr>
              <a:t>Product</a:t>
            </a:r>
          </a:p>
          <a:p>
            <a:pPr algn="just"/>
            <a:endParaRPr lang="en-US" b="1" u="sng" dirty="0">
              <a:solidFill>
                <a:schemeClr val="tx1"/>
              </a:solidFill>
              <a:latin typeface="Times New Roman" pitchFamily="18" charset="0"/>
              <a:cs typeface="Times New Roman" pitchFamily="18" charset="0"/>
            </a:endParaRPr>
          </a:p>
          <a:p>
            <a:pPr algn="just"/>
            <a:r>
              <a:rPr lang="en-US" dirty="0">
                <a:solidFill>
                  <a:schemeClr val="tx1"/>
                </a:solidFill>
                <a:latin typeface="Times New Roman" pitchFamily="18" charset="0"/>
                <a:cs typeface="Times New Roman" pitchFamily="18" charset="0"/>
              </a:rPr>
              <a:t>In this stage of SDLC the actual development starts and the product is built. The programming code is generated as per DDS during this stage. If the design is performed in a detailed and organized manner, code generation can be accomplished without much hassle.</a:t>
            </a:r>
          </a:p>
          <a:p>
            <a:pPr algn="just"/>
            <a:r>
              <a:rPr lang="en-US" dirty="0">
                <a:solidFill>
                  <a:schemeClr val="tx1"/>
                </a:solidFill>
                <a:latin typeface="Times New Roman" pitchFamily="18" charset="0"/>
                <a:cs typeface="Times New Roman" pitchFamily="18" charset="0"/>
              </a:rPr>
              <a:t>Developers must follow the coding guidelines defined by their organization and programming tools like compilers, interpreters, debuggers, etc. are used to generate the code. Different high level programming languages such as C, C++, Pascal, Java and PHP are used for coding. The programming language is chosen with respect to the type of software being developed.</a:t>
            </a:r>
          </a:p>
        </p:txBody>
      </p:sp>
    </p:spTree>
    <p:extLst>
      <p:ext uri="{BB962C8B-B14F-4D97-AF65-F5344CB8AC3E}">
        <p14:creationId xmlns:p14="http://schemas.microsoft.com/office/powerpoint/2010/main" val="239890940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381001"/>
            <a:ext cx="8763000" cy="1066799"/>
          </a:xfrm>
        </p:spPr>
        <p:txBody>
          <a:bodyPr>
            <a:normAutofit fontScale="90000"/>
          </a:bodyPr>
          <a:lstStyle/>
          <a:p>
            <a:r>
              <a:rPr lang="en-US" dirty="0">
                <a:solidFill>
                  <a:srgbClr val="FF0000"/>
                </a:solidFill>
              </a:rPr>
              <a:t>Software Development Life Cycle (SDLC)</a:t>
            </a:r>
          </a:p>
        </p:txBody>
      </p:sp>
      <p:sp>
        <p:nvSpPr>
          <p:cNvPr id="3" name="Subtitle 2"/>
          <p:cNvSpPr>
            <a:spLocks noGrp="1"/>
          </p:cNvSpPr>
          <p:nvPr>
            <p:ph type="subTitle" idx="1"/>
          </p:nvPr>
        </p:nvSpPr>
        <p:spPr>
          <a:xfrm>
            <a:off x="381000" y="1600200"/>
            <a:ext cx="8458200" cy="5029200"/>
          </a:xfrm>
        </p:spPr>
        <p:txBody>
          <a:bodyPr>
            <a:normAutofit/>
          </a:bodyPr>
          <a:lstStyle/>
          <a:p>
            <a:pPr algn="just"/>
            <a:r>
              <a:rPr lang="en-US" b="1" u="sng" dirty="0">
                <a:solidFill>
                  <a:schemeClr val="tx1"/>
                </a:solidFill>
                <a:latin typeface="Times New Roman" pitchFamily="18" charset="0"/>
                <a:cs typeface="Times New Roman" pitchFamily="18" charset="0"/>
              </a:rPr>
              <a:t>Stage 5: Testing the Product</a:t>
            </a:r>
          </a:p>
          <a:p>
            <a:pPr algn="just"/>
            <a:r>
              <a:rPr lang="en-US" dirty="0">
                <a:solidFill>
                  <a:schemeClr val="tx1"/>
                </a:solidFill>
                <a:latin typeface="Times New Roman" pitchFamily="18" charset="0"/>
                <a:cs typeface="Times New Roman" pitchFamily="18" charset="0"/>
              </a:rPr>
              <a:t>This stage is usually a subset of all the stages as in the modern SDLC models, the testing activities are mostly involved in all the stages of SDLC. However, this stage refers to the testing only stage of the product where product defects are reported, tracked, fixed and retested, until the product reaches the quality standards defined in the SRS.</a:t>
            </a:r>
          </a:p>
        </p:txBody>
      </p:sp>
    </p:spTree>
    <p:extLst>
      <p:ext uri="{BB962C8B-B14F-4D97-AF65-F5344CB8AC3E}">
        <p14:creationId xmlns:p14="http://schemas.microsoft.com/office/powerpoint/2010/main" val="173718852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381001"/>
            <a:ext cx="8763000" cy="1066799"/>
          </a:xfrm>
        </p:spPr>
        <p:txBody>
          <a:bodyPr>
            <a:normAutofit fontScale="90000"/>
          </a:bodyPr>
          <a:lstStyle/>
          <a:p>
            <a:r>
              <a:rPr lang="en-US" dirty="0">
                <a:solidFill>
                  <a:srgbClr val="FF0000"/>
                </a:solidFill>
              </a:rPr>
              <a:t>Software Development Life Cycle (SDLC)</a:t>
            </a:r>
          </a:p>
        </p:txBody>
      </p:sp>
      <p:sp>
        <p:nvSpPr>
          <p:cNvPr id="3" name="Subtitle 2"/>
          <p:cNvSpPr>
            <a:spLocks noGrp="1"/>
          </p:cNvSpPr>
          <p:nvPr>
            <p:ph type="subTitle" idx="1"/>
          </p:nvPr>
        </p:nvSpPr>
        <p:spPr>
          <a:xfrm>
            <a:off x="381000" y="1600200"/>
            <a:ext cx="8458200" cy="5029200"/>
          </a:xfrm>
        </p:spPr>
        <p:txBody>
          <a:bodyPr>
            <a:normAutofit fontScale="85000" lnSpcReduction="10000"/>
          </a:bodyPr>
          <a:lstStyle/>
          <a:p>
            <a:pPr algn="just"/>
            <a:r>
              <a:rPr lang="en-US" b="1" u="sng" dirty="0">
                <a:solidFill>
                  <a:schemeClr val="tx1"/>
                </a:solidFill>
                <a:latin typeface="Times New Roman" pitchFamily="18" charset="0"/>
                <a:cs typeface="Times New Roman" pitchFamily="18" charset="0"/>
              </a:rPr>
              <a:t>Stage 6: Deployment in the Market and </a:t>
            </a:r>
            <a:r>
              <a:rPr lang="en-US" b="1" u="sng" dirty="0" smtClean="0">
                <a:solidFill>
                  <a:schemeClr val="tx1"/>
                </a:solidFill>
                <a:latin typeface="Times New Roman" pitchFamily="18" charset="0"/>
                <a:cs typeface="Times New Roman" pitchFamily="18" charset="0"/>
              </a:rPr>
              <a:t>Maintenance</a:t>
            </a:r>
          </a:p>
          <a:p>
            <a:pPr algn="just"/>
            <a:endParaRPr lang="en-US" b="1" u="sng" dirty="0">
              <a:solidFill>
                <a:schemeClr val="tx1"/>
              </a:solidFill>
              <a:latin typeface="Times New Roman" pitchFamily="18" charset="0"/>
              <a:cs typeface="Times New Roman" pitchFamily="18" charset="0"/>
            </a:endParaRPr>
          </a:p>
          <a:p>
            <a:pPr algn="just"/>
            <a:r>
              <a:rPr lang="en-US" dirty="0">
                <a:solidFill>
                  <a:schemeClr val="tx1"/>
                </a:solidFill>
                <a:latin typeface="Times New Roman" pitchFamily="18" charset="0"/>
                <a:cs typeface="Times New Roman" pitchFamily="18" charset="0"/>
              </a:rPr>
              <a:t>Once the product is tested and ready to be deployed it is released formally in the appropriate market. Sometimes product deployment happens in stages as per the business strategy of that organization. The product may first be released in a limited segment and tested in the real business environment (UAT- User acceptance testing).</a:t>
            </a:r>
          </a:p>
          <a:p>
            <a:pPr algn="just"/>
            <a:r>
              <a:rPr lang="en-US" dirty="0">
                <a:solidFill>
                  <a:schemeClr val="tx1"/>
                </a:solidFill>
                <a:latin typeface="Times New Roman" pitchFamily="18" charset="0"/>
                <a:cs typeface="Times New Roman" pitchFamily="18" charset="0"/>
              </a:rPr>
              <a:t>Then based on the feedback, the product may be released as it is or with suggested enhancements in the targeting market segment. After the product is released in the market, its maintenance is done for the existing customer base.</a:t>
            </a:r>
          </a:p>
        </p:txBody>
      </p:sp>
    </p:spTree>
    <p:extLst>
      <p:ext uri="{BB962C8B-B14F-4D97-AF65-F5344CB8AC3E}">
        <p14:creationId xmlns:p14="http://schemas.microsoft.com/office/powerpoint/2010/main" val="297034999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TotalTime>
  <Words>839</Words>
  <Application>Microsoft Office PowerPoint</Application>
  <PresentationFormat>On-screen Show (4:3)</PresentationFormat>
  <Paragraphs>39</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Software Development Life Cycle (SDLC)</vt:lpstr>
      <vt:lpstr>Software Development Life Cycle (SDLC)</vt:lpstr>
      <vt:lpstr>Software Development Life Cycle (SDLC)</vt:lpstr>
      <vt:lpstr>Software Development Life Cycle (SDLC)</vt:lpstr>
      <vt:lpstr>Software Development Life Cycle (SDLC)</vt:lpstr>
      <vt:lpstr>Software Development Life Cycle (SDLC)</vt:lpstr>
      <vt:lpstr>Software Development Life Cycle (SDLC)</vt:lpstr>
      <vt:lpstr>Software Development Life Cycle (SDLC)</vt:lpstr>
      <vt:lpstr>Software Development Life Cycle (SDLC)</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Development Life Cycle (SDLC)</dc:title>
  <dc:creator>tara</dc:creator>
  <cp:lastModifiedBy>tara</cp:lastModifiedBy>
  <cp:revision>3</cp:revision>
  <dcterms:created xsi:type="dcterms:W3CDTF">2022-09-08T04:48:51Z</dcterms:created>
  <dcterms:modified xsi:type="dcterms:W3CDTF">2022-09-08T05:11:10Z</dcterms:modified>
</cp:coreProperties>
</file>