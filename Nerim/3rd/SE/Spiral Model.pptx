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1B5686B-BB63-4417-8310-21DBB4AD5976}" type="datetimeFigureOut">
              <a:rPr lang="en-US" smtClean="0"/>
              <a:t>9/12/2022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963FEA-7597-408B-90A6-F1E2D3210AA6}" type="slidenum">
              <a:rPr lang="en-US" smtClean="0"/>
              <a:t>‹#›</a:t>
            </a:fld>
            <a:endParaRPr lang="en-US"/>
          </a:p>
        </p:txBody>
      </p:sp>
    </p:spTree>
    <p:extLst>
      <p:ext uri="{BB962C8B-B14F-4D97-AF65-F5344CB8AC3E}">
        <p14:creationId xmlns:p14="http://schemas.microsoft.com/office/powerpoint/2010/main" val="1995397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B5686B-BB63-4417-8310-21DBB4AD5976}" type="datetimeFigureOut">
              <a:rPr lang="en-US" smtClean="0"/>
              <a:t>9/12/2022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963FEA-7597-408B-90A6-F1E2D3210AA6}" type="slidenum">
              <a:rPr lang="en-US" smtClean="0"/>
              <a:t>‹#›</a:t>
            </a:fld>
            <a:endParaRPr lang="en-US"/>
          </a:p>
        </p:txBody>
      </p:sp>
    </p:spTree>
    <p:extLst>
      <p:ext uri="{BB962C8B-B14F-4D97-AF65-F5344CB8AC3E}">
        <p14:creationId xmlns:p14="http://schemas.microsoft.com/office/powerpoint/2010/main" val="1858013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1B5686B-BB63-4417-8310-21DBB4AD5976}" type="datetimeFigureOut">
              <a:rPr lang="en-US" smtClean="0"/>
              <a:t>9/12/2022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963FEA-7597-408B-90A6-F1E2D3210AA6}" type="slidenum">
              <a:rPr lang="en-US" smtClean="0"/>
              <a:t>‹#›</a:t>
            </a:fld>
            <a:endParaRPr lang="en-US"/>
          </a:p>
        </p:txBody>
      </p:sp>
    </p:spTree>
    <p:extLst>
      <p:ext uri="{BB962C8B-B14F-4D97-AF65-F5344CB8AC3E}">
        <p14:creationId xmlns:p14="http://schemas.microsoft.com/office/powerpoint/2010/main" val="3372486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1B5686B-BB63-4417-8310-21DBB4AD5976}" type="datetimeFigureOut">
              <a:rPr lang="en-US" smtClean="0"/>
              <a:t>9/12/2022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963FEA-7597-408B-90A6-F1E2D3210AA6}" type="slidenum">
              <a:rPr lang="en-US" smtClean="0"/>
              <a:t>‹#›</a:t>
            </a:fld>
            <a:endParaRPr lang="en-US"/>
          </a:p>
        </p:txBody>
      </p:sp>
    </p:spTree>
    <p:extLst>
      <p:ext uri="{BB962C8B-B14F-4D97-AF65-F5344CB8AC3E}">
        <p14:creationId xmlns:p14="http://schemas.microsoft.com/office/powerpoint/2010/main" val="1022587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1B5686B-BB63-4417-8310-21DBB4AD5976}" type="datetimeFigureOut">
              <a:rPr lang="en-US" smtClean="0"/>
              <a:t>9/12/2022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963FEA-7597-408B-90A6-F1E2D3210AA6}" type="slidenum">
              <a:rPr lang="en-US" smtClean="0"/>
              <a:t>‹#›</a:t>
            </a:fld>
            <a:endParaRPr lang="en-US"/>
          </a:p>
        </p:txBody>
      </p:sp>
    </p:spTree>
    <p:extLst>
      <p:ext uri="{BB962C8B-B14F-4D97-AF65-F5344CB8AC3E}">
        <p14:creationId xmlns:p14="http://schemas.microsoft.com/office/powerpoint/2010/main" val="2073727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1B5686B-BB63-4417-8310-21DBB4AD5976}" type="datetimeFigureOut">
              <a:rPr lang="en-US" smtClean="0"/>
              <a:t>9/12/2022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963FEA-7597-408B-90A6-F1E2D3210AA6}" type="slidenum">
              <a:rPr lang="en-US" smtClean="0"/>
              <a:t>‹#›</a:t>
            </a:fld>
            <a:endParaRPr lang="en-US"/>
          </a:p>
        </p:txBody>
      </p:sp>
    </p:spTree>
    <p:extLst>
      <p:ext uri="{BB962C8B-B14F-4D97-AF65-F5344CB8AC3E}">
        <p14:creationId xmlns:p14="http://schemas.microsoft.com/office/powerpoint/2010/main" val="15399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B5686B-BB63-4417-8310-21DBB4AD5976}" type="datetimeFigureOut">
              <a:rPr lang="en-US" smtClean="0"/>
              <a:t>9/12/2022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963FEA-7597-408B-90A6-F1E2D3210AA6}" type="slidenum">
              <a:rPr lang="en-US" smtClean="0"/>
              <a:t>‹#›</a:t>
            </a:fld>
            <a:endParaRPr lang="en-US"/>
          </a:p>
        </p:txBody>
      </p:sp>
    </p:spTree>
    <p:extLst>
      <p:ext uri="{BB962C8B-B14F-4D97-AF65-F5344CB8AC3E}">
        <p14:creationId xmlns:p14="http://schemas.microsoft.com/office/powerpoint/2010/main" val="2663943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B5686B-BB63-4417-8310-21DBB4AD5976}" type="datetimeFigureOut">
              <a:rPr lang="en-US" smtClean="0"/>
              <a:t>9/12/2022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963FEA-7597-408B-90A6-F1E2D3210AA6}" type="slidenum">
              <a:rPr lang="en-US" smtClean="0"/>
              <a:t>‹#›</a:t>
            </a:fld>
            <a:endParaRPr lang="en-US"/>
          </a:p>
        </p:txBody>
      </p:sp>
    </p:spTree>
    <p:extLst>
      <p:ext uri="{BB962C8B-B14F-4D97-AF65-F5344CB8AC3E}">
        <p14:creationId xmlns:p14="http://schemas.microsoft.com/office/powerpoint/2010/main" val="1688969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B5686B-BB63-4417-8310-21DBB4AD5976}" type="datetimeFigureOut">
              <a:rPr lang="en-US" smtClean="0"/>
              <a:t>9/12/2022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963FEA-7597-408B-90A6-F1E2D3210AA6}" type="slidenum">
              <a:rPr lang="en-US" smtClean="0"/>
              <a:t>‹#›</a:t>
            </a:fld>
            <a:endParaRPr lang="en-US"/>
          </a:p>
        </p:txBody>
      </p:sp>
    </p:spTree>
    <p:extLst>
      <p:ext uri="{BB962C8B-B14F-4D97-AF65-F5344CB8AC3E}">
        <p14:creationId xmlns:p14="http://schemas.microsoft.com/office/powerpoint/2010/main" val="4273048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B5686B-BB63-4417-8310-21DBB4AD5976}" type="datetimeFigureOut">
              <a:rPr lang="en-US" smtClean="0"/>
              <a:t>9/12/2022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963FEA-7597-408B-90A6-F1E2D3210AA6}" type="slidenum">
              <a:rPr lang="en-US" smtClean="0"/>
              <a:t>‹#›</a:t>
            </a:fld>
            <a:endParaRPr lang="en-US"/>
          </a:p>
        </p:txBody>
      </p:sp>
    </p:spTree>
    <p:extLst>
      <p:ext uri="{BB962C8B-B14F-4D97-AF65-F5344CB8AC3E}">
        <p14:creationId xmlns:p14="http://schemas.microsoft.com/office/powerpoint/2010/main" val="1514828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B5686B-BB63-4417-8310-21DBB4AD5976}" type="datetimeFigureOut">
              <a:rPr lang="en-US" smtClean="0"/>
              <a:t>9/12/2022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963FEA-7597-408B-90A6-F1E2D3210AA6}" type="slidenum">
              <a:rPr lang="en-US" smtClean="0"/>
              <a:t>‹#›</a:t>
            </a:fld>
            <a:endParaRPr lang="en-US"/>
          </a:p>
        </p:txBody>
      </p:sp>
    </p:spTree>
    <p:extLst>
      <p:ext uri="{BB962C8B-B14F-4D97-AF65-F5344CB8AC3E}">
        <p14:creationId xmlns:p14="http://schemas.microsoft.com/office/powerpoint/2010/main" val="4082655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B5686B-BB63-4417-8310-21DBB4AD5976}" type="datetimeFigureOut">
              <a:rPr lang="en-US" smtClean="0"/>
              <a:t>9/12/2022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963FEA-7597-408B-90A6-F1E2D3210AA6}" type="slidenum">
              <a:rPr lang="en-US" smtClean="0"/>
              <a:t>‹#›</a:t>
            </a:fld>
            <a:endParaRPr lang="en-US"/>
          </a:p>
        </p:txBody>
      </p:sp>
    </p:spTree>
    <p:extLst>
      <p:ext uri="{BB962C8B-B14F-4D97-AF65-F5344CB8AC3E}">
        <p14:creationId xmlns:p14="http://schemas.microsoft.com/office/powerpoint/2010/main" val="34379584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0"/>
            <a:ext cx="7772400" cy="1470025"/>
          </a:xfrm>
        </p:spPr>
        <p:txBody>
          <a:bodyPr/>
          <a:lstStyle/>
          <a:p>
            <a:r>
              <a:rPr lang="en-US" b="1" dirty="0">
                <a:solidFill>
                  <a:srgbClr val="FF0000"/>
                </a:solidFill>
              </a:rPr>
              <a:t>Spiral Model</a:t>
            </a:r>
            <a:br>
              <a:rPr lang="en-US" b="1" dirty="0">
                <a:solidFill>
                  <a:srgbClr val="FF0000"/>
                </a:solidFill>
              </a:rPr>
            </a:br>
            <a:endParaRPr lang="en-US" dirty="0">
              <a:solidFill>
                <a:srgbClr val="FF0000"/>
              </a:solidFill>
            </a:endParaRPr>
          </a:p>
        </p:txBody>
      </p:sp>
      <p:sp>
        <p:nvSpPr>
          <p:cNvPr id="3" name="Subtitle 2"/>
          <p:cNvSpPr>
            <a:spLocks noGrp="1"/>
          </p:cNvSpPr>
          <p:nvPr>
            <p:ph type="subTitle" idx="1"/>
          </p:nvPr>
        </p:nvSpPr>
        <p:spPr>
          <a:xfrm>
            <a:off x="457200" y="1905000"/>
            <a:ext cx="8153400" cy="4572000"/>
          </a:xfrm>
        </p:spPr>
        <p:txBody>
          <a:bodyPr>
            <a:normAutofit fontScale="85000" lnSpcReduction="10000"/>
          </a:bodyPr>
          <a:lstStyle/>
          <a:p>
            <a:pPr algn="just"/>
            <a:r>
              <a:rPr lang="en-US" b="1" dirty="0">
                <a:solidFill>
                  <a:schemeClr val="tx1"/>
                </a:solidFill>
                <a:latin typeface="Times New Roman" pitchFamily="18" charset="0"/>
                <a:cs typeface="Times New Roman" pitchFamily="18" charset="0"/>
              </a:rPr>
              <a:t>Spiral model</a:t>
            </a:r>
            <a:r>
              <a:rPr lang="en-US" dirty="0">
                <a:solidFill>
                  <a:schemeClr val="tx1"/>
                </a:solidFill>
                <a:latin typeface="Times New Roman" pitchFamily="18" charset="0"/>
                <a:cs typeface="Times New Roman" pitchFamily="18" charset="0"/>
              </a:rPr>
              <a:t> is one of the most important Software Development Life Cycle models, which provides support for </a:t>
            </a:r>
            <a:r>
              <a:rPr lang="en-US" b="1" dirty="0">
                <a:solidFill>
                  <a:schemeClr val="tx1"/>
                </a:solidFill>
                <a:latin typeface="Times New Roman" pitchFamily="18" charset="0"/>
                <a:cs typeface="Times New Roman" pitchFamily="18" charset="0"/>
              </a:rPr>
              <a:t>Risk Handling</a:t>
            </a:r>
            <a:r>
              <a:rPr lang="en-US" dirty="0">
                <a:solidFill>
                  <a:schemeClr val="tx1"/>
                </a:solidFill>
                <a:latin typeface="Times New Roman" pitchFamily="18" charset="0"/>
                <a:cs typeface="Times New Roman" pitchFamily="18" charset="0"/>
              </a:rPr>
              <a:t>. In its diagrammatic representation, it looks like a spiral with many loops. The exact number of loops of the spiral is unknown and can vary from project to project. Each loop of the spiral is called a </a:t>
            </a:r>
            <a:r>
              <a:rPr lang="en-US" b="1" dirty="0">
                <a:solidFill>
                  <a:schemeClr val="tx1"/>
                </a:solidFill>
                <a:latin typeface="Times New Roman" pitchFamily="18" charset="0"/>
                <a:cs typeface="Times New Roman" pitchFamily="18" charset="0"/>
              </a:rPr>
              <a:t>Phase of the software development process.</a:t>
            </a:r>
            <a:r>
              <a:rPr lang="en-US" dirty="0">
                <a:solidFill>
                  <a:schemeClr val="tx1"/>
                </a:solidFill>
                <a:latin typeface="Times New Roman" pitchFamily="18" charset="0"/>
                <a:cs typeface="Times New Roman" pitchFamily="18" charset="0"/>
              </a:rPr>
              <a:t> The exact number of phases needed to develop the product can be varied by the project manager depending upon the project risks. As the project manager dynamically determines the number of phases, so the project manager has an important role to develop a product using the spiral model. </a:t>
            </a:r>
          </a:p>
        </p:txBody>
      </p:sp>
    </p:spTree>
    <p:extLst>
      <p:ext uri="{BB962C8B-B14F-4D97-AF65-F5344CB8AC3E}">
        <p14:creationId xmlns:p14="http://schemas.microsoft.com/office/powerpoint/2010/main" val="880726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1470025"/>
          </a:xfrm>
        </p:spPr>
        <p:txBody>
          <a:bodyPr/>
          <a:lstStyle/>
          <a:p>
            <a:r>
              <a:rPr lang="en-US" b="1" dirty="0">
                <a:solidFill>
                  <a:srgbClr val="FF0000"/>
                </a:solidFill>
              </a:rPr>
              <a:t>Spiral Model</a:t>
            </a:r>
            <a:br>
              <a:rPr lang="en-US" b="1" dirty="0">
                <a:solidFill>
                  <a:srgbClr val="FF0000"/>
                </a:solidFill>
              </a:rPr>
            </a:br>
            <a:endParaRPr lang="en-US" dirty="0">
              <a:solidFill>
                <a:srgbClr val="FF0000"/>
              </a:solidFill>
            </a:endParaRPr>
          </a:p>
        </p:txBody>
      </p:sp>
      <p:sp>
        <p:nvSpPr>
          <p:cNvPr id="3" name="Subtitle 2"/>
          <p:cNvSpPr>
            <a:spLocks noGrp="1"/>
          </p:cNvSpPr>
          <p:nvPr>
            <p:ph type="subTitle" idx="1"/>
          </p:nvPr>
        </p:nvSpPr>
        <p:spPr>
          <a:xfrm>
            <a:off x="457200" y="1143000"/>
            <a:ext cx="8153400" cy="1905000"/>
          </a:xfrm>
        </p:spPr>
        <p:txBody>
          <a:bodyPr>
            <a:normAutofit fontScale="77500" lnSpcReduction="20000"/>
          </a:bodyPr>
          <a:lstStyle/>
          <a:p>
            <a:pPr algn="just"/>
            <a:r>
              <a:rPr lang="en-US" dirty="0">
                <a:solidFill>
                  <a:schemeClr val="tx1"/>
                </a:solidFill>
                <a:latin typeface="Times New Roman" pitchFamily="18" charset="0"/>
                <a:cs typeface="Times New Roman" pitchFamily="18" charset="0"/>
              </a:rPr>
              <a:t>The Radius of the spiral at any point represents the expenses(cost) of the </a:t>
            </a:r>
            <a:r>
              <a:rPr lang="en-US" dirty="0" smtClean="0">
                <a:solidFill>
                  <a:schemeClr val="tx1"/>
                </a:solidFill>
                <a:latin typeface="Times New Roman" pitchFamily="18" charset="0"/>
                <a:cs typeface="Times New Roman" pitchFamily="18" charset="0"/>
              </a:rPr>
              <a:t>project </a:t>
            </a:r>
            <a:r>
              <a:rPr lang="en-US" dirty="0">
                <a:solidFill>
                  <a:schemeClr val="tx1"/>
                </a:solidFill>
                <a:latin typeface="Times New Roman" pitchFamily="18" charset="0"/>
                <a:cs typeface="Times New Roman" pitchFamily="18" charset="0"/>
              </a:rPr>
              <a:t>so far, and the angular dimension represents the progress made so far in the current phase</a:t>
            </a:r>
            <a:r>
              <a:rPr lang="en-US" dirty="0" smtClean="0">
                <a:solidFill>
                  <a:schemeClr val="tx1"/>
                </a:solidFill>
                <a:latin typeface="Times New Roman" pitchFamily="18" charset="0"/>
                <a:cs typeface="Times New Roman" pitchFamily="18" charset="0"/>
              </a:rPr>
              <a:t>.</a:t>
            </a:r>
          </a:p>
          <a:p>
            <a:pPr algn="just"/>
            <a:r>
              <a:rPr lang="en-US" b="1" dirty="0">
                <a:solidFill>
                  <a:schemeClr val="tx1"/>
                </a:solidFill>
                <a:latin typeface="Times New Roman" pitchFamily="18" charset="0"/>
                <a:cs typeface="Times New Roman" pitchFamily="18" charset="0"/>
              </a:rPr>
              <a:t>The below diagram shows the different phases of the Spiral Model: –</a:t>
            </a:r>
            <a:r>
              <a:rPr lang="en-US" dirty="0">
                <a:solidFill>
                  <a:schemeClr val="tx1"/>
                </a:solidFill>
                <a:latin typeface="Times New Roman" pitchFamily="18" charset="0"/>
                <a:cs typeface="Times New Roman" pitchFamily="18" charset="0"/>
              </a:rPr>
              <a:t>  </a:t>
            </a:r>
          </a:p>
        </p:txBody>
      </p:sp>
      <p:pic>
        <p:nvPicPr>
          <p:cNvPr id="1026"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1" y="2819400"/>
            <a:ext cx="4952999" cy="3867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7855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0"/>
            <a:ext cx="7772400" cy="1470025"/>
          </a:xfrm>
        </p:spPr>
        <p:txBody>
          <a:bodyPr/>
          <a:lstStyle/>
          <a:p>
            <a:r>
              <a:rPr lang="en-US" b="1" dirty="0">
                <a:solidFill>
                  <a:srgbClr val="FF0000"/>
                </a:solidFill>
              </a:rPr>
              <a:t>Spiral Model</a:t>
            </a:r>
            <a:br>
              <a:rPr lang="en-US" b="1" dirty="0">
                <a:solidFill>
                  <a:srgbClr val="FF0000"/>
                </a:solidFill>
              </a:rPr>
            </a:br>
            <a:endParaRPr lang="en-US" dirty="0">
              <a:solidFill>
                <a:srgbClr val="FF0000"/>
              </a:solidFill>
            </a:endParaRPr>
          </a:p>
        </p:txBody>
      </p:sp>
      <p:sp>
        <p:nvSpPr>
          <p:cNvPr id="3" name="Subtitle 2"/>
          <p:cNvSpPr>
            <a:spLocks noGrp="1"/>
          </p:cNvSpPr>
          <p:nvPr>
            <p:ph type="subTitle" idx="1"/>
          </p:nvPr>
        </p:nvSpPr>
        <p:spPr>
          <a:xfrm>
            <a:off x="457200" y="1905000"/>
            <a:ext cx="8153400" cy="4572000"/>
          </a:xfrm>
        </p:spPr>
        <p:txBody>
          <a:bodyPr>
            <a:normAutofit fontScale="92500" lnSpcReduction="10000"/>
          </a:bodyPr>
          <a:lstStyle/>
          <a:p>
            <a:pPr algn="just" fontAlgn="base"/>
            <a:r>
              <a:rPr lang="en-US" dirty="0" smtClean="0">
                <a:solidFill>
                  <a:schemeClr val="tx1"/>
                </a:solidFill>
                <a:latin typeface="Times New Roman" pitchFamily="18" charset="0"/>
                <a:cs typeface="Times New Roman" pitchFamily="18" charset="0"/>
              </a:rPr>
              <a:t>	Each </a:t>
            </a:r>
            <a:r>
              <a:rPr lang="en-US" dirty="0">
                <a:solidFill>
                  <a:schemeClr val="tx1"/>
                </a:solidFill>
                <a:latin typeface="Times New Roman" pitchFamily="18" charset="0"/>
                <a:cs typeface="Times New Roman" pitchFamily="18" charset="0"/>
              </a:rPr>
              <a:t>phase of the Spiral Model is divided into four quadrants as shown in the above figure. The functions of these four quadrants are discussed below- </a:t>
            </a:r>
          </a:p>
          <a:p>
            <a:pPr algn="just" fontAlgn="base"/>
            <a:r>
              <a:rPr lang="en-US" b="1" dirty="0" smtClean="0">
                <a:solidFill>
                  <a:schemeClr val="tx1"/>
                </a:solidFill>
                <a:latin typeface="Times New Roman" pitchFamily="18" charset="0"/>
                <a:cs typeface="Times New Roman" pitchFamily="18" charset="0"/>
              </a:rPr>
              <a:t>1. Objectives </a:t>
            </a:r>
            <a:r>
              <a:rPr lang="en-US" b="1" dirty="0">
                <a:solidFill>
                  <a:schemeClr val="tx1"/>
                </a:solidFill>
                <a:latin typeface="Times New Roman" pitchFamily="18" charset="0"/>
                <a:cs typeface="Times New Roman" pitchFamily="18" charset="0"/>
              </a:rPr>
              <a:t>determination and identify alternative solutions:</a:t>
            </a:r>
            <a:r>
              <a:rPr lang="en-US" dirty="0">
                <a:solidFill>
                  <a:schemeClr val="tx1"/>
                </a:solidFill>
                <a:latin typeface="Times New Roman" pitchFamily="18" charset="0"/>
                <a:cs typeface="Times New Roman" pitchFamily="18" charset="0"/>
              </a:rPr>
              <a:t> Requirements are gathered from the customers and the objectives are identified, elaborated, and analyzed at the start of every phase. Then alternative solutions possible for the phase are proposed in this quadrant.</a:t>
            </a:r>
          </a:p>
        </p:txBody>
      </p:sp>
    </p:spTree>
    <p:extLst>
      <p:ext uri="{BB962C8B-B14F-4D97-AF65-F5344CB8AC3E}">
        <p14:creationId xmlns:p14="http://schemas.microsoft.com/office/powerpoint/2010/main" val="1636838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0"/>
            <a:ext cx="7772400" cy="1470025"/>
          </a:xfrm>
        </p:spPr>
        <p:txBody>
          <a:bodyPr/>
          <a:lstStyle/>
          <a:p>
            <a:r>
              <a:rPr lang="en-US" b="1" dirty="0">
                <a:solidFill>
                  <a:srgbClr val="FF0000"/>
                </a:solidFill>
              </a:rPr>
              <a:t>Spiral Model</a:t>
            </a:r>
            <a:br>
              <a:rPr lang="en-US" b="1" dirty="0">
                <a:solidFill>
                  <a:srgbClr val="FF0000"/>
                </a:solidFill>
              </a:rPr>
            </a:br>
            <a:endParaRPr lang="en-US" dirty="0">
              <a:solidFill>
                <a:srgbClr val="FF0000"/>
              </a:solidFill>
            </a:endParaRPr>
          </a:p>
        </p:txBody>
      </p:sp>
      <p:sp>
        <p:nvSpPr>
          <p:cNvPr id="3" name="Subtitle 2"/>
          <p:cNvSpPr>
            <a:spLocks noGrp="1"/>
          </p:cNvSpPr>
          <p:nvPr>
            <p:ph type="subTitle" idx="1"/>
          </p:nvPr>
        </p:nvSpPr>
        <p:spPr>
          <a:xfrm>
            <a:off x="457200" y="1905000"/>
            <a:ext cx="8153400" cy="4572000"/>
          </a:xfrm>
        </p:spPr>
        <p:txBody>
          <a:bodyPr>
            <a:normAutofit/>
          </a:bodyPr>
          <a:lstStyle/>
          <a:p>
            <a:pPr algn="just" fontAlgn="base"/>
            <a:r>
              <a:rPr lang="en-US" dirty="0" smtClean="0">
                <a:solidFill>
                  <a:schemeClr val="tx1"/>
                </a:solidFill>
                <a:latin typeface="Times New Roman" pitchFamily="18" charset="0"/>
                <a:cs typeface="Times New Roman" pitchFamily="18" charset="0"/>
              </a:rPr>
              <a:t>2. </a:t>
            </a:r>
            <a:r>
              <a:rPr lang="en-US" b="1" dirty="0" smtClean="0">
                <a:solidFill>
                  <a:schemeClr val="tx1"/>
                </a:solidFill>
                <a:latin typeface="Times New Roman" pitchFamily="18" charset="0"/>
                <a:cs typeface="Times New Roman" pitchFamily="18" charset="0"/>
              </a:rPr>
              <a:t>Identify </a:t>
            </a:r>
            <a:r>
              <a:rPr lang="en-US" b="1" dirty="0">
                <a:solidFill>
                  <a:schemeClr val="tx1"/>
                </a:solidFill>
                <a:latin typeface="Times New Roman" pitchFamily="18" charset="0"/>
                <a:cs typeface="Times New Roman" pitchFamily="18" charset="0"/>
              </a:rPr>
              <a:t>and resolve Risks:</a:t>
            </a:r>
            <a:r>
              <a:rPr lang="en-US" dirty="0">
                <a:solidFill>
                  <a:schemeClr val="tx1"/>
                </a:solidFill>
                <a:latin typeface="Times New Roman" pitchFamily="18" charset="0"/>
                <a:cs typeface="Times New Roman" pitchFamily="18" charset="0"/>
              </a:rPr>
              <a:t> During the second quadrant, all the possible solutions are evaluated to select the best possible solution. Then the risks associated with that solution are identified and the risks are resolved using the best possible strategy. At the end of this quadrant, the Prototype is built for the best possible solution.</a:t>
            </a:r>
          </a:p>
        </p:txBody>
      </p:sp>
    </p:spTree>
    <p:extLst>
      <p:ext uri="{BB962C8B-B14F-4D97-AF65-F5344CB8AC3E}">
        <p14:creationId xmlns:p14="http://schemas.microsoft.com/office/powerpoint/2010/main" val="4102595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0"/>
            <a:ext cx="7772400" cy="1470025"/>
          </a:xfrm>
        </p:spPr>
        <p:txBody>
          <a:bodyPr/>
          <a:lstStyle/>
          <a:p>
            <a:r>
              <a:rPr lang="en-US" b="1" dirty="0">
                <a:solidFill>
                  <a:srgbClr val="FF0000"/>
                </a:solidFill>
              </a:rPr>
              <a:t>Spiral Model</a:t>
            </a:r>
            <a:br>
              <a:rPr lang="en-US" b="1" dirty="0">
                <a:solidFill>
                  <a:srgbClr val="FF0000"/>
                </a:solidFill>
              </a:rPr>
            </a:br>
            <a:endParaRPr lang="en-US" dirty="0">
              <a:solidFill>
                <a:srgbClr val="FF0000"/>
              </a:solidFill>
            </a:endParaRPr>
          </a:p>
        </p:txBody>
      </p:sp>
      <p:sp>
        <p:nvSpPr>
          <p:cNvPr id="3" name="Subtitle 2"/>
          <p:cNvSpPr>
            <a:spLocks noGrp="1"/>
          </p:cNvSpPr>
          <p:nvPr>
            <p:ph type="subTitle" idx="1"/>
          </p:nvPr>
        </p:nvSpPr>
        <p:spPr>
          <a:xfrm>
            <a:off x="457200" y="1905000"/>
            <a:ext cx="8153400" cy="4572000"/>
          </a:xfrm>
        </p:spPr>
        <p:txBody>
          <a:bodyPr>
            <a:normAutofit lnSpcReduction="10000"/>
          </a:bodyPr>
          <a:lstStyle/>
          <a:p>
            <a:pPr algn="just" fontAlgn="base"/>
            <a:r>
              <a:rPr lang="en-US" b="1" dirty="0" smtClean="0">
                <a:solidFill>
                  <a:schemeClr val="tx1"/>
                </a:solidFill>
                <a:latin typeface="Times New Roman" pitchFamily="18" charset="0"/>
                <a:cs typeface="Times New Roman" pitchFamily="18" charset="0"/>
              </a:rPr>
              <a:t>3. Develop </a:t>
            </a:r>
            <a:r>
              <a:rPr lang="en-US" b="1" dirty="0">
                <a:solidFill>
                  <a:schemeClr val="tx1"/>
                </a:solidFill>
                <a:latin typeface="Times New Roman" pitchFamily="18" charset="0"/>
                <a:cs typeface="Times New Roman" pitchFamily="18" charset="0"/>
              </a:rPr>
              <a:t>next version of the Product:</a:t>
            </a:r>
            <a:r>
              <a:rPr lang="en-US" dirty="0">
                <a:solidFill>
                  <a:schemeClr val="tx1"/>
                </a:solidFill>
                <a:latin typeface="Times New Roman" pitchFamily="18" charset="0"/>
                <a:cs typeface="Times New Roman" pitchFamily="18" charset="0"/>
              </a:rPr>
              <a:t> During the third quadrant, the identified features are developed and verified through testing. At the end of the third quadrant, the next version of the software is available.</a:t>
            </a:r>
          </a:p>
          <a:p>
            <a:pPr algn="just" fontAlgn="base"/>
            <a:r>
              <a:rPr lang="en-US" b="1" dirty="0" smtClean="0">
                <a:solidFill>
                  <a:schemeClr val="tx1"/>
                </a:solidFill>
                <a:latin typeface="Times New Roman" pitchFamily="18" charset="0"/>
                <a:cs typeface="Times New Roman" pitchFamily="18" charset="0"/>
              </a:rPr>
              <a:t>4. Review </a:t>
            </a:r>
            <a:r>
              <a:rPr lang="en-US" b="1" dirty="0">
                <a:solidFill>
                  <a:schemeClr val="tx1"/>
                </a:solidFill>
                <a:latin typeface="Times New Roman" pitchFamily="18" charset="0"/>
                <a:cs typeface="Times New Roman" pitchFamily="18" charset="0"/>
              </a:rPr>
              <a:t>and plan for the next Phase:</a:t>
            </a:r>
            <a:r>
              <a:rPr lang="en-US" dirty="0">
                <a:solidFill>
                  <a:schemeClr val="tx1"/>
                </a:solidFill>
                <a:latin typeface="Times New Roman" pitchFamily="18" charset="0"/>
                <a:cs typeface="Times New Roman" pitchFamily="18" charset="0"/>
              </a:rPr>
              <a:t> In the fourth quadrant, the Customers evaluate the so far developed version of the software. In the end, planning for the next phase is started.</a:t>
            </a:r>
          </a:p>
          <a:p>
            <a:pPr algn="just" fontAlgn="base"/>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439374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0"/>
            <a:ext cx="7772400" cy="1470025"/>
          </a:xfrm>
        </p:spPr>
        <p:txBody>
          <a:bodyPr/>
          <a:lstStyle/>
          <a:p>
            <a:r>
              <a:rPr lang="en-US" b="1" dirty="0" smtClean="0">
                <a:solidFill>
                  <a:srgbClr val="C00000"/>
                </a:solidFill>
              </a:rPr>
              <a:t>Advantages of Spiral Model</a:t>
            </a:r>
            <a:r>
              <a:rPr lang="en-US" dirty="0" smtClean="0">
                <a:solidFill>
                  <a:srgbClr val="C00000"/>
                </a:solidFill>
              </a:rPr>
              <a:t> </a:t>
            </a:r>
            <a:r>
              <a:rPr lang="en-US" b="1" dirty="0">
                <a:solidFill>
                  <a:srgbClr val="C00000"/>
                </a:solidFill>
              </a:rPr>
              <a:t/>
            </a:r>
            <a:br>
              <a:rPr lang="en-US" b="1"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457200" y="1981200"/>
            <a:ext cx="8153400" cy="4876800"/>
          </a:xfrm>
        </p:spPr>
        <p:txBody>
          <a:bodyPr>
            <a:normAutofit fontScale="77500" lnSpcReduction="20000"/>
          </a:bodyPr>
          <a:lstStyle/>
          <a:p>
            <a:pPr marL="457200" indent="-457200" algn="just" fontAlgn="base">
              <a:buFont typeface="Arial" pitchFamily="34" charset="0"/>
              <a:buChar char="•"/>
            </a:pPr>
            <a:r>
              <a:rPr lang="en-US" b="1" dirty="0" smtClean="0">
                <a:solidFill>
                  <a:schemeClr val="tx1"/>
                </a:solidFill>
                <a:latin typeface="Times New Roman" pitchFamily="18" charset="0"/>
                <a:cs typeface="Times New Roman" pitchFamily="18" charset="0"/>
              </a:rPr>
              <a:t>Risk </a:t>
            </a:r>
            <a:r>
              <a:rPr lang="en-US" b="1" dirty="0">
                <a:solidFill>
                  <a:schemeClr val="tx1"/>
                </a:solidFill>
                <a:latin typeface="Times New Roman" pitchFamily="18" charset="0"/>
                <a:cs typeface="Times New Roman" pitchFamily="18" charset="0"/>
              </a:rPr>
              <a:t>Handling:</a:t>
            </a:r>
            <a:r>
              <a:rPr lang="en-US" dirty="0">
                <a:solidFill>
                  <a:schemeClr val="tx1"/>
                </a:solidFill>
                <a:latin typeface="Times New Roman" pitchFamily="18" charset="0"/>
                <a:cs typeface="Times New Roman" pitchFamily="18" charset="0"/>
              </a:rPr>
              <a:t> The projects with many unknown risks that occur as the development proceeds, in that case, Spiral Model is the best development model to follow due to the risk analysis and risk handling at every phase</a:t>
            </a:r>
            <a:r>
              <a:rPr lang="en-US" dirty="0" smtClean="0">
                <a:solidFill>
                  <a:schemeClr val="tx1"/>
                </a:solidFill>
                <a:latin typeface="Times New Roman" pitchFamily="18" charset="0"/>
                <a:cs typeface="Times New Roman" pitchFamily="18" charset="0"/>
              </a:rPr>
              <a:t>.</a:t>
            </a:r>
          </a:p>
          <a:p>
            <a:pPr marL="457200" indent="-457200" algn="just" fontAlgn="base">
              <a:buFont typeface="Arial" pitchFamily="34" charset="0"/>
              <a:buChar char="•"/>
            </a:pPr>
            <a:r>
              <a:rPr lang="en-US" b="1" dirty="0" smtClean="0">
                <a:solidFill>
                  <a:schemeClr val="tx1"/>
                </a:solidFill>
                <a:latin typeface="Times New Roman" pitchFamily="18" charset="0"/>
                <a:cs typeface="Times New Roman" pitchFamily="18" charset="0"/>
              </a:rPr>
              <a:t>Good </a:t>
            </a:r>
            <a:r>
              <a:rPr lang="en-US" b="1" dirty="0">
                <a:solidFill>
                  <a:schemeClr val="tx1"/>
                </a:solidFill>
                <a:latin typeface="Times New Roman" pitchFamily="18" charset="0"/>
                <a:cs typeface="Times New Roman" pitchFamily="18" charset="0"/>
              </a:rPr>
              <a:t>for large projects:</a:t>
            </a:r>
            <a:r>
              <a:rPr lang="en-US" dirty="0">
                <a:solidFill>
                  <a:schemeClr val="tx1"/>
                </a:solidFill>
                <a:latin typeface="Times New Roman" pitchFamily="18" charset="0"/>
                <a:cs typeface="Times New Roman" pitchFamily="18" charset="0"/>
              </a:rPr>
              <a:t> It is recommended to use the Spiral Model in large and complex projects</a:t>
            </a:r>
            <a:r>
              <a:rPr lang="en-US" dirty="0" smtClean="0">
                <a:solidFill>
                  <a:schemeClr val="tx1"/>
                </a:solidFill>
                <a:latin typeface="Times New Roman" pitchFamily="18" charset="0"/>
                <a:cs typeface="Times New Roman" pitchFamily="18" charset="0"/>
              </a:rPr>
              <a:t>.</a:t>
            </a:r>
          </a:p>
          <a:p>
            <a:pPr marL="457200" indent="-457200" algn="just" fontAlgn="base">
              <a:buFont typeface="Arial" pitchFamily="34" charset="0"/>
              <a:buChar char="•"/>
            </a:pPr>
            <a:r>
              <a:rPr lang="en-US" b="1" dirty="0" smtClean="0">
                <a:solidFill>
                  <a:schemeClr val="tx1"/>
                </a:solidFill>
                <a:latin typeface="Times New Roman" pitchFamily="18" charset="0"/>
                <a:cs typeface="Times New Roman" pitchFamily="18" charset="0"/>
              </a:rPr>
              <a:t>Flexibility </a:t>
            </a:r>
            <a:r>
              <a:rPr lang="en-US" b="1" dirty="0">
                <a:solidFill>
                  <a:schemeClr val="tx1"/>
                </a:solidFill>
                <a:latin typeface="Times New Roman" pitchFamily="18" charset="0"/>
                <a:cs typeface="Times New Roman" pitchFamily="18" charset="0"/>
              </a:rPr>
              <a:t>in Requirements:</a:t>
            </a:r>
            <a:r>
              <a:rPr lang="en-US" dirty="0">
                <a:solidFill>
                  <a:schemeClr val="tx1"/>
                </a:solidFill>
                <a:latin typeface="Times New Roman" pitchFamily="18" charset="0"/>
                <a:cs typeface="Times New Roman" pitchFamily="18" charset="0"/>
              </a:rPr>
              <a:t> Change requests in the Requirements at later phase can be incorporated accurately by using this model</a:t>
            </a:r>
            <a:r>
              <a:rPr lang="en-US" dirty="0" smtClean="0">
                <a:solidFill>
                  <a:schemeClr val="tx1"/>
                </a:solidFill>
                <a:latin typeface="Times New Roman" pitchFamily="18" charset="0"/>
                <a:cs typeface="Times New Roman" pitchFamily="18" charset="0"/>
              </a:rPr>
              <a:t>.</a:t>
            </a:r>
          </a:p>
          <a:p>
            <a:pPr marL="457200" indent="-457200" algn="just" fontAlgn="base">
              <a:buFont typeface="Arial" pitchFamily="34" charset="0"/>
              <a:buChar char="•"/>
            </a:pPr>
            <a:r>
              <a:rPr lang="en-US" b="1" dirty="0" smtClean="0">
                <a:solidFill>
                  <a:schemeClr val="tx1"/>
                </a:solidFill>
                <a:latin typeface="Times New Roman" pitchFamily="18" charset="0"/>
                <a:cs typeface="Times New Roman" pitchFamily="18" charset="0"/>
              </a:rPr>
              <a:t>Customer </a:t>
            </a:r>
            <a:r>
              <a:rPr lang="en-US" b="1" dirty="0">
                <a:solidFill>
                  <a:schemeClr val="tx1"/>
                </a:solidFill>
                <a:latin typeface="Times New Roman" pitchFamily="18" charset="0"/>
                <a:cs typeface="Times New Roman" pitchFamily="18" charset="0"/>
              </a:rPr>
              <a:t>Satisfaction:</a:t>
            </a:r>
            <a:r>
              <a:rPr lang="en-US" dirty="0">
                <a:solidFill>
                  <a:schemeClr val="tx1"/>
                </a:solidFill>
                <a:latin typeface="Times New Roman" pitchFamily="18" charset="0"/>
                <a:cs typeface="Times New Roman" pitchFamily="18" charset="0"/>
              </a:rPr>
              <a:t> Customer can see the development of the product at the early phase of the software development and thus, they habituated with the system by using it before completion of the total product.</a:t>
            </a:r>
          </a:p>
          <a:p>
            <a:pPr algn="just" fontAlgn="base"/>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141172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0"/>
            <a:ext cx="7772400" cy="1470025"/>
          </a:xfrm>
        </p:spPr>
        <p:txBody>
          <a:bodyPr/>
          <a:lstStyle/>
          <a:p>
            <a:r>
              <a:rPr lang="en-US" b="1" dirty="0">
                <a:solidFill>
                  <a:srgbClr val="C00000"/>
                </a:solidFill>
              </a:rPr>
              <a:t>Disadvantages of Spiral </a:t>
            </a:r>
            <a:r>
              <a:rPr lang="en-US" b="1" dirty="0" smtClean="0">
                <a:solidFill>
                  <a:srgbClr val="C00000"/>
                </a:solidFill>
              </a:rPr>
              <a:t>Model</a:t>
            </a:r>
            <a:r>
              <a:rPr lang="en-US" b="1" dirty="0">
                <a:solidFill>
                  <a:srgbClr val="C00000"/>
                </a:solidFill>
              </a:rPr>
              <a:t/>
            </a:r>
            <a:br>
              <a:rPr lang="en-US" b="1"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457200" y="1981200"/>
            <a:ext cx="8153400" cy="5181600"/>
          </a:xfrm>
        </p:spPr>
        <p:txBody>
          <a:bodyPr>
            <a:normAutofit fontScale="85000" lnSpcReduction="20000"/>
          </a:bodyPr>
          <a:lstStyle/>
          <a:p>
            <a:pPr marL="457200" indent="-457200" algn="just" fontAlgn="base">
              <a:buFont typeface="Arial" pitchFamily="34" charset="0"/>
              <a:buChar char="•"/>
            </a:pPr>
            <a:r>
              <a:rPr lang="en-US" b="1" dirty="0">
                <a:solidFill>
                  <a:schemeClr val="tx1"/>
                </a:solidFill>
                <a:latin typeface="Times New Roman" pitchFamily="18" charset="0"/>
                <a:cs typeface="Times New Roman" pitchFamily="18" charset="0"/>
              </a:rPr>
              <a:t>Complex:</a:t>
            </a:r>
            <a:r>
              <a:rPr lang="en-US" dirty="0">
                <a:solidFill>
                  <a:schemeClr val="tx1"/>
                </a:solidFill>
                <a:latin typeface="Times New Roman" pitchFamily="18" charset="0"/>
                <a:cs typeface="Times New Roman" pitchFamily="18" charset="0"/>
              </a:rPr>
              <a:t> The Spiral Model is much more complex than other SDLC models</a:t>
            </a:r>
            <a:r>
              <a:rPr lang="en-US" dirty="0" smtClean="0">
                <a:solidFill>
                  <a:schemeClr val="tx1"/>
                </a:solidFill>
                <a:latin typeface="Times New Roman" pitchFamily="18" charset="0"/>
                <a:cs typeface="Times New Roman" pitchFamily="18" charset="0"/>
              </a:rPr>
              <a:t>.</a:t>
            </a:r>
          </a:p>
          <a:p>
            <a:pPr marL="457200" indent="-457200" algn="just" fontAlgn="base">
              <a:buFont typeface="Arial" pitchFamily="34" charset="0"/>
              <a:buChar char="•"/>
            </a:pPr>
            <a:r>
              <a:rPr lang="en-US" b="1" dirty="0" smtClean="0">
                <a:solidFill>
                  <a:schemeClr val="tx1"/>
                </a:solidFill>
                <a:latin typeface="Times New Roman" pitchFamily="18" charset="0"/>
                <a:cs typeface="Times New Roman" pitchFamily="18" charset="0"/>
              </a:rPr>
              <a:t>Expensive</a:t>
            </a:r>
            <a:r>
              <a:rPr lang="en-US" b="1" dirty="0">
                <a:solidFill>
                  <a:schemeClr val="tx1"/>
                </a:solidFill>
                <a:latin typeface="Times New Roman" pitchFamily="18" charset="0"/>
                <a:cs typeface="Times New Roman" pitchFamily="18" charset="0"/>
              </a:rPr>
              <a:t>:</a:t>
            </a:r>
            <a:r>
              <a:rPr lang="en-US" dirty="0">
                <a:solidFill>
                  <a:schemeClr val="tx1"/>
                </a:solidFill>
                <a:latin typeface="Times New Roman" pitchFamily="18" charset="0"/>
                <a:cs typeface="Times New Roman" pitchFamily="18" charset="0"/>
              </a:rPr>
              <a:t> Spiral Model is not suitable for small projects as it is expensive</a:t>
            </a:r>
            <a:r>
              <a:rPr lang="en-US" dirty="0" smtClean="0">
                <a:solidFill>
                  <a:schemeClr val="tx1"/>
                </a:solidFill>
                <a:latin typeface="Times New Roman" pitchFamily="18" charset="0"/>
                <a:cs typeface="Times New Roman" pitchFamily="18" charset="0"/>
              </a:rPr>
              <a:t>.</a:t>
            </a:r>
          </a:p>
          <a:p>
            <a:pPr marL="457200" indent="-457200" algn="just" fontAlgn="base">
              <a:buFont typeface="Arial" pitchFamily="34" charset="0"/>
              <a:buChar char="•"/>
            </a:pPr>
            <a:r>
              <a:rPr lang="en-US" b="1" dirty="0" smtClean="0">
                <a:solidFill>
                  <a:schemeClr val="tx1"/>
                </a:solidFill>
                <a:latin typeface="Times New Roman" pitchFamily="18" charset="0"/>
                <a:cs typeface="Times New Roman" pitchFamily="18" charset="0"/>
              </a:rPr>
              <a:t>Too </a:t>
            </a:r>
            <a:r>
              <a:rPr lang="en-US" b="1" dirty="0">
                <a:solidFill>
                  <a:schemeClr val="tx1"/>
                </a:solidFill>
                <a:latin typeface="Times New Roman" pitchFamily="18" charset="0"/>
                <a:cs typeface="Times New Roman" pitchFamily="18" charset="0"/>
              </a:rPr>
              <a:t>much dependability on Risk Analysis:</a:t>
            </a:r>
            <a:r>
              <a:rPr lang="en-US" dirty="0">
                <a:solidFill>
                  <a:schemeClr val="tx1"/>
                </a:solidFill>
                <a:latin typeface="Times New Roman" pitchFamily="18" charset="0"/>
                <a:cs typeface="Times New Roman" pitchFamily="18" charset="0"/>
              </a:rPr>
              <a:t> The successful completion of the project is very much dependent on Risk Analysis. Without very highly experienced experts, it is going to be a failure to develop a project using this model</a:t>
            </a:r>
            <a:r>
              <a:rPr lang="en-US" dirty="0" smtClean="0">
                <a:solidFill>
                  <a:schemeClr val="tx1"/>
                </a:solidFill>
                <a:latin typeface="Times New Roman" pitchFamily="18" charset="0"/>
                <a:cs typeface="Times New Roman" pitchFamily="18" charset="0"/>
              </a:rPr>
              <a:t>.</a:t>
            </a:r>
          </a:p>
          <a:p>
            <a:pPr marL="457200" indent="-457200" algn="just" fontAlgn="base">
              <a:buFont typeface="Arial" pitchFamily="34" charset="0"/>
              <a:buChar char="•"/>
            </a:pPr>
            <a:r>
              <a:rPr lang="en-US" dirty="0">
                <a:solidFill>
                  <a:schemeClr val="tx1"/>
                </a:solidFill>
                <a:latin typeface="Times New Roman" pitchFamily="18" charset="0"/>
                <a:cs typeface="Times New Roman" pitchFamily="18" charset="0"/>
              </a:rPr>
              <a:t> </a:t>
            </a:r>
            <a:r>
              <a:rPr lang="en-US" b="1" dirty="0" smtClean="0">
                <a:solidFill>
                  <a:schemeClr val="tx1"/>
                </a:solidFill>
                <a:latin typeface="Times New Roman" pitchFamily="18" charset="0"/>
                <a:cs typeface="Times New Roman" pitchFamily="18" charset="0"/>
              </a:rPr>
              <a:t>Difficulty </a:t>
            </a:r>
            <a:r>
              <a:rPr lang="en-US" b="1" dirty="0">
                <a:solidFill>
                  <a:schemeClr val="tx1"/>
                </a:solidFill>
                <a:latin typeface="Times New Roman" pitchFamily="18" charset="0"/>
                <a:cs typeface="Times New Roman" pitchFamily="18" charset="0"/>
              </a:rPr>
              <a:t>in time management:</a:t>
            </a:r>
            <a:r>
              <a:rPr lang="en-US" dirty="0">
                <a:solidFill>
                  <a:schemeClr val="tx1"/>
                </a:solidFill>
                <a:latin typeface="Times New Roman" pitchFamily="18" charset="0"/>
                <a:cs typeface="Times New Roman" pitchFamily="18" charset="0"/>
              </a:rPr>
              <a:t> As the number of phases is unknown at the start of the project, so time estimation is very difficult.</a:t>
            </a:r>
          </a:p>
          <a:p>
            <a:pPr algn="just"/>
            <a:r>
              <a:rPr lang="en-US" dirty="0">
                <a:solidFill>
                  <a:schemeClr val="tx1"/>
                </a:solidFill>
                <a:latin typeface="Times New Roman" pitchFamily="18" charset="0"/>
                <a:cs typeface="Times New Roman" pitchFamily="18" charset="0"/>
              </a:rPr>
              <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0661320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87</Words>
  <Application>Microsoft Office PowerPoint</Application>
  <PresentationFormat>On-screen Show (4:3)</PresentationFormat>
  <Paragraphs>24</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Spiral Model </vt:lpstr>
      <vt:lpstr>Spiral Model </vt:lpstr>
      <vt:lpstr>Spiral Model </vt:lpstr>
      <vt:lpstr>Spiral Model </vt:lpstr>
      <vt:lpstr>Spiral Model </vt:lpstr>
      <vt:lpstr>Advantages of Spiral Model  </vt:lpstr>
      <vt:lpstr>Disadvantages of Spiral Model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Spiral Model </dc:title>
  <dc:creator>tara</dc:creator>
  <cp:lastModifiedBy>tara</cp:lastModifiedBy>
  <cp:revision>2</cp:revision>
  <dcterms:created xsi:type="dcterms:W3CDTF">2022-09-12T07:34:09Z</dcterms:created>
  <dcterms:modified xsi:type="dcterms:W3CDTF">2022-09-12T07:44:07Z</dcterms:modified>
</cp:coreProperties>
</file>