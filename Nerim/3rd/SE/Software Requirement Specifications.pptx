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0" d="100"/>
          <a:sy n="70" d="100"/>
        </p:scale>
        <p:origin x="-1386"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27ADCD0-3149-4244-8F32-C70912FD99D4}" type="datetimeFigureOut">
              <a:rPr lang="en-US" smtClean="0"/>
              <a:t>10/11/2022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0CAADE-E67C-408A-B1E4-771CD53A1A5C}" type="slidenum">
              <a:rPr lang="en-US" smtClean="0"/>
              <a:t>‹#›</a:t>
            </a:fld>
            <a:endParaRPr lang="en-US"/>
          </a:p>
        </p:txBody>
      </p:sp>
    </p:spTree>
    <p:extLst>
      <p:ext uri="{BB962C8B-B14F-4D97-AF65-F5344CB8AC3E}">
        <p14:creationId xmlns:p14="http://schemas.microsoft.com/office/powerpoint/2010/main" val="28746475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27ADCD0-3149-4244-8F32-C70912FD99D4}" type="datetimeFigureOut">
              <a:rPr lang="en-US" smtClean="0"/>
              <a:t>10/11/2022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0CAADE-E67C-408A-B1E4-771CD53A1A5C}" type="slidenum">
              <a:rPr lang="en-US" smtClean="0"/>
              <a:t>‹#›</a:t>
            </a:fld>
            <a:endParaRPr lang="en-US"/>
          </a:p>
        </p:txBody>
      </p:sp>
    </p:spTree>
    <p:extLst>
      <p:ext uri="{BB962C8B-B14F-4D97-AF65-F5344CB8AC3E}">
        <p14:creationId xmlns:p14="http://schemas.microsoft.com/office/powerpoint/2010/main" val="13525695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27ADCD0-3149-4244-8F32-C70912FD99D4}" type="datetimeFigureOut">
              <a:rPr lang="en-US" smtClean="0"/>
              <a:t>10/11/2022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0CAADE-E67C-408A-B1E4-771CD53A1A5C}" type="slidenum">
              <a:rPr lang="en-US" smtClean="0"/>
              <a:t>‹#›</a:t>
            </a:fld>
            <a:endParaRPr lang="en-US"/>
          </a:p>
        </p:txBody>
      </p:sp>
    </p:spTree>
    <p:extLst>
      <p:ext uri="{BB962C8B-B14F-4D97-AF65-F5344CB8AC3E}">
        <p14:creationId xmlns:p14="http://schemas.microsoft.com/office/powerpoint/2010/main" val="30577053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27ADCD0-3149-4244-8F32-C70912FD99D4}" type="datetimeFigureOut">
              <a:rPr lang="en-US" smtClean="0"/>
              <a:t>10/11/2022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0CAADE-E67C-408A-B1E4-771CD53A1A5C}" type="slidenum">
              <a:rPr lang="en-US" smtClean="0"/>
              <a:t>‹#›</a:t>
            </a:fld>
            <a:endParaRPr lang="en-US"/>
          </a:p>
        </p:txBody>
      </p:sp>
    </p:spTree>
    <p:extLst>
      <p:ext uri="{BB962C8B-B14F-4D97-AF65-F5344CB8AC3E}">
        <p14:creationId xmlns:p14="http://schemas.microsoft.com/office/powerpoint/2010/main" val="15195862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27ADCD0-3149-4244-8F32-C70912FD99D4}" type="datetimeFigureOut">
              <a:rPr lang="en-US" smtClean="0"/>
              <a:t>10/11/2022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C0CAADE-E67C-408A-B1E4-771CD53A1A5C}" type="slidenum">
              <a:rPr lang="en-US" smtClean="0"/>
              <a:t>‹#›</a:t>
            </a:fld>
            <a:endParaRPr lang="en-US"/>
          </a:p>
        </p:txBody>
      </p:sp>
    </p:spTree>
    <p:extLst>
      <p:ext uri="{BB962C8B-B14F-4D97-AF65-F5344CB8AC3E}">
        <p14:creationId xmlns:p14="http://schemas.microsoft.com/office/powerpoint/2010/main" val="410339535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27ADCD0-3149-4244-8F32-C70912FD99D4}" type="datetimeFigureOut">
              <a:rPr lang="en-US" smtClean="0"/>
              <a:t>10/11/2022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C0CAADE-E67C-408A-B1E4-771CD53A1A5C}" type="slidenum">
              <a:rPr lang="en-US" smtClean="0"/>
              <a:t>‹#›</a:t>
            </a:fld>
            <a:endParaRPr lang="en-US"/>
          </a:p>
        </p:txBody>
      </p:sp>
    </p:spTree>
    <p:extLst>
      <p:ext uri="{BB962C8B-B14F-4D97-AF65-F5344CB8AC3E}">
        <p14:creationId xmlns:p14="http://schemas.microsoft.com/office/powerpoint/2010/main" val="1088377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27ADCD0-3149-4244-8F32-C70912FD99D4}" type="datetimeFigureOut">
              <a:rPr lang="en-US" smtClean="0"/>
              <a:t>10/11/2022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C0CAADE-E67C-408A-B1E4-771CD53A1A5C}" type="slidenum">
              <a:rPr lang="en-US" smtClean="0"/>
              <a:t>‹#›</a:t>
            </a:fld>
            <a:endParaRPr lang="en-US"/>
          </a:p>
        </p:txBody>
      </p:sp>
    </p:spTree>
    <p:extLst>
      <p:ext uri="{BB962C8B-B14F-4D97-AF65-F5344CB8AC3E}">
        <p14:creationId xmlns:p14="http://schemas.microsoft.com/office/powerpoint/2010/main" val="42496300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27ADCD0-3149-4244-8F32-C70912FD99D4}" type="datetimeFigureOut">
              <a:rPr lang="en-US" smtClean="0"/>
              <a:t>10/11/2022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0CAADE-E67C-408A-B1E4-771CD53A1A5C}" type="slidenum">
              <a:rPr lang="en-US" smtClean="0"/>
              <a:t>‹#›</a:t>
            </a:fld>
            <a:endParaRPr lang="en-US"/>
          </a:p>
        </p:txBody>
      </p:sp>
    </p:spTree>
    <p:extLst>
      <p:ext uri="{BB962C8B-B14F-4D97-AF65-F5344CB8AC3E}">
        <p14:creationId xmlns:p14="http://schemas.microsoft.com/office/powerpoint/2010/main" val="6455784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27ADCD0-3149-4244-8F32-C70912FD99D4}" type="datetimeFigureOut">
              <a:rPr lang="en-US" smtClean="0"/>
              <a:t>10/11/2022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0CAADE-E67C-408A-B1E4-771CD53A1A5C}" type="slidenum">
              <a:rPr lang="en-US" smtClean="0"/>
              <a:t>‹#›</a:t>
            </a:fld>
            <a:endParaRPr lang="en-US"/>
          </a:p>
        </p:txBody>
      </p:sp>
    </p:spTree>
    <p:extLst>
      <p:ext uri="{BB962C8B-B14F-4D97-AF65-F5344CB8AC3E}">
        <p14:creationId xmlns:p14="http://schemas.microsoft.com/office/powerpoint/2010/main" val="25374585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27ADCD0-3149-4244-8F32-C70912FD99D4}" type="datetimeFigureOut">
              <a:rPr lang="en-US" smtClean="0"/>
              <a:t>10/11/2022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0CAADE-E67C-408A-B1E4-771CD53A1A5C}" type="slidenum">
              <a:rPr lang="en-US" smtClean="0"/>
              <a:t>‹#›</a:t>
            </a:fld>
            <a:endParaRPr lang="en-US"/>
          </a:p>
        </p:txBody>
      </p:sp>
    </p:spTree>
    <p:extLst>
      <p:ext uri="{BB962C8B-B14F-4D97-AF65-F5344CB8AC3E}">
        <p14:creationId xmlns:p14="http://schemas.microsoft.com/office/powerpoint/2010/main" val="41498373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27ADCD0-3149-4244-8F32-C70912FD99D4}" type="datetimeFigureOut">
              <a:rPr lang="en-US" smtClean="0"/>
              <a:t>10/11/2022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0CAADE-E67C-408A-B1E4-771CD53A1A5C}" type="slidenum">
              <a:rPr lang="en-US" smtClean="0"/>
              <a:t>‹#›</a:t>
            </a:fld>
            <a:endParaRPr lang="en-US"/>
          </a:p>
        </p:txBody>
      </p:sp>
    </p:spTree>
    <p:extLst>
      <p:ext uri="{BB962C8B-B14F-4D97-AF65-F5344CB8AC3E}">
        <p14:creationId xmlns:p14="http://schemas.microsoft.com/office/powerpoint/2010/main" val="32185638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27ADCD0-3149-4244-8F32-C70912FD99D4}" type="datetimeFigureOut">
              <a:rPr lang="en-US" smtClean="0"/>
              <a:t>10/11/2022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C0CAADE-E67C-408A-B1E4-771CD53A1A5C}" type="slidenum">
              <a:rPr lang="en-US" smtClean="0"/>
              <a:t>‹#›</a:t>
            </a:fld>
            <a:endParaRPr lang="en-US"/>
          </a:p>
        </p:txBody>
      </p:sp>
    </p:spTree>
    <p:extLst>
      <p:ext uri="{BB962C8B-B14F-4D97-AF65-F5344CB8AC3E}">
        <p14:creationId xmlns:p14="http://schemas.microsoft.com/office/powerpoint/2010/main" val="37043142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0"/>
            <a:ext cx="7772400" cy="1470025"/>
          </a:xfrm>
        </p:spPr>
        <p:txBody>
          <a:bodyPr>
            <a:normAutofit fontScale="90000"/>
          </a:bodyPr>
          <a:lstStyle/>
          <a:p>
            <a:r>
              <a:rPr lang="en-US" dirty="0">
                <a:solidFill>
                  <a:srgbClr val="C00000"/>
                </a:solidFill>
              </a:rPr>
              <a:t>Software Requirement Specifications</a:t>
            </a:r>
            <a:br>
              <a:rPr lang="en-US" dirty="0">
                <a:solidFill>
                  <a:srgbClr val="C00000"/>
                </a:solidFill>
              </a:rPr>
            </a:br>
            <a:endParaRPr lang="en-US" dirty="0">
              <a:solidFill>
                <a:srgbClr val="C00000"/>
              </a:solidFill>
            </a:endParaRPr>
          </a:p>
        </p:txBody>
      </p:sp>
      <p:sp>
        <p:nvSpPr>
          <p:cNvPr id="3" name="Subtitle 2"/>
          <p:cNvSpPr>
            <a:spLocks noGrp="1"/>
          </p:cNvSpPr>
          <p:nvPr>
            <p:ph type="subTitle" idx="1"/>
          </p:nvPr>
        </p:nvSpPr>
        <p:spPr>
          <a:xfrm>
            <a:off x="838200" y="1600200"/>
            <a:ext cx="7543800" cy="4724400"/>
          </a:xfrm>
        </p:spPr>
        <p:txBody>
          <a:bodyPr>
            <a:normAutofit fontScale="85000" lnSpcReduction="10000"/>
          </a:bodyPr>
          <a:lstStyle/>
          <a:p>
            <a:pPr algn="just"/>
            <a:r>
              <a:rPr lang="en-US" dirty="0">
                <a:solidFill>
                  <a:schemeClr val="tx1"/>
                </a:solidFill>
                <a:latin typeface="Times New Roman" pitchFamily="18" charset="0"/>
                <a:cs typeface="Times New Roman" pitchFamily="18" charset="0"/>
              </a:rPr>
              <a:t>The production of the requirements stage of the software development process is </a:t>
            </a:r>
            <a:r>
              <a:rPr lang="en-US" b="1" dirty="0">
                <a:solidFill>
                  <a:schemeClr val="tx1"/>
                </a:solidFill>
                <a:latin typeface="Times New Roman" pitchFamily="18" charset="0"/>
                <a:cs typeface="Times New Roman" pitchFamily="18" charset="0"/>
              </a:rPr>
              <a:t>Software Requirements Specifications (SRS)</a:t>
            </a:r>
            <a:r>
              <a:rPr lang="en-US" dirty="0">
                <a:solidFill>
                  <a:schemeClr val="tx1"/>
                </a:solidFill>
                <a:latin typeface="Times New Roman" pitchFamily="18" charset="0"/>
                <a:cs typeface="Times New Roman" pitchFamily="18" charset="0"/>
              </a:rPr>
              <a:t> (also called a </a:t>
            </a:r>
            <a:r>
              <a:rPr lang="en-US" b="1" dirty="0">
                <a:solidFill>
                  <a:schemeClr val="tx1"/>
                </a:solidFill>
                <a:latin typeface="Times New Roman" pitchFamily="18" charset="0"/>
                <a:cs typeface="Times New Roman" pitchFamily="18" charset="0"/>
              </a:rPr>
              <a:t>requirements document</a:t>
            </a:r>
            <a:r>
              <a:rPr lang="en-US" dirty="0">
                <a:solidFill>
                  <a:schemeClr val="tx1"/>
                </a:solidFill>
                <a:latin typeface="Times New Roman" pitchFamily="18" charset="0"/>
                <a:cs typeface="Times New Roman" pitchFamily="18" charset="0"/>
              </a:rPr>
              <a:t>). This report lays a foundation for software engineering activities and is constructing when entire requirements are elicited and analyzed. </a:t>
            </a:r>
            <a:r>
              <a:rPr lang="en-US" b="1" dirty="0">
                <a:solidFill>
                  <a:schemeClr val="tx1"/>
                </a:solidFill>
                <a:latin typeface="Times New Roman" pitchFamily="18" charset="0"/>
                <a:cs typeface="Times New Roman" pitchFamily="18" charset="0"/>
              </a:rPr>
              <a:t>SRS</a:t>
            </a:r>
            <a:r>
              <a:rPr lang="en-US" dirty="0">
                <a:solidFill>
                  <a:schemeClr val="tx1"/>
                </a:solidFill>
                <a:latin typeface="Times New Roman" pitchFamily="18" charset="0"/>
                <a:cs typeface="Times New Roman" pitchFamily="18" charset="0"/>
              </a:rPr>
              <a:t> is a formal report, which acts as a representation of software that enables the customers to review whether it (SRS) is according to their requirements. Also, it comprises user requirements for a system as well as detailed specifications of the system requirements.</a:t>
            </a:r>
          </a:p>
        </p:txBody>
      </p:sp>
    </p:spTree>
    <p:extLst>
      <p:ext uri="{BB962C8B-B14F-4D97-AF65-F5344CB8AC3E}">
        <p14:creationId xmlns:p14="http://schemas.microsoft.com/office/powerpoint/2010/main" val="3867112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0"/>
            <a:ext cx="7772400" cy="1470025"/>
          </a:xfrm>
        </p:spPr>
        <p:txBody>
          <a:bodyPr>
            <a:normAutofit fontScale="90000"/>
          </a:bodyPr>
          <a:lstStyle/>
          <a:p>
            <a:r>
              <a:rPr lang="en-US" dirty="0">
                <a:solidFill>
                  <a:srgbClr val="C00000"/>
                </a:solidFill>
              </a:rPr>
              <a:t>Software Requirement Specifications</a:t>
            </a:r>
            <a:br>
              <a:rPr lang="en-US" dirty="0">
                <a:solidFill>
                  <a:srgbClr val="C00000"/>
                </a:solidFill>
              </a:rPr>
            </a:br>
            <a:endParaRPr lang="en-US" dirty="0">
              <a:solidFill>
                <a:srgbClr val="C00000"/>
              </a:solidFill>
            </a:endParaRPr>
          </a:p>
        </p:txBody>
      </p:sp>
      <p:sp>
        <p:nvSpPr>
          <p:cNvPr id="3" name="Subtitle 2"/>
          <p:cNvSpPr>
            <a:spLocks noGrp="1"/>
          </p:cNvSpPr>
          <p:nvPr>
            <p:ph type="subTitle" idx="1"/>
          </p:nvPr>
        </p:nvSpPr>
        <p:spPr>
          <a:xfrm>
            <a:off x="838200" y="1752600"/>
            <a:ext cx="7543800" cy="4572000"/>
          </a:xfrm>
        </p:spPr>
        <p:txBody>
          <a:bodyPr>
            <a:normAutofit fontScale="85000" lnSpcReduction="20000"/>
          </a:bodyPr>
          <a:lstStyle/>
          <a:p>
            <a:pPr algn="just"/>
            <a:r>
              <a:rPr lang="en-US" dirty="0">
                <a:solidFill>
                  <a:schemeClr val="tx1"/>
                </a:solidFill>
                <a:latin typeface="Times New Roman" pitchFamily="18" charset="0"/>
                <a:cs typeface="Times New Roman" pitchFamily="18" charset="0"/>
              </a:rPr>
              <a:t>The SRS is a specification for a specific software product, program, or set of applications that perform particular functions in a specific environment. It serves several goals depending on who is writing it. First, the SRS could be written by the client of a system. Second, the SRS could be written by a developer of the system. The two methods create entirely various situations and establish different purposes for the document altogether. The first case, SRS, is used to define the needs and expectation of the users. The second case, SRS, is written for various purposes and serves as a contract document between customer and developer.</a:t>
            </a:r>
          </a:p>
        </p:txBody>
      </p:sp>
    </p:spTree>
    <p:extLst>
      <p:ext uri="{BB962C8B-B14F-4D97-AF65-F5344CB8AC3E}">
        <p14:creationId xmlns:p14="http://schemas.microsoft.com/office/powerpoint/2010/main" val="26442799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0"/>
            <a:ext cx="7772400" cy="1470025"/>
          </a:xfrm>
        </p:spPr>
        <p:txBody>
          <a:bodyPr>
            <a:normAutofit/>
          </a:bodyPr>
          <a:lstStyle/>
          <a:p>
            <a:r>
              <a:rPr lang="en-US" dirty="0">
                <a:solidFill>
                  <a:srgbClr val="C00000"/>
                </a:solidFill>
              </a:rPr>
              <a:t>Characteristics of good </a:t>
            </a:r>
            <a:r>
              <a:rPr lang="en-US" dirty="0" smtClean="0">
                <a:solidFill>
                  <a:srgbClr val="C00000"/>
                </a:solidFill>
              </a:rPr>
              <a:t>SRS</a:t>
            </a:r>
            <a:r>
              <a:rPr lang="en-US" dirty="0">
                <a:solidFill>
                  <a:srgbClr val="C00000"/>
                </a:solidFill>
              </a:rPr>
              <a:t/>
            </a:r>
            <a:br>
              <a:rPr lang="en-US" dirty="0">
                <a:solidFill>
                  <a:srgbClr val="C00000"/>
                </a:solidFill>
              </a:rPr>
            </a:br>
            <a:endParaRPr lang="en-US" dirty="0">
              <a:solidFill>
                <a:srgbClr val="C00000"/>
              </a:solidFill>
            </a:endParaRP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1139" y="1371600"/>
            <a:ext cx="6291261" cy="53994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895785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0"/>
            <a:ext cx="7772400" cy="1470025"/>
          </a:xfrm>
        </p:spPr>
        <p:txBody>
          <a:bodyPr>
            <a:normAutofit fontScale="90000"/>
          </a:bodyPr>
          <a:lstStyle/>
          <a:p>
            <a:r>
              <a:rPr lang="en-US" dirty="0">
                <a:solidFill>
                  <a:srgbClr val="C00000"/>
                </a:solidFill>
              </a:rPr>
              <a:t>Software Requirement Specifications</a:t>
            </a:r>
            <a:br>
              <a:rPr lang="en-US" dirty="0">
                <a:solidFill>
                  <a:srgbClr val="C00000"/>
                </a:solidFill>
              </a:rPr>
            </a:br>
            <a:endParaRPr lang="en-US" dirty="0">
              <a:solidFill>
                <a:srgbClr val="C00000"/>
              </a:solidFill>
            </a:endParaRPr>
          </a:p>
        </p:txBody>
      </p:sp>
      <p:sp>
        <p:nvSpPr>
          <p:cNvPr id="3" name="Subtitle 2"/>
          <p:cNvSpPr>
            <a:spLocks noGrp="1"/>
          </p:cNvSpPr>
          <p:nvPr>
            <p:ph type="subTitle" idx="1"/>
          </p:nvPr>
        </p:nvSpPr>
        <p:spPr>
          <a:xfrm>
            <a:off x="838200" y="1752600"/>
            <a:ext cx="7543800" cy="4572000"/>
          </a:xfrm>
        </p:spPr>
        <p:txBody>
          <a:bodyPr>
            <a:normAutofit/>
          </a:bodyPr>
          <a:lstStyle/>
          <a:p>
            <a:pPr algn="just"/>
            <a:r>
              <a:rPr lang="en-US" b="1" dirty="0">
                <a:solidFill>
                  <a:schemeClr val="tx1"/>
                </a:solidFill>
                <a:latin typeface="Times New Roman" pitchFamily="18" charset="0"/>
                <a:cs typeface="Times New Roman" pitchFamily="18" charset="0"/>
              </a:rPr>
              <a:t>Following are the features of a good SRS document</a:t>
            </a:r>
            <a:r>
              <a:rPr lang="en-US" b="1" dirty="0" smtClean="0">
                <a:solidFill>
                  <a:schemeClr val="tx1"/>
                </a:solidFill>
                <a:latin typeface="Times New Roman" pitchFamily="18" charset="0"/>
                <a:cs typeface="Times New Roman" pitchFamily="18" charset="0"/>
              </a:rPr>
              <a:t>:</a:t>
            </a:r>
          </a:p>
          <a:p>
            <a:pPr marL="514350" indent="-514350" algn="just">
              <a:buAutoNum type="arabicPeriod"/>
            </a:pPr>
            <a:r>
              <a:rPr lang="en-US" b="1" dirty="0" smtClean="0">
                <a:solidFill>
                  <a:schemeClr val="tx1"/>
                </a:solidFill>
                <a:latin typeface="Times New Roman" pitchFamily="18" charset="0"/>
                <a:cs typeface="Times New Roman" pitchFamily="18" charset="0"/>
              </a:rPr>
              <a:t>Correctness</a:t>
            </a:r>
            <a:r>
              <a:rPr lang="en-US" b="1" dirty="0">
                <a:solidFill>
                  <a:schemeClr val="tx1"/>
                </a:solidFill>
                <a:latin typeface="Times New Roman" pitchFamily="18" charset="0"/>
                <a:cs typeface="Times New Roman" pitchFamily="18" charset="0"/>
              </a:rPr>
              <a:t>:</a:t>
            </a:r>
            <a:r>
              <a:rPr lang="en-US" dirty="0">
                <a:solidFill>
                  <a:schemeClr val="tx1"/>
                </a:solidFill>
                <a:latin typeface="Times New Roman" pitchFamily="18" charset="0"/>
                <a:cs typeface="Times New Roman" pitchFamily="18" charset="0"/>
              </a:rPr>
              <a:t> User review is used to provide the accuracy of requirements stated in the SRS. SRS is said to be perfect if it covers all the needs that are truly expected from the </a:t>
            </a:r>
            <a:r>
              <a:rPr lang="en-US" dirty="0" smtClean="0">
                <a:solidFill>
                  <a:schemeClr val="tx1"/>
                </a:solidFill>
                <a:latin typeface="Times New Roman" pitchFamily="18" charset="0"/>
                <a:cs typeface="Times New Roman" pitchFamily="18" charset="0"/>
              </a:rPr>
              <a:t>system.</a:t>
            </a:r>
          </a:p>
          <a:p>
            <a:pPr algn="just"/>
            <a:endParaRPr lang="en-US" dirty="0">
              <a:solidFill>
                <a:schemeClr val="tx1"/>
              </a:solidFill>
              <a:latin typeface="Times New Roman" pitchFamily="18" charset="0"/>
              <a:cs typeface="Times New Roman" pitchFamily="18" charset="0"/>
            </a:endParaRPr>
          </a:p>
        </p:txBody>
      </p:sp>
    </p:spTree>
    <p:extLst>
      <p:ext uri="{BB962C8B-B14F-4D97-AF65-F5344CB8AC3E}">
        <p14:creationId xmlns:p14="http://schemas.microsoft.com/office/powerpoint/2010/main" val="108344499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0"/>
            <a:ext cx="7772400" cy="1470025"/>
          </a:xfrm>
        </p:spPr>
        <p:txBody>
          <a:bodyPr>
            <a:normAutofit fontScale="90000"/>
          </a:bodyPr>
          <a:lstStyle/>
          <a:p>
            <a:r>
              <a:rPr lang="en-US" dirty="0">
                <a:solidFill>
                  <a:srgbClr val="C00000"/>
                </a:solidFill>
              </a:rPr>
              <a:t>Software Requirement Specifications</a:t>
            </a:r>
            <a:br>
              <a:rPr lang="en-US" dirty="0">
                <a:solidFill>
                  <a:srgbClr val="C00000"/>
                </a:solidFill>
              </a:rPr>
            </a:br>
            <a:endParaRPr lang="en-US" dirty="0">
              <a:solidFill>
                <a:srgbClr val="C00000"/>
              </a:solidFill>
            </a:endParaRPr>
          </a:p>
        </p:txBody>
      </p:sp>
      <p:sp>
        <p:nvSpPr>
          <p:cNvPr id="3" name="Subtitle 2"/>
          <p:cNvSpPr>
            <a:spLocks noGrp="1"/>
          </p:cNvSpPr>
          <p:nvPr>
            <p:ph type="subTitle" idx="1"/>
          </p:nvPr>
        </p:nvSpPr>
        <p:spPr>
          <a:xfrm>
            <a:off x="838200" y="1752600"/>
            <a:ext cx="7772400" cy="4800600"/>
          </a:xfrm>
        </p:spPr>
        <p:txBody>
          <a:bodyPr>
            <a:normAutofit fontScale="85000" lnSpcReduction="20000"/>
          </a:bodyPr>
          <a:lstStyle/>
          <a:p>
            <a:pPr algn="just"/>
            <a:r>
              <a:rPr lang="en-US" b="1" dirty="0">
                <a:solidFill>
                  <a:schemeClr val="tx1"/>
                </a:solidFill>
                <a:latin typeface="Times New Roman" pitchFamily="18" charset="0"/>
                <a:cs typeface="Times New Roman" pitchFamily="18" charset="0"/>
              </a:rPr>
              <a:t>2. Completeness:</a:t>
            </a:r>
            <a:r>
              <a:rPr lang="en-US" dirty="0">
                <a:solidFill>
                  <a:schemeClr val="tx1"/>
                </a:solidFill>
                <a:latin typeface="Times New Roman" pitchFamily="18" charset="0"/>
                <a:cs typeface="Times New Roman" pitchFamily="18" charset="0"/>
              </a:rPr>
              <a:t> The SRS is complete if, and only if, it includes the following elements</a:t>
            </a:r>
            <a:r>
              <a:rPr lang="en-US" dirty="0" smtClean="0">
                <a:solidFill>
                  <a:schemeClr val="tx1"/>
                </a:solidFill>
                <a:latin typeface="Times New Roman" pitchFamily="18" charset="0"/>
                <a:cs typeface="Times New Roman" pitchFamily="18" charset="0"/>
              </a:rPr>
              <a:t>:</a:t>
            </a:r>
          </a:p>
          <a:p>
            <a:pPr algn="just"/>
            <a:endParaRPr lang="en-US" dirty="0">
              <a:solidFill>
                <a:schemeClr val="tx1"/>
              </a:solidFill>
              <a:latin typeface="Times New Roman" pitchFamily="18" charset="0"/>
              <a:cs typeface="Times New Roman" pitchFamily="18" charset="0"/>
            </a:endParaRPr>
          </a:p>
          <a:p>
            <a:pPr algn="just"/>
            <a:r>
              <a:rPr lang="en-US" b="1" dirty="0">
                <a:solidFill>
                  <a:schemeClr val="tx1"/>
                </a:solidFill>
                <a:latin typeface="Times New Roman" pitchFamily="18" charset="0"/>
                <a:cs typeface="Times New Roman" pitchFamily="18" charset="0"/>
              </a:rPr>
              <a:t>(1).</a:t>
            </a:r>
            <a:r>
              <a:rPr lang="en-US" dirty="0">
                <a:solidFill>
                  <a:schemeClr val="tx1"/>
                </a:solidFill>
                <a:latin typeface="Times New Roman" pitchFamily="18" charset="0"/>
                <a:cs typeface="Times New Roman" pitchFamily="18" charset="0"/>
              </a:rPr>
              <a:t> All essential requirements, whether relating to functionality, performance, design, constraints, attributes, or external interfaces.</a:t>
            </a:r>
          </a:p>
          <a:p>
            <a:pPr algn="just"/>
            <a:r>
              <a:rPr lang="en-US" b="1" dirty="0">
                <a:solidFill>
                  <a:schemeClr val="tx1"/>
                </a:solidFill>
                <a:latin typeface="Times New Roman" pitchFamily="18" charset="0"/>
                <a:cs typeface="Times New Roman" pitchFamily="18" charset="0"/>
              </a:rPr>
              <a:t>(2).</a:t>
            </a:r>
            <a:r>
              <a:rPr lang="en-US" dirty="0">
                <a:solidFill>
                  <a:schemeClr val="tx1"/>
                </a:solidFill>
                <a:latin typeface="Times New Roman" pitchFamily="18" charset="0"/>
                <a:cs typeface="Times New Roman" pitchFamily="18" charset="0"/>
              </a:rPr>
              <a:t> Definition of their responses of the software to all realizable classes of input data in all available categories of situations.</a:t>
            </a:r>
          </a:p>
          <a:p>
            <a:pPr algn="just"/>
            <a:r>
              <a:rPr lang="en-US" b="1" dirty="0">
                <a:solidFill>
                  <a:schemeClr val="tx1"/>
                </a:solidFill>
                <a:latin typeface="Times New Roman" pitchFamily="18" charset="0"/>
                <a:cs typeface="Times New Roman" pitchFamily="18" charset="0"/>
              </a:rPr>
              <a:t>(3).</a:t>
            </a:r>
            <a:r>
              <a:rPr lang="en-US" dirty="0">
                <a:solidFill>
                  <a:schemeClr val="tx1"/>
                </a:solidFill>
                <a:latin typeface="Times New Roman" pitchFamily="18" charset="0"/>
                <a:cs typeface="Times New Roman" pitchFamily="18" charset="0"/>
              </a:rPr>
              <a:t> Full labels and references to all figures, tables, and diagrams in the SRS and definitions of all terms and units of measure.</a:t>
            </a:r>
          </a:p>
        </p:txBody>
      </p:sp>
    </p:spTree>
    <p:extLst>
      <p:ext uri="{BB962C8B-B14F-4D97-AF65-F5344CB8AC3E}">
        <p14:creationId xmlns:p14="http://schemas.microsoft.com/office/powerpoint/2010/main" val="243275342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0"/>
            <a:ext cx="7772400" cy="1470025"/>
          </a:xfrm>
        </p:spPr>
        <p:txBody>
          <a:bodyPr>
            <a:normAutofit fontScale="90000"/>
          </a:bodyPr>
          <a:lstStyle/>
          <a:p>
            <a:r>
              <a:rPr lang="en-US" dirty="0">
                <a:solidFill>
                  <a:srgbClr val="C00000"/>
                </a:solidFill>
              </a:rPr>
              <a:t>Software Requirement Specifications</a:t>
            </a:r>
            <a:br>
              <a:rPr lang="en-US" dirty="0">
                <a:solidFill>
                  <a:srgbClr val="C00000"/>
                </a:solidFill>
              </a:rPr>
            </a:br>
            <a:endParaRPr lang="en-US" dirty="0">
              <a:solidFill>
                <a:srgbClr val="C00000"/>
              </a:solidFill>
            </a:endParaRPr>
          </a:p>
        </p:txBody>
      </p:sp>
      <p:sp>
        <p:nvSpPr>
          <p:cNvPr id="3" name="Subtitle 2"/>
          <p:cNvSpPr>
            <a:spLocks noGrp="1"/>
          </p:cNvSpPr>
          <p:nvPr>
            <p:ph type="subTitle" idx="1"/>
          </p:nvPr>
        </p:nvSpPr>
        <p:spPr>
          <a:xfrm>
            <a:off x="685800" y="1600200"/>
            <a:ext cx="7848600" cy="4800600"/>
          </a:xfrm>
        </p:spPr>
        <p:txBody>
          <a:bodyPr>
            <a:normAutofit fontScale="92500" lnSpcReduction="20000"/>
          </a:bodyPr>
          <a:lstStyle/>
          <a:p>
            <a:pPr algn="just"/>
            <a:r>
              <a:rPr lang="en-US" b="1" dirty="0">
                <a:solidFill>
                  <a:schemeClr val="tx1"/>
                </a:solidFill>
                <a:latin typeface="Times New Roman" pitchFamily="18" charset="0"/>
                <a:cs typeface="Times New Roman" pitchFamily="18" charset="0"/>
              </a:rPr>
              <a:t>3. Consistency:</a:t>
            </a:r>
            <a:r>
              <a:rPr lang="en-US" dirty="0">
                <a:solidFill>
                  <a:schemeClr val="tx1"/>
                </a:solidFill>
                <a:latin typeface="Times New Roman" pitchFamily="18" charset="0"/>
                <a:cs typeface="Times New Roman" pitchFamily="18" charset="0"/>
              </a:rPr>
              <a:t> The SRS is consistent if, and only if, no subset of individual requirements described in its conflict. There are three types of possible conflict in the SRS:</a:t>
            </a:r>
          </a:p>
          <a:p>
            <a:pPr algn="just"/>
            <a:r>
              <a:rPr lang="en-US" b="1" dirty="0">
                <a:solidFill>
                  <a:schemeClr val="tx1"/>
                </a:solidFill>
                <a:latin typeface="Times New Roman" pitchFamily="18" charset="0"/>
                <a:cs typeface="Times New Roman" pitchFamily="18" charset="0"/>
              </a:rPr>
              <a:t>(1).</a:t>
            </a:r>
            <a:r>
              <a:rPr lang="en-US" dirty="0">
                <a:solidFill>
                  <a:schemeClr val="tx1"/>
                </a:solidFill>
                <a:latin typeface="Times New Roman" pitchFamily="18" charset="0"/>
                <a:cs typeface="Times New Roman" pitchFamily="18" charset="0"/>
              </a:rPr>
              <a:t> The specified characteristics of real-world objects may conflicts. For example,</a:t>
            </a:r>
          </a:p>
          <a:p>
            <a:pPr algn="just"/>
            <a:r>
              <a:rPr lang="en-US" dirty="0">
                <a:solidFill>
                  <a:schemeClr val="tx1"/>
                </a:solidFill>
                <a:latin typeface="Times New Roman" pitchFamily="18" charset="0"/>
                <a:cs typeface="Times New Roman" pitchFamily="18" charset="0"/>
              </a:rPr>
              <a:t>(a) The format of an output report may be described in one requirement as tabular but in another as textual.</a:t>
            </a:r>
          </a:p>
          <a:p>
            <a:pPr algn="just"/>
            <a:r>
              <a:rPr lang="en-US" dirty="0">
                <a:solidFill>
                  <a:schemeClr val="tx1"/>
                </a:solidFill>
                <a:latin typeface="Times New Roman" pitchFamily="18" charset="0"/>
                <a:cs typeface="Times New Roman" pitchFamily="18" charset="0"/>
              </a:rPr>
              <a:t>(b) One condition may state that all lights shall be green while another states that all lights shall be blue.</a:t>
            </a:r>
          </a:p>
        </p:txBody>
      </p:sp>
    </p:spTree>
    <p:extLst>
      <p:ext uri="{BB962C8B-B14F-4D97-AF65-F5344CB8AC3E}">
        <p14:creationId xmlns:p14="http://schemas.microsoft.com/office/powerpoint/2010/main" val="85838495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0"/>
            <a:ext cx="7772400" cy="1470025"/>
          </a:xfrm>
        </p:spPr>
        <p:txBody>
          <a:bodyPr>
            <a:normAutofit fontScale="90000"/>
          </a:bodyPr>
          <a:lstStyle/>
          <a:p>
            <a:r>
              <a:rPr lang="en-US" dirty="0">
                <a:solidFill>
                  <a:srgbClr val="C00000"/>
                </a:solidFill>
              </a:rPr>
              <a:t>Software Requirement Specifications</a:t>
            </a:r>
            <a:br>
              <a:rPr lang="en-US" dirty="0">
                <a:solidFill>
                  <a:srgbClr val="C00000"/>
                </a:solidFill>
              </a:rPr>
            </a:br>
            <a:endParaRPr lang="en-US" dirty="0">
              <a:solidFill>
                <a:srgbClr val="C00000"/>
              </a:solidFill>
            </a:endParaRPr>
          </a:p>
        </p:txBody>
      </p:sp>
      <p:sp>
        <p:nvSpPr>
          <p:cNvPr id="3" name="Subtitle 2"/>
          <p:cNvSpPr>
            <a:spLocks noGrp="1"/>
          </p:cNvSpPr>
          <p:nvPr>
            <p:ph type="subTitle" idx="1"/>
          </p:nvPr>
        </p:nvSpPr>
        <p:spPr>
          <a:xfrm>
            <a:off x="685800" y="1600200"/>
            <a:ext cx="7772400" cy="4800600"/>
          </a:xfrm>
        </p:spPr>
        <p:txBody>
          <a:bodyPr>
            <a:normAutofit lnSpcReduction="10000"/>
          </a:bodyPr>
          <a:lstStyle/>
          <a:p>
            <a:pPr algn="just"/>
            <a:r>
              <a:rPr lang="en-US" b="1" dirty="0">
                <a:solidFill>
                  <a:schemeClr val="tx1"/>
                </a:solidFill>
                <a:latin typeface="Times New Roman" pitchFamily="18" charset="0"/>
                <a:cs typeface="Times New Roman" pitchFamily="18" charset="0"/>
              </a:rPr>
              <a:t>(2).</a:t>
            </a:r>
            <a:r>
              <a:rPr lang="en-US" dirty="0">
                <a:solidFill>
                  <a:schemeClr val="tx1"/>
                </a:solidFill>
                <a:latin typeface="Times New Roman" pitchFamily="18" charset="0"/>
                <a:cs typeface="Times New Roman" pitchFamily="18" charset="0"/>
              </a:rPr>
              <a:t> There may be a reasonable or temporal conflict between the two specified actions. For example,</a:t>
            </a:r>
          </a:p>
          <a:p>
            <a:pPr algn="just"/>
            <a:r>
              <a:rPr lang="en-US" dirty="0">
                <a:solidFill>
                  <a:schemeClr val="tx1"/>
                </a:solidFill>
                <a:latin typeface="Times New Roman" pitchFamily="18" charset="0"/>
                <a:cs typeface="Times New Roman" pitchFamily="18" charset="0"/>
              </a:rPr>
              <a:t>(a) One requirement may determine that the program will add two inputs, and another may determine that the program will multiply them.</a:t>
            </a:r>
          </a:p>
          <a:p>
            <a:pPr algn="just"/>
            <a:r>
              <a:rPr lang="en-US" dirty="0">
                <a:solidFill>
                  <a:schemeClr val="tx1"/>
                </a:solidFill>
                <a:latin typeface="Times New Roman" pitchFamily="18" charset="0"/>
                <a:cs typeface="Times New Roman" pitchFamily="18" charset="0"/>
              </a:rPr>
              <a:t>(b) One condition may state that "A" must always follow "B," while other requires that "A and B" co-occurs.</a:t>
            </a:r>
          </a:p>
        </p:txBody>
      </p:sp>
    </p:spTree>
    <p:extLst>
      <p:ext uri="{BB962C8B-B14F-4D97-AF65-F5344CB8AC3E}">
        <p14:creationId xmlns:p14="http://schemas.microsoft.com/office/powerpoint/2010/main" val="367917618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0"/>
            <a:ext cx="7772400" cy="1470025"/>
          </a:xfrm>
        </p:spPr>
        <p:txBody>
          <a:bodyPr>
            <a:normAutofit fontScale="90000"/>
          </a:bodyPr>
          <a:lstStyle/>
          <a:p>
            <a:r>
              <a:rPr lang="en-US" dirty="0">
                <a:solidFill>
                  <a:srgbClr val="C00000"/>
                </a:solidFill>
              </a:rPr>
              <a:t>Software Requirement Specifications</a:t>
            </a:r>
            <a:br>
              <a:rPr lang="en-US" dirty="0">
                <a:solidFill>
                  <a:srgbClr val="C00000"/>
                </a:solidFill>
              </a:rPr>
            </a:br>
            <a:endParaRPr lang="en-US" dirty="0">
              <a:solidFill>
                <a:srgbClr val="C00000"/>
              </a:solidFill>
            </a:endParaRPr>
          </a:p>
        </p:txBody>
      </p:sp>
      <p:sp>
        <p:nvSpPr>
          <p:cNvPr id="3" name="Subtitle 2"/>
          <p:cNvSpPr>
            <a:spLocks noGrp="1"/>
          </p:cNvSpPr>
          <p:nvPr>
            <p:ph type="subTitle" idx="1"/>
          </p:nvPr>
        </p:nvSpPr>
        <p:spPr>
          <a:xfrm>
            <a:off x="762000" y="1752600"/>
            <a:ext cx="7772400" cy="4800600"/>
          </a:xfrm>
        </p:spPr>
        <p:txBody>
          <a:bodyPr>
            <a:normAutofit/>
          </a:bodyPr>
          <a:lstStyle/>
          <a:p>
            <a:pPr algn="just"/>
            <a:r>
              <a:rPr lang="en-US" b="1" dirty="0">
                <a:solidFill>
                  <a:schemeClr val="tx1"/>
                </a:solidFill>
                <a:latin typeface="Times New Roman" pitchFamily="18" charset="0"/>
                <a:cs typeface="Times New Roman" pitchFamily="18" charset="0"/>
              </a:rPr>
              <a:t>(3).</a:t>
            </a:r>
            <a:r>
              <a:rPr lang="en-US" dirty="0">
                <a:solidFill>
                  <a:schemeClr val="tx1"/>
                </a:solidFill>
                <a:latin typeface="Times New Roman" pitchFamily="18" charset="0"/>
                <a:cs typeface="Times New Roman" pitchFamily="18" charset="0"/>
              </a:rPr>
              <a:t> Two or more requirements may define the same real-world object but use different terms for that object. For example, a program's request for user input may be called a "prompt" in one requirement's and a "cue" in another. The use of standard terminology and descriptions promotes consistency.</a:t>
            </a:r>
          </a:p>
        </p:txBody>
      </p:sp>
    </p:spTree>
    <p:extLst>
      <p:ext uri="{BB962C8B-B14F-4D97-AF65-F5344CB8AC3E}">
        <p14:creationId xmlns:p14="http://schemas.microsoft.com/office/powerpoint/2010/main" val="142953158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0"/>
            <a:ext cx="7772400" cy="1470025"/>
          </a:xfrm>
        </p:spPr>
        <p:txBody>
          <a:bodyPr>
            <a:normAutofit fontScale="90000"/>
          </a:bodyPr>
          <a:lstStyle/>
          <a:p>
            <a:r>
              <a:rPr lang="en-US" dirty="0">
                <a:solidFill>
                  <a:srgbClr val="C00000"/>
                </a:solidFill>
              </a:rPr>
              <a:t>Software Requirement Specifications</a:t>
            </a:r>
            <a:br>
              <a:rPr lang="en-US" dirty="0">
                <a:solidFill>
                  <a:srgbClr val="C00000"/>
                </a:solidFill>
              </a:rPr>
            </a:br>
            <a:endParaRPr lang="en-US" dirty="0">
              <a:solidFill>
                <a:srgbClr val="C00000"/>
              </a:solidFill>
            </a:endParaRPr>
          </a:p>
        </p:txBody>
      </p:sp>
      <p:sp>
        <p:nvSpPr>
          <p:cNvPr id="3" name="Subtitle 2"/>
          <p:cNvSpPr>
            <a:spLocks noGrp="1"/>
          </p:cNvSpPr>
          <p:nvPr>
            <p:ph type="subTitle" idx="1"/>
          </p:nvPr>
        </p:nvSpPr>
        <p:spPr>
          <a:xfrm>
            <a:off x="762000" y="1752600"/>
            <a:ext cx="7772400" cy="4800600"/>
          </a:xfrm>
        </p:spPr>
        <p:txBody>
          <a:bodyPr>
            <a:normAutofit/>
          </a:bodyPr>
          <a:lstStyle/>
          <a:p>
            <a:pPr algn="just"/>
            <a:r>
              <a:rPr lang="en-US" b="1" dirty="0">
                <a:solidFill>
                  <a:schemeClr val="tx1"/>
                </a:solidFill>
                <a:latin typeface="Times New Roman" pitchFamily="18" charset="0"/>
                <a:cs typeface="Times New Roman" pitchFamily="18" charset="0"/>
              </a:rPr>
              <a:t>4. Unambiguousness:</a:t>
            </a:r>
            <a:r>
              <a:rPr lang="en-US" dirty="0">
                <a:solidFill>
                  <a:schemeClr val="tx1"/>
                </a:solidFill>
                <a:latin typeface="Times New Roman" pitchFamily="18" charset="0"/>
                <a:cs typeface="Times New Roman" pitchFamily="18" charset="0"/>
              </a:rPr>
              <a:t> SRS is unambiguous when every fixed requirement has only one interpretation. This suggests that each element is uniquely interpreted. In case there is a method used with multiple definitions, the requirements report should determine the implications in the SRS so that it is clear and simple to understand.</a:t>
            </a:r>
          </a:p>
        </p:txBody>
      </p:sp>
    </p:spTree>
    <p:extLst>
      <p:ext uri="{BB962C8B-B14F-4D97-AF65-F5344CB8AC3E}">
        <p14:creationId xmlns:p14="http://schemas.microsoft.com/office/powerpoint/2010/main" val="37878533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0"/>
            <a:ext cx="7772400" cy="1470025"/>
          </a:xfrm>
        </p:spPr>
        <p:txBody>
          <a:bodyPr>
            <a:normAutofit fontScale="90000"/>
          </a:bodyPr>
          <a:lstStyle/>
          <a:p>
            <a:r>
              <a:rPr lang="en-US" dirty="0">
                <a:solidFill>
                  <a:srgbClr val="C00000"/>
                </a:solidFill>
              </a:rPr>
              <a:t>Software Requirement Specifications</a:t>
            </a:r>
            <a:br>
              <a:rPr lang="en-US" dirty="0">
                <a:solidFill>
                  <a:srgbClr val="C00000"/>
                </a:solidFill>
              </a:rPr>
            </a:br>
            <a:endParaRPr lang="en-US" dirty="0">
              <a:solidFill>
                <a:srgbClr val="C00000"/>
              </a:solidFill>
            </a:endParaRPr>
          </a:p>
        </p:txBody>
      </p:sp>
      <p:sp>
        <p:nvSpPr>
          <p:cNvPr id="3" name="Subtitle 2"/>
          <p:cNvSpPr>
            <a:spLocks noGrp="1"/>
          </p:cNvSpPr>
          <p:nvPr>
            <p:ph type="subTitle" idx="1"/>
          </p:nvPr>
        </p:nvSpPr>
        <p:spPr>
          <a:xfrm>
            <a:off x="762000" y="1752600"/>
            <a:ext cx="7772400" cy="4800600"/>
          </a:xfrm>
        </p:spPr>
        <p:txBody>
          <a:bodyPr>
            <a:normAutofit fontScale="85000" lnSpcReduction="10000"/>
          </a:bodyPr>
          <a:lstStyle/>
          <a:p>
            <a:pPr algn="just"/>
            <a:r>
              <a:rPr lang="en-US" b="1" dirty="0">
                <a:solidFill>
                  <a:schemeClr val="tx1"/>
                </a:solidFill>
                <a:latin typeface="Times New Roman" pitchFamily="18" charset="0"/>
                <a:cs typeface="Times New Roman" pitchFamily="18" charset="0"/>
              </a:rPr>
              <a:t>5. Ranking for importance and stability:</a:t>
            </a:r>
            <a:r>
              <a:rPr lang="en-US" dirty="0">
                <a:solidFill>
                  <a:schemeClr val="tx1"/>
                </a:solidFill>
                <a:latin typeface="Times New Roman" pitchFamily="18" charset="0"/>
                <a:cs typeface="Times New Roman" pitchFamily="18" charset="0"/>
              </a:rPr>
              <a:t> The SRS is ranked for importance and stability if each requirement in it has an identifier to indicate either the significance or stability of that particular requirement.</a:t>
            </a:r>
          </a:p>
          <a:p>
            <a:pPr algn="just"/>
            <a:r>
              <a:rPr lang="en-US" dirty="0">
                <a:solidFill>
                  <a:schemeClr val="tx1"/>
                </a:solidFill>
                <a:latin typeface="Times New Roman" pitchFamily="18" charset="0"/>
                <a:cs typeface="Times New Roman" pitchFamily="18" charset="0"/>
              </a:rPr>
              <a:t>Typically, all requirements are not equally important. Some prerequisites may be essential, especially for life-critical applications, while others may be desirable. Each element should be identified to make these differences clear and explicit. Another way to rank requirements is to distinguish classes of items as essential, conditional, and optional.</a:t>
            </a:r>
          </a:p>
        </p:txBody>
      </p:sp>
    </p:spTree>
    <p:extLst>
      <p:ext uri="{BB962C8B-B14F-4D97-AF65-F5344CB8AC3E}">
        <p14:creationId xmlns:p14="http://schemas.microsoft.com/office/powerpoint/2010/main" val="373567010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0"/>
            <a:ext cx="7772400" cy="1470025"/>
          </a:xfrm>
        </p:spPr>
        <p:txBody>
          <a:bodyPr>
            <a:normAutofit fontScale="90000"/>
          </a:bodyPr>
          <a:lstStyle/>
          <a:p>
            <a:r>
              <a:rPr lang="en-US" dirty="0">
                <a:solidFill>
                  <a:srgbClr val="C00000"/>
                </a:solidFill>
              </a:rPr>
              <a:t>Software Requirement Specifications</a:t>
            </a:r>
            <a:br>
              <a:rPr lang="en-US" dirty="0">
                <a:solidFill>
                  <a:srgbClr val="C00000"/>
                </a:solidFill>
              </a:rPr>
            </a:br>
            <a:endParaRPr lang="en-US" dirty="0">
              <a:solidFill>
                <a:srgbClr val="C00000"/>
              </a:solidFill>
            </a:endParaRPr>
          </a:p>
        </p:txBody>
      </p:sp>
      <p:sp>
        <p:nvSpPr>
          <p:cNvPr id="3" name="Subtitle 2"/>
          <p:cNvSpPr>
            <a:spLocks noGrp="1"/>
          </p:cNvSpPr>
          <p:nvPr>
            <p:ph type="subTitle" idx="1"/>
          </p:nvPr>
        </p:nvSpPr>
        <p:spPr>
          <a:xfrm>
            <a:off x="762000" y="1752600"/>
            <a:ext cx="7772400" cy="4800600"/>
          </a:xfrm>
        </p:spPr>
        <p:txBody>
          <a:bodyPr>
            <a:normAutofit fontScale="85000" lnSpcReduction="20000"/>
          </a:bodyPr>
          <a:lstStyle/>
          <a:p>
            <a:pPr algn="just"/>
            <a:r>
              <a:rPr lang="en-US" b="1" dirty="0">
                <a:solidFill>
                  <a:schemeClr val="tx1"/>
                </a:solidFill>
                <a:latin typeface="Times New Roman" pitchFamily="18" charset="0"/>
                <a:cs typeface="Times New Roman" pitchFamily="18" charset="0"/>
              </a:rPr>
              <a:t>6. Modifiability:</a:t>
            </a:r>
            <a:r>
              <a:rPr lang="en-US" dirty="0">
                <a:solidFill>
                  <a:schemeClr val="tx1"/>
                </a:solidFill>
                <a:latin typeface="Times New Roman" pitchFamily="18" charset="0"/>
                <a:cs typeface="Times New Roman" pitchFamily="18" charset="0"/>
              </a:rPr>
              <a:t> SRS should be made as modifiable as likely and should be capable of quickly obtain changes to the system to some extent. Modifications should be perfectly indexed and cross-referenced</a:t>
            </a:r>
            <a:r>
              <a:rPr lang="en-US" dirty="0" smtClean="0">
                <a:solidFill>
                  <a:schemeClr val="tx1"/>
                </a:solidFill>
                <a:latin typeface="Times New Roman" pitchFamily="18" charset="0"/>
                <a:cs typeface="Times New Roman" pitchFamily="18" charset="0"/>
              </a:rPr>
              <a:t>.</a:t>
            </a:r>
          </a:p>
          <a:p>
            <a:pPr algn="just"/>
            <a:r>
              <a:rPr lang="en-US" b="1" dirty="0">
                <a:solidFill>
                  <a:schemeClr val="tx1"/>
                </a:solidFill>
                <a:latin typeface="Times New Roman" pitchFamily="18" charset="0"/>
                <a:cs typeface="Times New Roman" pitchFamily="18" charset="0"/>
              </a:rPr>
              <a:t>7. Verifiability:</a:t>
            </a:r>
            <a:r>
              <a:rPr lang="en-US" dirty="0">
                <a:solidFill>
                  <a:schemeClr val="tx1"/>
                </a:solidFill>
                <a:latin typeface="Times New Roman" pitchFamily="18" charset="0"/>
                <a:cs typeface="Times New Roman" pitchFamily="18" charset="0"/>
              </a:rPr>
              <a:t> SRS is correct when the specified requirements can be verified with a cost-effective system to check whether the final software meets those requirements. The requirements are verified with the help of reviews</a:t>
            </a:r>
            <a:r>
              <a:rPr lang="en-US" dirty="0" smtClean="0">
                <a:solidFill>
                  <a:schemeClr val="tx1"/>
                </a:solidFill>
                <a:latin typeface="Times New Roman" pitchFamily="18" charset="0"/>
                <a:cs typeface="Times New Roman" pitchFamily="18" charset="0"/>
              </a:rPr>
              <a:t>.</a:t>
            </a:r>
          </a:p>
          <a:p>
            <a:pPr algn="just"/>
            <a:r>
              <a:rPr lang="en-US" b="1" dirty="0">
                <a:solidFill>
                  <a:schemeClr val="tx1"/>
                </a:solidFill>
                <a:latin typeface="Times New Roman" pitchFamily="18" charset="0"/>
                <a:cs typeface="Times New Roman" pitchFamily="18" charset="0"/>
              </a:rPr>
              <a:t>8. Traceability:</a:t>
            </a:r>
            <a:r>
              <a:rPr lang="en-US" dirty="0">
                <a:solidFill>
                  <a:schemeClr val="tx1"/>
                </a:solidFill>
                <a:latin typeface="Times New Roman" pitchFamily="18" charset="0"/>
                <a:cs typeface="Times New Roman" pitchFamily="18" charset="0"/>
              </a:rPr>
              <a:t> The SRS is traceable if the origin of each of the requirements is clear and if it facilitates the referencing of each condition in future development or enhancement documentation.</a:t>
            </a:r>
          </a:p>
        </p:txBody>
      </p:sp>
    </p:spTree>
    <p:extLst>
      <p:ext uri="{BB962C8B-B14F-4D97-AF65-F5344CB8AC3E}">
        <p14:creationId xmlns:p14="http://schemas.microsoft.com/office/powerpoint/2010/main" val="379977509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0"/>
            <a:ext cx="7772400" cy="1470025"/>
          </a:xfrm>
        </p:spPr>
        <p:txBody>
          <a:bodyPr>
            <a:normAutofit fontScale="90000"/>
          </a:bodyPr>
          <a:lstStyle/>
          <a:p>
            <a:r>
              <a:rPr lang="en-US" dirty="0">
                <a:solidFill>
                  <a:srgbClr val="C00000"/>
                </a:solidFill>
              </a:rPr>
              <a:t>Software Requirement Specifications</a:t>
            </a:r>
            <a:br>
              <a:rPr lang="en-US" dirty="0">
                <a:solidFill>
                  <a:srgbClr val="C00000"/>
                </a:solidFill>
              </a:rPr>
            </a:br>
            <a:endParaRPr lang="en-US" dirty="0">
              <a:solidFill>
                <a:srgbClr val="C00000"/>
              </a:solidFill>
            </a:endParaRPr>
          </a:p>
        </p:txBody>
      </p:sp>
      <p:sp>
        <p:nvSpPr>
          <p:cNvPr id="3" name="Subtitle 2"/>
          <p:cNvSpPr>
            <a:spLocks noGrp="1"/>
          </p:cNvSpPr>
          <p:nvPr>
            <p:ph type="subTitle" idx="1"/>
          </p:nvPr>
        </p:nvSpPr>
        <p:spPr>
          <a:xfrm>
            <a:off x="838200" y="1752600"/>
            <a:ext cx="7772400" cy="4800600"/>
          </a:xfrm>
        </p:spPr>
        <p:txBody>
          <a:bodyPr>
            <a:normAutofit fontScale="85000" lnSpcReduction="20000"/>
          </a:bodyPr>
          <a:lstStyle/>
          <a:p>
            <a:pPr algn="just"/>
            <a:r>
              <a:rPr lang="en-US" b="1" dirty="0">
                <a:solidFill>
                  <a:schemeClr val="tx1"/>
                </a:solidFill>
                <a:latin typeface="Times New Roman" pitchFamily="18" charset="0"/>
                <a:cs typeface="Times New Roman" pitchFamily="18" charset="0"/>
              </a:rPr>
              <a:t>There are two types of Traceability:</a:t>
            </a:r>
            <a:endParaRPr lang="en-US" dirty="0">
              <a:solidFill>
                <a:schemeClr val="tx1"/>
              </a:solidFill>
              <a:latin typeface="Times New Roman" pitchFamily="18" charset="0"/>
              <a:cs typeface="Times New Roman" pitchFamily="18" charset="0"/>
            </a:endParaRPr>
          </a:p>
          <a:p>
            <a:pPr algn="just"/>
            <a:r>
              <a:rPr lang="en-US" b="1" dirty="0">
                <a:solidFill>
                  <a:schemeClr val="tx1"/>
                </a:solidFill>
                <a:latin typeface="Times New Roman" pitchFamily="18" charset="0"/>
                <a:cs typeface="Times New Roman" pitchFamily="18" charset="0"/>
              </a:rPr>
              <a:t>1. Backward Traceability:</a:t>
            </a:r>
            <a:r>
              <a:rPr lang="en-US" dirty="0">
                <a:solidFill>
                  <a:schemeClr val="tx1"/>
                </a:solidFill>
                <a:latin typeface="Times New Roman" pitchFamily="18" charset="0"/>
                <a:cs typeface="Times New Roman" pitchFamily="18" charset="0"/>
              </a:rPr>
              <a:t> This depends upon each requirement explicitly referencing its source in earlier documents.</a:t>
            </a:r>
          </a:p>
          <a:p>
            <a:pPr algn="just"/>
            <a:r>
              <a:rPr lang="en-US" b="1" dirty="0">
                <a:solidFill>
                  <a:schemeClr val="tx1"/>
                </a:solidFill>
                <a:latin typeface="Times New Roman" pitchFamily="18" charset="0"/>
                <a:cs typeface="Times New Roman" pitchFamily="18" charset="0"/>
              </a:rPr>
              <a:t>2. Forward Traceability:</a:t>
            </a:r>
            <a:r>
              <a:rPr lang="en-US" dirty="0">
                <a:solidFill>
                  <a:schemeClr val="tx1"/>
                </a:solidFill>
                <a:latin typeface="Times New Roman" pitchFamily="18" charset="0"/>
                <a:cs typeface="Times New Roman" pitchFamily="18" charset="0"/>
              </a:rPr>
              <a:t> This depends upon each element in the SRS having a unique name or reference number.</a:t>
            </a:r>
          </a:p>
          <a:p>
            <a:pPr algn="just"/>
            <a:r>
              <a:rPr lang="en-US" dirty="0">
                <a:solidFill>
                  <a:schemeClr val="tx1"/>
                </a:solidFill>
                <a:latin typeface="Times New Roman" pitchFamily="18" charset="0"/>
                <a:cs typeface="Times New Roman" pitchFamily="18" charset="0"/>
              </a:rPr>
              <a:t>The forward traceability of the SRS is especially crucial when the software product enters the operation and maintenance phase. As code and design document is modified, it is necessary to be able to ascertain the complete set of requirements that may be concerned by those modifications.</a:t>
            </a:r>
          </a:p>
        </p:txBody>
      </p:sp>
    </p:spTree>
    <p:extLst>
      <p:ext uri="{BB962C8B-B14F-4D97-AF65-F5344CB8AC3E}">
        <p14:creationId xmlns:p14="http://schemas.microsoft.com/office/powerpoint/2010/main" val="1173073161"/>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0"/>
            <a:ext cx="7772400" cy="1470025"/>
          </a:xfrm>
        </p:spPr>
        <p:txBody>
          <a:bodyPr>
            <a:normAutofit fontScale="90000"/>
          </a:bodyPr>
          <a:lstStyle/>
          <a:p>
            <a:r>
              <a:rPr lang="en-US" dirty="0">
                <a:solidFill>
                  <a:srgbClr val="C00000"/>
                </a:solidFill>
              </a:rPr>
              <a:t>Software Requirement Specifications</a:t>
            </a:r>
            <a:br>
              <a:rPr lang="en-US" dirty="0">
                <a:solidFill>
                  <a:srgbClr val="C00000"/>
                </a:solidFill>
              </a:rPr>
            </a:br>
            <a:endParaRPr lang="en-US" dirty="0">
              <a:solidFill>
                <a:srgbClr val="C00000"/>
              </a:solidFill>
            </a:endParaRPr>
          </a:p>
        </p:txBody>
      </p:sp>
      <p:sp>
        <p:nvSpPr>
          <p:cNvPr id="3" name="Subtitle 2"/>
          <p:cNvSpPr>
            <a:spLocks noGrp="1"/>
          </p:cNvSpPr>
          <p:nvPr>
            <p:ph type="subTitle" idx="1"/>
          </p:nvPr>
        </p:nvSpPr>
        <p:spPr>
          <a:xfrm>
            <a:off x="838200" y="1752600"/>
            <a:ext cx="7772400" cy="4800600"/>
          </a:xfrm>
        </p:spPr>
        <p:txBody>
          <a:bodyPr>
            <a:normAutofit/>
          </a:bodyPr>
          <a:lstStyle/>
          <a:p>
            <a:pPr algn="just"/>
            <a:r>
              <a:rPr lang="en-US" b="1" dirty="0">
                <a:solidFill>
                  <a:schemeClr val="tx1"/>
                </a:solidFill>
                <a:latin typeface="Times New Roman" pitchFamily="18" charset="0"/>
                <a:cs typeface="Times New Roman" pitchFamily="18" charset="0"/>
              </a:rPr>
              <a:t>9. Design Independence:</a:t>
            </a:r>
            <a:r>
              <a:rPr lang="en-US" dirty="0">
                <a:solidFill>
                  <a:schemeClr val="tx1"/>
                </a:solidFill>
                <a:latin typeface="Times New Roman" pitchFamily="18" charset="0"/>
                <a:cs typeface="Times New Roman" pitchFamily="18" charset="0"/>
              </a:rPr>
              <a:t> There should be an option to select from multiple design alternatives for the final system. More specifically, the SRS should not contain any implementation details.</a:t>
            </a:r>
          </a:p>
          <a:p>
            <a:pPr algn="just"/>
            <a:r>
              <a:rPr lang="en-US" b="1" dirty="0">
                <a:solidFill>
                  <a:schemeClr val="tx1"/>
                </a:solidFill>
                <a:latin typeface="Times New Roman" pitchFamily="18" charset="0"/>
                <a:cs typeface="Times New Roman" pitchFamily="18" charset="0"/>
              </a:rPr>
              <a:t>10. Testability:</a:t>
            </a:r>
            <a:r>
              <a:rPr lang="en-US" dirty="0">
                <a:solidFill>
                  <a:schemeClr val="tx1"/>
                </a:solidFill>
                <a:latin typeface="Times New Roman" pitchFamily="18" charset="0"/>
                <a:cs typeface="Times New Roman" pitchFamily="18" charset="0"/>
              </a:rPr>
              <a:t> An SRS should be written in such a method that it is simple to generate test cases and test plans from the report.</a:t>
            </a:r>
          </a:p>
        </p:txBody>
      </p:sp>
    </p:spTree>
    <p:extLst>
      <p:ext uri="{BB962C8B-B14F-4D97-AF65-F5344CB8AC3E}">
        <p14:creationId xmlns:p14="http://schemas.microsoft.com/office/powerpoint/2010/main" val="278418813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0"/>
            <a:ext cx="7772400" cy="1470025"/>
          </a:xfrm>
        </p:spPr>
        <p:txBody>
          <a:bodyPr>
            <a:normAutofit fontScale="90000"/>
          </a:bodyPr>
          <a:lstStyle/>
          <a:p>
            <a:r>
              <a:rPr lang="en-US" dirty="0">
                <a:solidFill>
                  <a:srgbClr val="C00000"/>
                </a:solidFill>
              </a:rPr>
              <a:t>Software Requirement Specifications</a:t>
            </a:r>
            <a:br>
              <a:rPr lang="en-US" dirty="0">
                <a:solidFill>
                  <a:srgbClr val="C00000"/>
                </a:solidFill>
              </a:rPr>
            </a:br>
            <a:endParaRPr lang="en-US" dirty="0">
              <a:solidFill>
                <a:srgbClr val="C00000"/>
              </a:solidFill>
            </a:endParaRPr>
          </a:p>
        </p:txBody>
      </p:sp>
      <p:sp>
        <p:nvSpPr>
          <p:cNvPr id="3" name="Subtitle 2"/>
          <p:cNvSpPr>
            <a:spLocks noGrp="1"/>
          </p:cNvSpPr>
          <p:nvPr>
            <p:ph type="subTitle" idx="1"/>
          </p:nvPr>
        </p:nvSpPr>
        <p:spPr>
          <a:xfrm>
            <a:off x="838200" y="1752600"/>
            <a:ext cx="7772400" cy="4800600"/>
          </a:xfrm>
        </p:spPr>
        <p:txBody>
          <a:bodyPr>
            <a:normAutofit fontScale="85000" lnSpcReduction="10000"/>
          </a:bodyPr>
          <a:lstStyle/>
          <a:p>
            <a:pPr algn="just"/>
            <a:r>
              <a:rPr lang="en-US" b="1" dirty="0">
                <a:solidFill>
                  <a:schemeClr val="tx1"/>
                </a:solidFill>
                <a:latin typeface="Times New Roman" pitchFamily="18" charset="0"/>
                <a:cs typeface="Times New Roman" pitchFamily="18" charset="0"/>
              </a:rPr>
              <a:t>11. Understandable by the customer:</a:t>
            </a:r>
            <a:r>
              <a:rPr lang="en-US" dirty="0">
                <a:solidFill>
                  <a:schemeClr val="tx1"/>
                </a:solidFill>
                <a:latin typeface="Times New Roman" pitchFamily="18" charset="0"/>
                <a:cs typeface="Times New Roman" pitchFamily="18" charset="0"/>
              </a:rPr>
              <a:t> An end user may be an expert in his/her explicit domain but might not be trained in computer science. Hence, the purpose of formal notations and symbols should be avoided too as much extent as possible. The language should be kept simple and clear</a:t>
            </a:r>
            <a:r>
              <a:rPr lang="en-US" dirty="0" smtClean="0">
                <a:solidFill>
                  <a:schemeClr val="tx1"/>
                </a:solidFill>
                <a:latin typeface="Times New Roman" pitchFamily="18" charset="0"/>
                <a:cs typeface="Times New Roman" pitchFamily="18" charset="0"/>
              </a:rPr>
              <a:t>.</a:t>
            </a:r>
          </a:p>
          <a:p>
            <a:pPr algn="just"/>
            <a:r>
              <a:rPr lang="en-US" b="1" dirty="0">
                <a:solidFill>
                  <a:schemeClr val="tx1"/>
                </a:solidFill>
                <a:latin typeface="Times New Roman" pitchFamily="18" charset="0"/>
                <a:cs typeface="Times New Roman" pitchFamily="18" charset="0"/>
              </a:rPr>
              <a:t>12. The right level of abstraction:</a:t>
            </a:r>
            <a:r>
              <a:rPr lang="en-US" dirty="0">
                <a:solidFill>
                  <a:schemeClr val="tx1"/>
                </a:solidFill>
                <a:latin typeface="Times New Roman" pitchFamily="18" charset="0"/>
                <a:cs typeface="Times New Roman" pitchFamily="18" charset="0"/>
              </a:rPr>
              <a:t> If the SRS is written for the requirements stage, the details should be explained explicitly. </a:t>
            </a:r>
            <a:r>
              <a:rPr lang="en-US" dirty="0" err="1">
                <a:solidFill>
                  <a:schemeClr val="tx1"/>
                </a:solidFill>
                <a:latin typeface="Times New Roman" pitchFamily="18" charset="0"/>
                <a:cs typeface="Times New Roman" pitchFamily="18" charset="0"/>
              </a:rPr>
              <a:t>Whereas,for</a:t>
            </a:r>
            <a:r>
              <a:rPr lang="en-US" dirty="0">
                <a:solidFill>
                  <a:schemeClr val="tx1"/>
                </a:solidFill>
                <a:latin typeface="Times New Roman" pitchFamily="18" charset="0"/>
                <a:cs typeface="Times New Roman" pitchFamily="18" charset="0"/>
              </a:rPr>
              <a:t> a feasibility study, fewer analysis can be used. Hence, the level of abstraction modifies according to the objective of the SRS.</a:t>
            </a:r>
          </a:p>
        </p:txBody>
      </p:sp>
    </p:spTree>
    <p:extLst>
      <p:ext uri="{BB962C8B-B14F-4D97-AF65-F5344CB8AC3E}">
        <p14:creationId xmlns:p14="http://schemas.microsoft.com/office/powerpoint/2010/main" val="409206825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0"/>
            <a:ext cx="7772400" cy="1470025"/>
          </a:xfrm>
        </p:spPr>
        <p:txBody>
          <a:bodyPr>
            <a:normAutofit fontScale="90000"/>
          </a:bodyPr>
          <a:lstStyle/>
          <a:p>
            <a:r>
              <a:rPr lang="en-US" dirty="0">
                <a:solidFill>
                  <a:srgbClr val="C00000"/>
                </a:solidFill>
              </a:rPr>
              <a:t>Software Requirement Specifications</a:t>
            </a:r>
            <a:br>
              <a:rPr lang="en-US" dirty="0">
                <a:solidFill>
                  <a:srgbClr val="C00000"/>
                </a:solidFill>
              </a:rPr>
            </a:br>
            <a:endParaRPr lang="en-US" dirty="0">
              <a:solidFill>
                <a:srgbClr val="C00000"/>
              </a:solidFill>
            </a:endParaRPr>
          </a:p>
        </p:txBody>
      </p:sp>
      <p:sp>
        <p:nvSpPr>
          <p:cNvPr id="3" name="Subtitle 2"/>
          <p:cNvSpPr>
            <a:spLocks noGrp="1"/>
          </p:cNvSpPr>
          <p:nvPr>
            <p:ph type="subTitle" idx="1"/>
          </p:nvPr>
        </p:nvSpPr>
        <p:spPr>
          <a:xfrm>
            <a:off x="838200" y="1752600"/>
            <a:ext cx="7772400" cy="4800600"/>
          </a:xfrm>
        </p:spPr>
        <p:txBody>
          <a:bodyPr>
            <a:normAutofit fontScale="77500" lnSpcReduction="20000"/>
          </a:bodyPr>
          <a:lstStyle/>
          <a:p>
            <a:pPr algn="just"/>
            <a:r>
              <a:rPr lang="en-US" b="1" u="sng" dirty="0">
                <a:solidFill>
                  <a:schemeClr val="tx1"/>
                </a:solidFill>
                <a:latin typeface="Times New Roman" pitchFamily="18" charset="0"/>
                <a:cs typeface="Times New Roman" pitchFamily="18" charset="0"/>
              </a:rPr>
              <a:t>Properties of a good SRS </a:t>
            </a:r>
            <a:r>
              <a:rPr lang="en-US" b="1" u="sng" dirty="0" smtClean="0">
                <a:solidFill>
                  <a:schemeClr val="tx1"/>
                </a:solidFill>
                <a:latin typeface="Times New Roman" pitchFamily="18" charset="0"/>
                <a:cs typeface="Times New Roman" pitchFamily="18" charset="0"/>
              </a:rPr>
              <a:t>document:</a:t>
            </a:r>
            <a:endParaRPr lang="en-US" b="1" u="sng" dirty="0">
              <a:solidFill>
                <a:schemeClr val="tx1"/>
              </a:solidFill>
              <a:latin typeface="Times New Roman" pitchFamily="18" charset="0"/>
              <a:cs typeface="Times New Roman" pitchFamily="18" charset="0"/>
            </a:endParaRPr>
          </a:p>
          <a:p>
            <a:pPr algn="just"/>
            <a:r>
              <a:rPr lang="en-US" b="1" dirty="0">
                <a:solidFill>
                  <a:schemeClr val="tx1"/>
                </a:solidFill>
                <a:latin typeface="Times New Roman" pitchFamily="18" charset="0"/>
                <a:cs typeface="Times New Roman" pitchFamily="18" charset="0"/>
              </a:rPr>
              <a:t>The essential properties of a good SRS document are the following:</a:t>
            </a:r>
            <a:endParaRPr lang="en-US" dirty="0">
              <a:solidFill>
                <a:schemeClr val="tx1"/>
              </a:solidFill>
              <a:latin typeface="Times New Roman" pitchFamily="18" charset="0"/>
              <a:cs typeface="Times New Roman" pitchFamily="18" charset="0"/>
            </a:endParaRPr>
          </a:p>
          <a:p>
            <a:pPr algn="just"/>
            <a:r>
              <a:rPr lang="en-US" b="1" dirty="0">
                <a:solidFill>
                  <a:schemeClr val="tx1"/>
                </a:solidFill>
                <a:latin typeface="Times New Roman" pitchFamily="18" charset="0"/>
                <a:cs typeface="Times New Roman" pitchFamily="18" charset="0"/>
              </a:rPr>
              <a:t>Concise:</a:t>
            </a:r>
            <a:r>
              <a:rPr lang="en-US" dirty="0">
                <a:solidFill>
                  <a:schemeClr val="tx1"/>
                </a:solidFill>
                <a:latin typeface="Times New Roman" pitchFamily="18" charset="0"/>
                <a:cs typeface="Times New Roman" pitchFamily="18" charset="0"/>
              </a:rPr>
              <a:t> The SRS report should be concise and at the same time, unambiguous, consistent, and complete. Verbose and irrelevant descriptions decrease readability and also increase error possibilities</a:t>
            </a:r>
            <a:r>
              <a:rPr lang="en-US" dirty="0" smtClean="0">
                <a:solidFill>
                  <a:schemeClr val="tx1"/>
                </a:solidFill>
                <a:latin typeface="Times New Roman" pitchFamily="18" charset="0"/>
                <a:cs typeface="Times New Roman" pitchFamily="18" charset="0"/>
              </a:rPr>
              <a:t>.</a:t>
            </a:r>
          </a:p>
          <a:p>
            <a:pPr algn="just"/>
            <a:r>
              <a:rPr lang="en-US" b="1" dirty="0">
                <a:solidFill>
                  <a:schemeClr val="tx1"/>
                </a:solidFill>
                <a:latin typeface="Times New Roman" pitchFamily="18" charset="0"/>
                <a:cs typeface="Times New Roman" pitchFamily="18" charset="0"/>
              </a:rPr>
              <a:t>Structured:</a:t>
            </a:r>
            <a:r>
              <a:rPr lang="en-US" dirty="0">
                <a:solidFill>
                  <a:schemeClr val="tx1"/>
                </a:solidFill>
                <a:latin typeface="Times New Roman" pitchFamily="18" charset="0"/>
                <a:cs typeface="Times New Roman" pitchFamily="18" charset="0"/>
              </a:rPr>
              <a:t> It should be well-structured. A well-structured document is simple to understand and modify. In practice, the SRS document undergoes several revisions to cope up with the user requirements. Often, user requirements evolve over a period of time. Therefore, to make the modifications to the SRS document easy, it is vital to make the report well-structured.</a:t>
            </a:r>
          </a:p>
        </p:txBody>
      </p:sp>
    </p:spTree>
    <p:extLst>
      <p:ext uri="{BB962C8B-B14F-4D97-AF65-F5344CB8AC3E}">
        <p14:creationId xmlns:p14="http://schemas.microsoft.com/office/powerpoint/2010/main" val="1746454885"/>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0"/>
            <a:ext cx="7772400" cy="1470025"/>
          </a:xfrm>
        </p:spPr>
        <p:txBody>
          <a:bodyPr>
            <a:normAutofit fontScale="90000"/>
          </a:bodyPr>
          <a:lstStyle/>
          <a:p>
            <a:r>
              <a:rPr lang="en-US" dirty="0">
                <a:solidFill>
                  <a:srgbClr val="C00000"/>
                </a:solidFill>
              </a:rPr>
              <a:t>Software Requirement Specifications</a:t>
            </a:r>
            <a:br>
              <a:rPr lang="en-US" dirty="0">
                <a:solidFill>
                  <a:srgbClr val="C00000"/>
                </a:solidFill>
              </a:rPr>
            </a:br>
            <a:endParaRPr lang="en-US" dirty="0">
              <a:solidFill>
                <a:srgbClr val="C00000"/>
              </a:solidFill>
            </a:endParaRPr>
          </a:p>
        </p:txBody>
      </p:sp>
      <p:sp>
        <p:nvSpPr>
          <p:cNvPr id="3" name="Subtitle 2"/>
          <p:cNvSpPr>
            <a:spLocks noGrp="1"/>
          </p:cNvSpPr>
          <p:nvPr>
            <p:ph type="subTitle" idx="1"/>
          </p:nvPr>
        </p:nvSpPr>
        <p:spPr>
          <a:xfrm>
            <a:off x="838200" y="1752600"/>
            <a:ext cx="7772400" cy="4800600"/>
          </a:xfrm>
        </p:spPr>
        <p:txBody>
          <a:bodyPr>
            <a:normAutofit fontScale="92500"/>
          </a:bodyPr>
          <a:lstStyle/>
          <a:p>
            <a:pPr algn="just"/>
            <a:r>
              <a:rPr lang="en-US" b="1" dirty="0">
                <a:solidFill>
                  <a:schemeClr val="tx1"/>
                </a:solidFill>
                <a:latin typeface="Times New Roman" pitchFamily="18" charset="0"/>
                <a:cs typeface="Times New Roman" pitchFamily="18" charset="0"/>
              </a:rPr>
              <a:t>Black-box view:</a:t>
            </a:r>
            <a:r>
              <a:rPr lang="en-US" dirty="0">
                <a:solidFill>
                  <a:schemeClr val="tx1"/>
                </a:solidFill>
                <a:latin typeface="Times New Roman" pitchFamily="18" charset="0"/>
                <a:cs typeface="Times New Roman" pitchFamily="18" charset="0"/>
              </a:rPr>
              <a:t> It should only define what the system should do and refrain from stating how to do these. This means that the SRS document should define the external behavior of the system and not discuss the implementation issues. The SRS report should view the system to be developed as a black box and should define the externally visible behavior of the system. For this reason, the SRS report is also known as the black-box specification of a system.</a:t>
            </a:r>
          </a:p>
        </p:txBody>
      </p:sp>
    </p:spTree>
    <p:extLst>
      <p:ext uri="{BB962C8B-B14F-4D97-AF65-F5344CB8AC3E}">
        <p14:creationId xmlns:p14="http://schemas.microsoft.com/office/powerpoint/2010/main" val="83076387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81000"/>
            <a:ext cx="7772400" cy="1470025"/>
          </a:xfrm>
        </p:spPr>
        <p:txBody>
          <a:bodyPr>
            <a:normAutofit fontScale="90000"/>
          </a:bodyPr>
          <a:lstStyle/>
          <a:p>
            <a:r>
              <a:rPr lang="en-US" dirty="0">
                <a:solidFill>
                  <a:srgbClr val="C00000"/>
                </a:solidFill>
              </a:rPr>
              <a:t>Software Requirement Specifications</a:t>
            </a:r>
            <a:br>
              <a:rPr lang="en-US" dirty="0">
                <a:solidFill>
                  <a:srgbClr val="C00000"/>
                </a:solidFill>
              </a:rPr>
            </a:br>
            <a:endParaRPr lang="en-US" dirty="0">
              <a:solidFill>
                <a:srgbClr val="C00000"/>
              </a:solidFill>
            </a:endParaRPr>
          </a:p>
        </p:txBody>
      </p:sp>
      <p:sp>
        <p:nvSpPr>
          <p:cNvPr id="3" name="Subtitle 2"/>
          <p:cNvSpPr>
            <a:spLocks noGrp="1"/>
          </p:cNvSpPr>
          <p:nvPr>
            <p:ph type="subTitle" idx="1"/>
          </p:nvPr>
        </p:nvSpPr>
        <p:spPr>
          <a:xfrm>
            <a:off x="762000" y="1600200"/>
            <a:ext cx="7772400" cy="4800600"/>
          </a:xfrm>
        </p:spPr>
        <p:txBody>
          <a:bodyPr>
            <a:normAutofit fontScale="92500" lnSpcReduction="10000"/>
          </a:bodyPr>
          <a:lstStyle/>
          <a:p>
            <a:pPr algn="just"/>
            <a:r>
              <a:rPr lang="en-US" b="1" dirty="0">
                <a:solidFill>
                  <a:schemeClr val="tx1"/>
                </a:solidFill>
                <a:latin typeface="Times New Roman" pitchFamily="18" charset="0"/>
                <a:cs typeface="Times New Roman" pitchFamily="18" charset="0"/>
              </a:rPr>
              <a:t>Conceptual integrity:</a:t>
            </a:r>
            <a:r>
              <a:rPr lang="en-US" dirty="0">
                <a:solidFill>
                  <a:schemeClr val="tx1"/>
                </a:solidFill>
                <a:latin typeface="Times New Roman" pitchFamily="18" charset="0"/>
                <a:cs typeface="Times New Roman" pitchFamily="18" charset="0"/>
              </a:rPr>
              <a:t> It should show conceptual integrity so that the reader can merely understand it. Response to undesired events: It should characterize acceptable responses to unwanted events. These are called system response to exceptional conditions.</a:t>
            </a:r>
          </a:p>
          <a:p>
            <a:pPr algn="just"/>
            <a:r>
              <a:rPr lang="en-US" b="1" dirty="0">
                <a:solidFill>
                  <a:schemeClr val="tx1"/>
                </a:solidFill>
                <a:latin typeface="Times New Roman" pitchFamily="18" charset="0"/>
                <a:cs typeface="Times New Roman" pitchFamily="18" charset="0"/>
              </a:rPr>
              <a:t>Verifiable:</a:t>
            </a:r>
            <a:r>
              <a:rPr lang="en-US" dirty="0">
                <a:solidFill>
                  <a:schemeClr val="tx1"/>
                </a:solidFill>
                <a:latin typeface="Times New Roman" pitchFamily="18" charset="0"/>
                <a:cs typeface="Times New Roman" pitchFamily="18" charset="0"/>
              </a:rPr>
              <a:t> All requirements of the system, as documented in the SRS document, should be correct. This means that it should be possible to decide whether or not requirements have been met in an implementation.</a:t>
            </a:r>
          </a:p>
        </p:txBody>
      </p:sp>
    </p:spTree>
    <p:extLst>
      <p:ext uri="{BB962C8B-B14F-4D97-AF65-F5344CB8AC3E}">
        <p14:creationId xmlns:p14="http://schemas.microsoft.com/office/powerpoint/2010/main" val="40865466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TotalTime>
  <Words>278</Words>
  <Application>Microsoft Office PowerPoint</Application>
  <PresentationFormat>On-screen Show (4:3)</PresentationFormat>
  <Paragraphs>55</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Software Requirement Specifications </vt:lpstr>
      <vt:lpstr>Software Requirement Specifications </vt:lpstr>
      <vt:lpstr>Characteristics of good SRS </vt:lpstr>
      <vt:lpstr>Software Requirement Specifications </vt:lpstr>
      <vt:lpstr>Software Requirement Specifications </vt:lpstr>
      <vt:lpstr>Software Requirement Specifications </vt:lpstr>
      <vt:lpstr>Software Requirement Specifications </vt:lpstr>
      <vt:lpstr>Software Requirement Specifications </vt:lpstr>
      <vt:lpstr>Software Requirement Specifications </vt:lpstr>
      <vt:lpstr>Software Requirement Specifications </vt:lpstr>
      <vt:lpstr>Software Requirement Specifications </vt:lpstr>
      <vt:lpstr>Software Requirement Specifications </vt:lpstr>
      <vt:lpstr>Software Requirement Specifications </vt:lpstr>
      <vt:lpstr>Software Requirement Specifications </vt:lpstr>
      <vt:lpstr>Software Requirement Specifications </vt:lpstr>
      <vt:lpstr>Software Requirement Specifications </vt:lpstr>
      <vt:lpstr>Software Requirement Specifications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Software Requirement Specifications</dc:title>
  <dc:creator>tara</dc:creator>
  <cp:lastModifiedBy>tara</cp:lastModifiedBy>
  <cp:revision>3</cp:revision>
  <dcterms:created xsi:type="dcterms:W3CDTF">2022-10-11T04:52:33Z</dcterms:created>
  <dcterms:modified xsi:type="dcterms:W3CDTF">2022-10-11T05:18:17Z</dcterms:modified>
</cp:coreProperties>
</file>