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1" r:id="rId6"/>
    <p:sldId id="262" r:id="rId7"/>
    <p:sldId id="263" r:id="rId8"/>
    <p:sldId id="264" r:id="rId9"/>
    <p:sldId id="265" r:id="rId1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9" d="100"/>
          <a:sy n="69" d="100"/>
        </p:scale>
        <p:origin x="-1416" y="-96"/>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2D75C209-6341-4B02-8229-86D5F77ABC30}" type="datetimeFigureOut">
              <a:rPr lang="en-US" smtClean="0"/>
              <a:t>9/19/2022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201CCF0-8946-48DA-A275-20B6FB59D0A4}" type="slidenum">
              <a:rPr lang="en-US" smtClean="0"/>
              <a:t>‹#›</a:t>
            </a:fld>
            <a:endParaRPr lang="en-US"/>
          </a:p>
        </p:txBody>
      </p:sp>
    </p:spTree>
    <p:extLst>
      <p:ext uri="{BB962C8B-B14F-4D97-AF65-F5344CB8AC3E}">
        <p14:creationId xmlns:p14="http://schemas.microsoft.com/office/powerpoint/2010/main" val="4845723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D75C209-6341-4B02-8229-86D5F77ABC30}" type="datetimeFigureOut">
              <a:rPr lang="en-US" smtClean="0"/>
              <a:t>9/19/2022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201CCF0-8946-48DA-A275-20B6FB59D0A4}" type="slidenum">
              <a:rPr lang="en-US" smtClean="0"/>
              <a:t>‹#›</a:t>
            </a:fld>
            <a:endParaRPr lang="en-US"/>
          </a:p>
        </p:txBody>
      </p:sp>
    </p:spTree>
    <p:extLst>
      <p:ext uri="{BB962C8B-B14F-4D97-AF65-F5344CB8AC3E}">
        <p14:creationId xmlns:p14="http://schemas.microsoft.com/office/powerpoint/2010/main" val="23307792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2D75C209-6341-4B02-8229-86D5F77ABC30}" type="datetimeFigureOut">
              <a:rPr lang="en-US" smtClean="0"/>
              <a:t>9/19/2022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201CCF0-8946-48DA-A275-20B6FB59D0A4}" type="slidenum">
              <a:rPr lang="en-US" smtClean="0"/>
              <a:t>‹#›</a:t>
            </a:fld>
            <a:endParaRPr lang="en-US"/>
          </a:p>
        </p:txBody>
      </p:sp>
    </p:spTree>
    <p:extLst>
      <p:ext uri="{BB962C8B-B14F-4D97-AF65-F5344CB8AC3E}">
        <p14:creationId xmlns:p14="http://schemas.microsoft.com/office/powerpoint/2010/main" val="33292294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2D75C209-6341-4B02-8229-86D5F77ABC30}" type="datetimeFigureOut">
              <a:rPr lang="en-US" smtClean="0"/>
              <a:t>9/19/2022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201CCF0-8946-48DA-A275-20B6FB59D0A4}" type="slidenum">
              <a:rPr lang="en-US" smtClean="0"/>
              <a:t>‹#›</a:t>
            </a:fld>
            <a:endParaRPr lang="en-US"/>
          </a:p>
        </p:txBody>
      </p:sp>
    </p:spTree>
    <p:extLst>
      <p:ext uri="{BB962C8B-B14F-4D97-AF65-F5344CB8AC3E}">
        <p14:creationId xmlns:p14="http://schemas.microsoft.com/office/powerpoint/2010/main" val="4765715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2D75C209-6341-4B02-8229-86D5F77ABC30}" type="datetimeFigureOut">
              <a:rPr lang="en-US" smtClean="0"/>
              <a:t>9/19/2022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201CCF0-8946-48DA-A275-20B6FB59D0A4}" type="slidenum">
              <a:rPr lang="en-US" smtClean="0"/>
              <a:t>‹#›</a:t>
            </a:fld>
            <a:endParaRPr lang="en-US"/>
          </a:p>
        </p:txBody>
      </p:sp>
    </p:spTree>
    <p:extLst>
      <p:ext uri="{BB962C8B-B14F-4D97-AF65-F5344CB8AC3E}">
        <p14:creationId xmlns:p14="http://schemas.microsoft.com/office/powerpoint/2010/main" val="24256997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2D75C209-6341-4B02-8229-86D5F77ABC30}" type="datetimeFigureOut">
              <a:rPr lang="en-US" smtClean="0"/>
              <a:t>9/19/2022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201CCF0-8946-48DA-A275-20B6FB59D0A4}" type="slidenum">
              <a:rPr lang="en-US" smtClean="0"/>
              <a:t>‹#›</a:t>
            </a:fld>
            <a:endParaRPr lang="en-US"/>
          </a:p>
        </p:txBody>
      </p:sp>
    </p:spTree>
    <p:extLst>
      <p:ext uri="{BB962C8B-B14F-4D97-AF65-F5344CB8AC3E}">
        <p14:creationId xmlns:p14="http://schemas.microsoft.com/office/powerpoint/2010/main" val="14999741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D75C209-6341-4B02-8229-86D5F77ABC30}" type="datetimeFigureOut">
              <a:rPr lang="en-US" smtClean="0"/>
              <a:t>9/19/2022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201CCF0-8946-48DA-A275-20B6FB59D0A4}" type="slidenum">
              <a:rPr lang="en-US" smtClean="0"/>
              <a:t>‹#›</a:t>
            </a:fld>
            <a:endParaRPr lang="en-US"/>
          </a:p>
        </p:txBody>
      </p:sp>
    </p:spTree>
    <p:extLst>
      <p:ext uri="{BB962C8B-B14F-4D97-AF65-F5344CB8AC3E}">
        <p14:creationId xmlns:p14="http://schemas.microsoft.com/office/powerpoint/2010/main" val="20486464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D75C209-6341-4B02-8229-86D5F77ABC30}" type="datetimeFigureOut">
              <a:rPr lang="en-US" smtClean="0"/>
              <a:t>9/19/2022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201CCF0-8946-48DA-A275-20B6FB59D0A4}" type="slidenum">
              <a:rPr lang="en-US" smtClean="0"/>
              <a:t>‹#›</a:t>
            </a:fld>
            <a:endParaRPr lang="en-US"/>
          </a:p>
        </p:txBody>
      </p:sp>
    </p:spTree>
    <p:extLst>
      <p:ext uri="{BB962C8B-B14F-4D97-AF65-F5344CB8AC3E}">
        <p14:creationId xmlns:p14="http://schemas.microsoft.com/office/powerpoint/2010/main" val="28422960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D75C209-6341-4B02-8229-86D5F77ABC30}" type="datetimeFigureOut">
              <a:rPr lang="en-US" smtClean="0"/>
              <a:t>9/19/2022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201CCF0-8946-48DA-A275-20B6FB59D0A4}" type="slidenum">
              <a:rPr lang="en-US" smtClean="0"/>
              <a:t>‹#›</a:t>
            </a:fld>
            <a:endParaRPr lang="en-US"/>
          </a:p>
        </p:txBody>
      </p:sp>
    </p:spTree>
    <p:extLst>
      <p:ext uri="{BB962C8B-B14F-4D97-AF65-F5344CB8AC3E}">
        <p14:creationId xmlns:p14="http://schemas.microsoft.com/office/powerpoint/2010/main" val="6844733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D75C209-6341-4B02-8229-86D5F77ABC30}" type="datetimeFigureOut">
              <a:rPr lang="en-US" smtClean="0"/>
              <a:t>9/19/2022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201CCF0-8946-48DA-A275-20B6FB59D0A4}" type="slidenum">
              <a:rPr lang="en-US" smtClean="0"/>
              <a:t>‹#›</a:t>
            </a:fld>
            <a:endParaRPr lang="en-US"/>
          </a:p>
        </p:txBody>
      </p:sp>
    </p:spTree>
    <p:extLst>
      <p:ext uri="{BB962C8B-B14F-4D97-AF65-F5344CB8AC3E}">
        <p14:creationId xmlns:p14="http://schemas.microsoft.com/office/powerpoint/2010/main" val="9020219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D75C209-6341-4B02-8229-86D5F77ABC30}" type="datetimeFigureOut">
              <a:rPr lang="en-US" smtClean="0"/>
              <a:t>9/19/2022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201CCF0-8946-48DA-A275-20B6FB59D0A4}" type="slidenum">
              <a:rPr lang="en-US" smtClean="0"/>
              <a:t>‹#›</a:t>
            </a:fld>
            <a:endParaRPr lang="en-US"/>
          </a:p>
        </p:txBody>
      </p:sp>
    </p:spTree>
    <p:extLst>
      <p:ext uri="{BB962C8B-B14F-4D97-AF65-F5344CB8AC3E}">
        <p14:creationId xmlns:p14="http://schemas.microsoft.com/office/powerpoint/2010/main" val="15283453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D75C209-6341-4B02-8229-86D5F77ABC30}" type="datetimeFigureOut">
              <a:rPr lang="en-US" smtClean="0"/>
              <a:t>9/19/2022</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201CCF0-8946-48DA-A275-20B6FB59D0A4}" type="slidenum">
              <a:rPr lang="en-US" smtClean="0"/>
              <a:t>‹#›</a:t>
            </a:fld>
            <a:endParaRPr lang="en-US"/>
          </a:p>
        </p:txBody>
      </p:sp>
    </p:spTree>
    <p:extLst>
      <p:ext uri="{BB962C8B-B14F-4D97-AF65-F5344CB8AC3E}">
        <p14:creationId xmlns:p14="http://schemas.microsoft.com/office/powerpoint/2010/main" val="164757279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381001"/>
            <a:ext cx="7772400" cy="1066800"/>
          </a:xfrm>
        </p:spPr>
        <p:txBody>
          <a:bodyPr>
            <a:normAutofit fontScale="90000"/>
          </a:bodyPr>
          <a:lstStyle/>
          <a:p>
            <a:r>
              <a:rPr lang="en-US" dirty="0">
                <a:solidFill>
                  <a:srgbClr val="C00000"/>
                </a:solidFill>
              </a:rPr>
              <a:t>Software Metrics</a:t>
            </a:r>
            <a:br>
              <a:rPr lang="en-US" dirty="0">
                <a:solidFill>
                  <a:srgbClr val="C00000"/>
                </a:solidFill>
              </a:rPr>
            </a:br>
            <a:endParaRPr lang="en-US" dirty="0">
              <a:solidFill>
                <a:srgbClr val="C00000"/>
              </a:solidFill>
            </a:endParaRPr>
          </a:p>
        </p:txBody>
      </p:sp>
      <p:sp>
        <p:nvSpPr>
          <p:cNvPr id="3" name="Subtitle 2"/>
          <p:cNvSpPr>
            <a:spLocks noGrp="1"/>
          </p:cNvSpPr>
          <p:nvPr>
            <p:ph type="subTitle" idx="1"/>
          </p:nvPr>
        </p:nvSpPr>
        <p:spPr>
          <a:xfrm>
            <a:off x="685800" y="1295400"/>
            <a:ext cx="8001000" cy="5181600"/>
          </a:xfrm>
        </p:spPr>
        <p:txBody>
          <a:bodyPr>
            <a:normAutofit fontScale="92500" lnSpcReduction="10000"/>
          </a:bodyPr>
          <a:lstStyle/>
          <a:p>
            <a:pPr algn="just"/>
            <a:r>
              <a:rPr lang="en-US" dirty="0" smtClean="0">
                <a:solidFill>
                  <a:schemeClr val="tx1"/>
                </a:solidFill>
                <a:latin typeface="Times New Roman" pitchFamily="18" charset="0"/>
                <a:cs typeface="Times New Roman" pitchFamily="18" charset="0"/>
              </a:rPr>
              <a:t>	A </a:t>
            </a:r>
            <a:r>
              <a:rPr lang="en-US" dirty="0">
                <a:solidFill>
                  <a:schemeClr val="tx1"/>
                </a:solidFill>
                <a:latin typeface="Times New Roman" pitchFamily="18" charset="0"/>
                <a:cs typeface="Times New Roman" pitchFamily="18" charset="0"/>
              </a:rPr>
              <a:t>software metric is a measure of software characteristics which are measurable or countable. Software metrics are valuable for many reasons, including measuring software performance, planning work items, measuring productivity, and many other uses.</a:t>
            </a:r>
          </a:p>
          <a:p>
            <a:pPr algn="just"/>
            <a:r>
              <a:rPr lang="en-US" dirty="0" smtClean="0">
                <a:solidFill>
                  <a:schemeClr val="tx1"/>
                </a:solidFill>
                <a:latin typeface="Times New Roman" pitchFamily="18" charset="0"/>
                <a:cs typeface="Times New Roman" pitchFamily="18" charset="0"/>
              </a:rPr>
              <a:t>	Within </a:t>
            </a:r>
            <a:r>
              <a:rPr lang="en-US" dirty="0">
                <a:solidFill>
                  <a:schemeClr val="tx1"/>
                </a:solidFill>
                <a:latin typeface="Times New Roman" pitchFamily="18" charset="0"/>
                <a:cs typeface="Times New Roman" pitchFamily="18" charset="0"/>
              </a:rPr>
              <a:t>the software development process, many metrics are that are all connected. Software metrics are similar to the four functions of management: Planning, Organization, Control, or Improvement.</a:t>
            </a:r>
          </a:p>
          <a:p>
            <a:pPr algn="just"/>
            <a:endParaRPr lang="en-US"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14261138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762000"/>
            <a:ext cx="7772400" cy="1066800"/>
          </a:xfrm>
        </p:spPr>
        <p:txBody>
          <a:bodyPr>
            <a:normAutofit fontScale="90000"/>
          </a:bodyPr>
          <a:lstStyle/>
          <a:p>
            <a:r>
              <a:rPr lang="en-US" u="sng" dirty="0">
                <a:solidFill>
                  <a:srgbClr val="C00000"/>
                </a:solidFill>
              </a:rPr>
              <a:t>Classification of Software Metrics</a:t>
            </a:r>
            <a:br>
              <a:rPr lang="en-US" u="sng" dirty="0">
                <a:solidFill>
                  <a:srgbClr val="C00000"/>
                </a:solidFill>
              </a:rPr>
            </a:br>
            <a:r>
              <a:rPr lang="en-US" u="sng" dirty="0">
                <a:solidFill>
                  <a:srgbClr val="C00000"/>
                </a:solidFill>
              </a:rPr>
              <a:t/>
            </a:r>
            <a:br>
              <a:rPr lang="en-US" u="sng" dirty="0">
                <a:solidFill>
                  <a:srgbClr val="C00000"/>
                </a:solidFill>
              </a:rPr>
            </a:br>
            <a:endParaRPr lang="en-US" u="sng" dirty="0">
              <a:solidFill>
                <a:srgbClr val="C00000"/>
              </a:solidFill>
            </a:endParaRPr>
          </a:p>
        </p:txBody>
      </p:sp>
      <p:sp>
        <p:nvSpPr>
          <p:cNvPr id="3" name="Subtitle 2"/>
          <p:cNvSpPr>
            <a:spLocks noGrp="1"/>
          </p:cNvSpPr>
          <p:nvPr>
            <p:ph type="subTitle" idx="1"/>
          </p:nvPr>
        </p:nvSpPr>
        <p:spPr>
          <a:xfrm>
            <a:off x="685800" y="1676400"/>
            <a:ext cx="8001000" cy="5181600"/>
          </a:xfrm>
        </p:spPr>
        <p:txBody>
          <a:bodyPr>
            <a:normAutofit/>
          </a:bodyPr>
          <a:lstStyle/>
          <a:p>
            <a:pPr algn="just"/>
            <a:r>
              <a:rPr lang="en-US" b="1" dirty="0" smtClean="0">
                <a:solidFill>
                  <a:schemeClr val="tx1"/>
                </a:solidFill>
                <a:latin typeface="Times New Roman" pitchFamily="18" charset="0"/>
                <a:cs typeface="Times New Roman" pitchFamily="18" charset="0"/>
              </a:rPr>
              <a:t>Software </a:t>
            </a:r>
            <a:r>
              <a:rPr lang="en-US" b="1" dirty="0">
                <a:solidFill>
                  <a:schemeClr val="tx1"/>
                </a:solidFill>
                <a:latin typeface="Times New Roman" pitchFamily="18" charset="0"/>
                <a:cs typeface="Times New Roman" pitchFamily="18" charset="0"/>
              </a:rPr>
              <a:t>metrics can be classified into two types as follows:</a:t>
            </a:r>
            <a:endParaRPr lang="en-US" dirty="0">
              <a:solidFill>
                <a:schemeClr val="tx1"/>
              </a:solidFill>
              <a:latin typeface="Times New Roman" pitchFamily="18" charset="0"/>
              <a:cs typeface="Times New Roman" pitchFamily="18" charset="0"/>
            </a:endParaRPr>
          </a:p>
          <a:p>
            <a:pPr algn="just"/>
            <a:r>
              <a:rPr lang="en-US" b="1" dirty="0">
                <a:solidFill>
                  <a:schemeClr val="tx1"/>
                </a:solidFill>
                <a:latin typeface="Times New Roman" pitchFamily="18" charset="0"/>
                <a:cs typeface="Times New Roman" pitchFamily="18" charset="0"/>
              </a:rPr>
              <a:t>1. Product Metrics:</a:t>
            </a:r>
            <a:r>
              <a:rPr lang="en-US" dirty="0">
                <a:solidFill>
                  <a:schemeClr val="tx1"/>
                </a:solidFill>
                <a:latin typeface="Times New Roman" pitchFamily="18" charset="0"/>
                <a:cs typeface="Times New Roman" pitchFamily="18" charset="0"/>
              </a:rPr>
              <a:t> These are the measures of various characteristics of the software product. The two important software characteristics are</a:t>
            </a:r>
          </a:p>
          <a:p>
            <a:pPr algn="just"/>
            <a:r>
              <a:rPr lang="en-US" dirty="0" smtClean="0">
                <a:solidFill>
                  <a:schemeClr val="tx1"/>
                </a:solidFill>
                <a:latin typeface="Times New Roman" pitchFamily="18" charset="0"/>
                <a:cs typeface="Times New Roman" pitchFamily="18" charset="0"/>
              </a:rPr>
              <a:t>	a) Size </a:t>
            </a:r>
            <a:r>
              <a:rPr lang="en-US" dirty="0">
                <a:solidFill>
                  <a:schemeClr val="tx1"/>
                </a:solidFill>
                <a:latin typeface="Times New Roman" pitchFamily="18" charset="0"/>
                <a:cs typeface="Times New Roman" pitchFamily="18" charset="0"/>
              </a:rPr>
              <a:t>and complexity of software.</a:t>
            </a:r>
          </a:p>
          <a:p>
            <a:pPr algn="just"/>
            <a:r>
              <a:rPr lang="en-US" dirty="0" smtClean="0">
                <a:solidFill>
                  <a:schemeClr val="tx1"/>
                </a:solidFill>
                <a:latin typeface="Times New Roman" pitchFamily="18" charset="0"/>
                <a:cs typeface="Times New Roman" pitchFamily="18" charset="0"/>
              </a:rPr>
              <a:t>	b) Quality </a:t>
            </a:r>
            <a:r>
              <a:rPr lang="en-US" dirty="0">
                <a:solidFill>
                  <a:schemeClr val="tx1"/>
                </a:solidFill>
                <a:latin typeface="Times New Roman" pitchFamily="18" charset="0"/>
                <a:cs typeface="Times New Roman" pitchFamily="18" charset="0"/>
              </a:rPr>
              <a:t>and reliability of software.</a:t>
            </a:r>
          </a:p>
          <a:p>
            <a:pPr algn="just"/>
            <a:r>
              <a:rPr lang="en-US" dirty="0">
                <a:solidFill>
                  <a:schemeClr val="tx1"/>
                </a:solidFill>
                <a:latin typeface="Times New Roman" pitchFamily="18" charset="0"/>
                <a:cs typeface="Times New Roman" pitchFamily="18" charset="0"/>
              </a:rPr>
              <a:t>These metrics can be computed for different stages of SDLC</a:t>
            </a:r>
          </a:p>
          <a:p>
            <a:pPr algn="just"/>
            <a:endParaRPr lang="en-US"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407710235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762000"/>
            <a:ext cx="7772400" cy="1066800"/>
          </a:xfrm>
        </p:spPr>
        <p:txBody>
          <a:bodyPr>
            <a:normAutofit fontScale="90000"/>
          </a:bodyPr>
          <a:lstStyle/>
          <a:p>
            <a:r>
              <a:rPr lang="en-US" u="sng" dirty="0">
                <a:solidFill>
                  <a:srgbClr val="C00000"/>
                </a:solidFill>
              </a:rPr>
              <a:t>Classification of Software Metrics</a:t>
            </a:r>
            <a:br>
              <a:rPr lang="en-US" u="sng" dirty="0">
                <a:solidFill>
                  <a:srgbClr val="C00000"/>
                </a:solidFill>
              </a:rPr>
            </a:br>
            <a:r>
              <a:rPr lang="en-US" u="sng" dirty="0">
                <a:solidFill>
                  <a:srgbClr val="C00000"/>
                </a:solidFill>
              </a:rPr>
              <a:t/>
            </a:r>
            <a:br>
              <a:rPr lang="en-US" u="sng" dirty="0">
                <a:solidFill>
                  <a:srgbClr val="C00000"/>
                </a:solidFill>
              </a:rPr>
            </a:br>
            <a:endParaRPr lang="en-US" u="sng" dirty="0">
              <a:solidFill>
                <a:srgbClr val="C00000"/>
              </a:solidFill>
            </a:endParaRPr>
          </a:p>
        </p:txBody>
      </p:sp>
      <p:sp>
        <p:nvSpPr>
          <p:cNvPr id="3" name="Subtitle 2"/>
          <p:cNvSpPr>
            <a:spLocks noGrp="1"/>
          </p:cNvSpPr>
          <p:nvPr>
            <p:ph type="subTitle" idx="1"/>
          </p:nvPr>
        </p:nvSpPr>
        <p:spPr>
          <a:xfrm>
            <a:off x="685800" y="1600200"/>
            <a:ext cx="8001000" cy="5181600"/>
          </a:xfrm>
        </p:spPr>
        <p:txBody>
          <a:bodyPr>
            <a:normAutofit/>
          </a:bodyPr>
          <a:lstStyle/>
          <a:p>
            <a:pPr algn="just"/>
            <a:r>
              <a:rPr lang="en-US" dirty="0" smtClean="0">
                <a:solidFill>
                  <a:schemeClr val="tx1"/>
                </a:solidFill>
                <a:latin typeface="Times New Roman" pitchFamily="18" charset="0"/>
                <a:cs typeface="Times New Roman" pitchFamily="18" charset="0"/>
              </a:rPr>
              <a:t>	</a:t>
            </a:r>
            <a:r>
              <a:rPr lang="en-US" b="1" dirty="0">
                <a:solidFill>
                  <a:schemeClr val="tx1"/>
                </a:solidFill>
                <a:latin typeface="Times New Roman" pitchFamily="18" charset="0"/>
                <a:cs typeface="Times New Roman" pitchFamily="18" charset="0"/>
              </a:rPr>
              <a:t>2. Process Metrics:</a:t>
            </a:r>
            <a:r>
              <a:rPr lang="en-US" dirty="0">
                <a:solidFill>
                  <a:schemeClr val="tx1"/>
                </a:solidFill>
                <a:latin typeface="Times New Roman" pitchFamily="18" charset="0"/>
                <a:cs typeface="Times New Roman" pitchFamily="18" charset="0"/>
              </a:rPr>
              <a:t> These are the measures of various characteristics of the software development process. For example, the efficiency of fault detection. They are used to measure the characteristics of methods, techniques, and tools that are used for developing software.</a:t>
            </a:r>
          </a:p>
        </p:txBody>
      </p:sp>
    </p:spTree>
    <p:extLst>
      <p:ext uri="{BB962C8B-B14F-4D97-AF65-F5344CB8AC3E}">
        <p14:creationId xmlns:p14="http://schemas.microsoft.com/office/powerpoint/2010/main" val="194094418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609600"/>
            <a:ext cx="7772400" cy="1066800"/>
          </a:xfrm>
        </p:spPr>
        <p:txBody>
          <a:bodyPr>
            <a:normAutofit fontScale="90000"/>
          </a:bodyPr>
          <a:lstStyle/>
          <a:p>
            <a:r>
              <a:rPr lang="en-US" u="sng" dirty="0">
                <a:solidFill>
                  <a:srgbClr val="C00000"/>
                </a:solidFill>
              </a:rPr>
              <a:t>Classification of Software Metrics</a:t>
            </a:r>
            <a:br>
              <a:rPr lang="en-US" u="sng" dirty="0">
                <a:solidFill>
                  <a:srgbClr val="C00000"/>
                </a:solidFill>
              </a:rPr>
            </a:br>
            <a:r>
              <a:rPr lang="en-US" u="sng" dirty="0">
                <a:solidFill>
                  <a:srgbClr val="C00000"/>
                </a:solidFill>
              </a:rPr>
              <a:t/>
            </a:r>
            <a:br>
              <a:rPr lang="en-US" u="sng" dirty="0">
                <a:solidFill>
                  <a:srgbClr val="C00000"/>
                </a:solidFill>
              </a:rPr>
            </a:br>
            <a:endParaRPr lang="en-US" u="sng" dirty="0">
              <a:solidFill>
                <a:srgbClr val="C00000"/>
              </a:solidFill>
            </a:endParaRPr>
          </a:p>
        </p:txBody>
      </p:sp>
      <p:pic>
        <p:nvPicPr>
          <p:cNvPr id="205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1084700"/>
            <a:ext cx="8229599" cy="5544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8510605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762000"/>
            <a:ext cx="7772400" cy="1066800"/>
          </a:xfrm>
        </p:spPr>
        <p:txBody>
          <a:bodyPr>
            <a:normAutofit fontScale="90000"/>
          </a:bodyPr>
          <a:lstStyle/>
          <a:p>
            <a:r>
              <a:rPr lang="en-US" u="sng" dirty="0" smtClean="0">
                <a:solidFill>
                  <a:srgbClr val="C00000"/>
                </a:solidFill>
              </a:rPr>
              <a:t>Types of Metrics</a:t>
            </a:r>
            <a:r>
              <a:rPr lang="en-US" u="sng" dirty="0">
                <a:solidFill>
                  <a:srgbClr val="C00000"/>
                </a:solidFill>
              </a:rPr>
              <a:t/>
            </a:r>
            <a:br>
              <a:rPr lang="en-US" u="sng" dirty="0">
                <a:solidFill>
                  <a:srgbClr val="C00000"/>
                </a:solidFill>
              </a:rPr>
            </a:br>
            <a:r>
              <a:rPr lang="en-US" u="sng" dirty="0">
                <a:solidFill>
                  <a:srgbClr val="C00000"/>
                </a:solidFill>
              </a:rPr>
              <a:t/>
            </a:r>
            <a:br>
              <a:rPr lang="en-US" u="sng" dirty="0">
                <a:solidFill>
                  <a:srgbClr val="C00000"/>
                </a:solidFill>
              </a:rPr>
            </a:br>
            <a:endParaRPr lang="en-US" u="sng" dirty="0">
              <a:solidFill>
                <a:srgbClr val="C00000"/>
              </a:solidFill>
            </a:endParaRPr>
          </a:p>
        </p:txBody>
      </p:sp>
      <p:sp>
        <p:nvSpPr>
          <p:cNvPr id="3" name="Subtitle 2"/>
          <p:cNvSpPr>
            <a:spLocks noGrp="1"/>
          </p:cNvSpPr>
          <p:nvPr>
            <p:ph type="subTitle" idx="1"/>
          </p:nvPr>
        </p:nvSpPr>
        <p:spPr>
          <a:xfrm>
            <a:off x="685800" y="1600200"/>
            <a:ext cx="8001000" cy="5181600"/>
          </a:xfrm>
        </p:spPr>
        <p:txBody>
          <a:bodyPr>
            <a:normAutofit fontScale="92500" lnSpcReduction="20000"/>
          </a:bodyPr>
          <a:lstStyle/>
          <a:p>
            <a:pPr algn="just"/>
            <a:r>
              <a:rPr lang="en-US" b="1" dirty="0" smtClean="0">
                <a:solidFill>
                  <a:schemeClr val="tx1"/>
                </a:solidFill>
                <a:latin typeface="Times New Roman" pitchFamily="18" charset="0"/>
                <a:cs typeface="Times New Roman" pitchFamily="18" charset="0"/>
              </a:rPr>
              <a:t>Internal </a:t>
            </a:r>
            <a:r>
              <a:rPr lang="en-US" b="1" dirty="0">
                <a:solidFill>
                  <a:schemeClr val="tx1"/>
                </a:solidFill>
                <a:latin typeface="Times New Roman" pitchFamily="18" charset="0"/>
                <a:cs typeface="Times New Roman" pitchFamily="18" charset="0"/>
              </a:rPr>
              <a:t>metrics:</a:t>
            </a:r>
            <a:r>
              <a:rPr lang="en-US" dirty="0">
                <a:solidFill>
                  <a:schemeClr val="tx1"/>
                </a:solidFill>
                <a:latin typeface="Times New Roman" pitchFamily="18" charset="0"/>
                <a:cs typeface="Times New Roman" pitchFamily="18" charset="0"/>
              </a:rPr>
              <a:t> Internal metrics are the metrics used for measuring properties that are viewed to be of greater importance to a software developer. For example, Lines of Code (LOC) measure.</a:t>
            </a:r>
          </a:p>
          <a:p>
            <a:pPr algn="just"/>
            <a:r>
              <a:rPr lang="en-US" b="1" dirty="0">
                <a:solidFill>
                  <a:schemeClr val="tx1"/>
                </a:solidFill>
                <a:latin typeface="Times New Roman" pitchFamily="18" charset="0"/>
                <a:cs typeface="Times New Roman" pitchFamily="18" charset="0"/>
              </a:rPr>
              <a:t>External metrics:</a:t>
            </a:r>
            <a:r>
              <a:rPr lang="en-US" dirty="0">
                <a:solidFill>
                  <a:schemeClr val="tx1"/>
                </a:solidFill>
                <a:latin typeface="Times New Roman" pitchFamily="18" charset="0"/>
                <a:cs typeface="Times New Roman" pitchFamily="18" charset="0"/>
              </a:rPr>
              <a:t> External metrics are the metrics used for measuring properties that are viewed to be of greater importance to the user, e.g., portability, reliability, functionality, usability, etc</a:t>
            </a:r>
            <a:r>
              <a:rPr lang="en-US" dirty="0" smtClean="0">
                <a:solidFill>
                  <a:schemeClr val="tx1"/>
                </a:solidFill>
                <a:latin typeface="Times New Roman" pitchFamily="18" charset="0"/>
                <a:cs typeface="Times New Roman" pitchFamily="18" charset="0"/>
              </a:rPr>
              <a:t>.</a:t>
            </a:r>
          </a:p>
          <a:p>
            <a:pPr algn="just"/>
            <a:r>
              <a:rPr lang="en-US" b="1" dirty="0">
                <a:solidFill>
                  <a:schemeClr val="tx1"/>
                </a:solidFill>
                <a:latin typeface="Times New Roman" pitchFamily="18" charset="0"/>
                <a:cs typeface="Times New Roman" pitchFamily="18" charset="0"/>
              </a:rPr>
              <a:t>Hybrid metrics:</a:t>
            </a:r>
            <a:r>
              <a:rPr lang="en-US" dirty="0">
                <a:solidFill>
                  <a:schemeClr val="tx1"/>
                </a:solidFill>
                <a:latin typeface="Times New Roman" pitchFamily="18" charset="0"/>
                <a:cs typeface="Times New Roman" pitchFamily="18" charset="0"/>
              </a:rPr>
              <a:t> Hybrid metrics are the metrics that combine product, process, and resource metrics. For example, cost per FP where FP stands for Function Point Metric.</a:t>
            </a:r>
          </a:p>
        </p:txBody>
      </p:sp>
    </p:spTree>
    <p:extLst>
      <p:ext uri="{BB962C8B-B14F-4D97-AF65-F5344CB8AC3E}">
        <p14:creationId xmlns:p14="http://schemas.microsoft.com/office/powerpoint/2010/main" val="409189946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762000"/>
            <a:ext cx="7772400" cy="1066800"/>
          </a:xfrm>
        </p:spPr>
        <p:txBody>
          <a:bodyPr>
            <a:normAutofit fontScale="90000"/>
          </a:bodyPr>
          <a:lstStyle/>
          <a:p>
            <a:r>
              <a:rPr lang="en-US" u="sng" dirty="0" smtClean="0">
                <a:solidFill>
                  <a:srgbClr val="C00000"/>
                </a:solidFill>
              </a:rPr>
              <a:t>Types of Metrics</a:t>
            </a:r>
            <a:r>
              <a:rPr lang="en-US" u="sng" dirty="0">
                <a:solidFill>
                  <a:srgbClr val="C00000"/>
                </a:solidFill>
              </a:rPr>
              <a:t/>
            </a:r>
            <a:br>
              <a:rPr lang="en-US" u="sng" dirty="0">
                <a:solidFill>
                  <a:srgbClr val="C00000"/>
                </a:solidFill>
              </a:rPr>
            </a:br>
            <a:r>
              <a:rPr lang="en-US" u="sng" dirty="0">
                <a:solidFill>
                  <a:srgbClr val="C00000"/>
                </a:solidFill>
              </a:rPr>
              <a:t/>
            </a:r>
            <a:br>
              <a:rPr lang="en-US" u="sng" dirty="0">
                <a:solidFill>
                  <a:srgbClr val="C00000"/>
                </a:solidFill>
              </a:rPr>
            </a:br>
            <a:endParaRPr lang="en-US" u="sng" dirty="0">
              <a:solidFill>
                <a:srgbClr val="C00000"/>
              </a:solidFill>
            </a:endParaRPr>
          </a:p>
        </p:txBody>
      </p:sp>
      <p:sp>
        <p:nvSpPr>
          <p:cNvPr id="3" name="Subtitle 2"/>
          <p:cNvSpPr>
            <a:spLocks noGrp="1"/>
          </p:cNvSpPr>
          <p:nvPr>
            <p:ph type="subTitle" idx="1"/>
          </p:nvPr>
        </p:nvSpPr>
        <p:spPr>
          <a:xfrm>
            <a:off x="685800" y="1600200"/>
            <a:ext cx="8001000" cy="5181600"/>
          </a:xfrm>
        </p:spPr>
        <p:txBody>
          <a:bodyPr>
            <a:normAutofit fontScale="85000" lnSpcReduction="10000"/>
          </a:bodyPr>
          <a:lstStyle/>
          <a:p>
            <a:pPr algn="just"/>
            <a:r>
              <a:rPr lang="en-US" b="1" dirty="0">
                <a:solidFill>
                  <a:schemeClr val="tx1"/>
                </a:solidFill>
                <a:latin typeface="Times New Roman" pitchFamily="18" charset="0"/>
                <a:cs typeface="Times New Roman" pitchFamily="18" charset="0"/>
              </a:rPr>
              <a:t>Project metrics:</a:t>
            </a:r>
            <a:r>
              <a:rPr lang="en-US" dirty="0">
                <a:solidFill>
                  <a:schemeClr val="tx1"/>
                </a:solidFill>
                <a:latin typeface="Times New Roman" pitchFamily="18" charset="0"/>
                <a:cs typeface="Times New Roman" pitchFamily="18" charset="0"/>
              </a:rPr>
              <a:t> Project metrics are the metrics used by the project manager to check the project's progress. Data from the past projects are used to collect various metrics, like time and cost; these estimates are used as a base of new software. Note that as the project proceeds, the project manager will check its progress from time-to-time and will compare the effort, cost, and time with the original effort, cost and time. Also understand that these metrics are used to decrease the development costs, time efforts and risks. The project quality can also be improved. As quality improves, the number of errors and time, as well as cost required, is also reduced.</a:t>
            </a:r>
          </a:p>
        </p:txBody>
      </p:sp>
    </p:spTree>
    <p:extLst>
      <p:ext uri="{BB962C8B-B14F-4D97-AF65-F5344CB8AC3E}">
        <p14:creationId xmlns:p14="http://schemas.microsoft.com/office/powerpoint/2010/main" val="247078570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762000"/>
            <a:ext cx="7772400" cy="1066800"/>
          </a:xfrm>
        </p:spPr>
        <p:txBody>
          <a:bodyPr>
            <a:normAutofit fontScale="90000"/>
          </a:bodyPr>
          <a:lstStyle/>
          <a:p>
            <a:r>
              <a:rPr lang="en-US" u="sng" dirty="0" smtClean="0">
                <a:solidFill>
                  <a:srgbClr val="C00000"/>
                </a:solidFill>
              </a:rPr>
              <a:t>Advantage of Software Metrics</a:t>
            </a:r>
            <a:r>
              <a:rPr lang="en-US" u="sng" dirty="0">
                <a:solidFill>
                  <a:srgbClr val="C00000"/>
                </a:solidFill>
              </a:rPr>
              <a:t/>
            </a:r>
            <a:br>
              <a:rPr lang="en-US" u="sng" dirty="0">
                <a:solidFill>
                  <a:srgbClr val="C00000"/>
                </a:solidFill>
              </a:rPr>
            </a:br>
            <a:r>
              <a:rPr lang="en-US" u="sng" dirty="0">
                <a:solidFill>
                  <a:srgbClr val="C00000"/>
                </a:solidFill>
              </a:rPr>
              <a:t/>
            </a:r>
            <a:br>
              <a:rPr lang="en-US" u="sng" dirty="0">
                <a:solidFill>
                  <a:srgbClr val="C00000"/>
                </a:solidFill>
              </a:rPr>
            </a:br>
            <a:endParaRPr lang="en-US" u="sng" dirty="0">
              <a:solidFill>
                <a:srgbClr val="C00000"/>
              </a:solidFill>
            </a:endParaRPr>
          </a:p>
        </p:txBody>
      </p:sp>
      <p:sp>
        <p:nvSpPr>
          <p:cNvPr id="3" name="Subtitle 2"/>
          <p:cNvSpPr>
            <a:spLocks noGrp="1"/>
          </p:cNvSpPr>
          <p:nvPr>
            <p:ph type="subTitle" idx="1"/>
          </p:nvPr>
        </p:nvSpPr>
        <p:spPr>
          <a:xfrm>
            <a:off x="685800" y="1600200"/>
            <a:ext cx="8001000" cy="5181600"/>
          </a:xfrm>
        </p:spPr>
        <p:txBody>
          <a:bodyPr>
            <a:normAutofit fontScale="85000" lnSpcReduction="20000"/>
          </a:bodyPr>
          <a:lstStyle/>
          <a:p>
            <a:pPr marL="457200" indent="-457200" algn="just">
              <a:buFont typeface="Arial" pitchFamily="34" charset="0"/>
              <a:buChar char="•"/>
            </a:pPr>
            <a:r>
              <a:rPr lang="en-US" dirty="0" smtClean="0">
                <a:solidFill>
                  <a:schemeClr val="tx1"/>
                </a:solidFill>
                <a:latin typeface="Times New Roman" pitchFamily="18" charset="0"/>
                <a:cs typeface="Times New Roman" pitchFamily="18" charset="0"/>
              </a:rPr>
              <a:t>Comparative </a:t>
            </a:r>
            <a:r>
              <a:rPr lang="en-US" dirty="0">
                <a:solidFill>
                  <a:schemeClr val="tx1"/>
                </a:solidFill>
                <a:latin typeface="Times New Roman" pitchFamily="18" charset="0"/>
                <a:cs typeface="Times New Roman" pitchFamily="18" charset="0"/>
              </a:rPr>
              <a:t>study of various design methodology of software systems</a:t>
            </a:r>
            <a:r>
              <a:rPr lang="en-US" dirty="0" smtClean="0">
                <a:solidFill>
                  <a:schemeClr val="tx1"/>
                </a:solidFill>
                <a:latin typeface="Times New Roman" pitchFamily="18" charset="0"/>
                <a:cs typeface="Times New Roman" pitchFamily="18" charset="0"/>
              </a:rPr>
              <a:t>.</a:t>
            </a:r>
          </a:p>
          <a:p>
            <a:pPr marL="457200" indent="-457200" algn="just">
              <a:buFont typeface="Arial" pitchFamily="34" charset="0"/>
              <a:buChar char="•"/>
            </a:pPr>
            <a:r>
              <a:rPr lang="en-US" dirty="0" smtClean="0">
                <a:solidFill>
                  <a:schemeClr val="tx1"/>
                </a:solidFill>
                <a:latin typeface="Times New Roman" pitchFamily="18" charset="0"/>
                <a:cs typeface="Times New Roman" pitchFamily="18" charset="0"/>
              </a:rPr>
              <a:t>For </a:t>
            </a:r>
            <a:r>
              <a:rPr lang="en-US" dirty="0">
                <a:solidFill>
                  <a:schemeClr val="tx1"/>
                </a:solidFill>
                <a:latin typeface="Times New Roman" pitchFamily="18" charset="0"/>
                <a:cs typeface="Times New Roman" pitchFamily="18" charset="0"/>
              </a:rPr>
              <a:t>analysis, comparison, and critical study of different programming language concerning their characteristics</a:t>
            </a:r>
            <a:r>
              <a:rPr lang="en-US" dirty="0" smtClean="0">
                <a:solidFill>
                  <a:schemeClr val="tx1"/>
                </a:solidFill>
                <a:latin typeface="Times New Roman" pitchFamily="18" charset="0"/>
                <a:cs typeface="Times New Roman" pitchFamily="18" charset="0"/>
              </a:rPr>
              <a:t>.</a:t>
            </a:r>
          </a:p>
          <a:p>
            <a:pPr marL="457200" indent="-457200" algn="just">
              <a:buFont typeface="Arial" pitchFamily="34" charset="0"/>
              <a:buChar char="•"/>
            </a:pPr>
            <a:r>
              <a:rPr lang="en-US" dirty="0" smtClean="0">
                <a:solidFill>
                  <a:schemeClr val="tx1"/>
                </a:solidFill>
                <a:latin typeface="Times New Roman" pitchFamily="18" charset="0"/>
                <a:cs typeface="Times New Roman" pitchFamily="18" charset="0"/>
              </a:rPr>
              <a:t>In </a:t>
            </a:r>
            <a:r>
              <a:rPr lang="en-US" dirty="0">
                <a:solidFill>
                  <a:schemeClr val="tx1"/>
                </a:solidFill>
                <a:latin typeface="Times New Roman" pitchFamily="18" charset="0"/>
                <a:cs typeface="Times New Roman" pitchFamily="18" charset="0"/>
              </a:rPr>
              <a:t>comparing and evaluating the capabilities and productivity of people involved in software development</a:t>
            </a:r>
            <a:r>
              <a:rPr lang="en-US" dirty="0" smtClean="0">
                <a:solidFill>
                  <a:schemeClr val="tx1"/>
                </a:solidFill>
                <a:latin typeface="Times New Roman" pitchFamily="18" charset="0"/>
                <a:cs typeface="Times New Roman" pitchFamily="18" charset="0"/>
              </a:rPr>
              <a:t>. </a:t>
            </a:r>
          </a:p>
          <a:p>
            <a:pPr marL="457200" indent="-457200" algn="just">
              <a:buFont typeface="Arial" pitchFamily="34" charset="0"/>
              <a:buChar char="•"/>
            </a:pPr>
            <a:r>
              <a:rPr lang="en-US" dirty="0" smtClean="0">
                <a:solidFill>
                  <a:schemeClr val="tx1"/>
                </a:solidFill>
                <a:latin typeface="Times New Roman" pitchFamily="18" charset="0"/>
                <a:cs typeface="Times New Roman" pitchFamily="18" charset="0"/>
              </a:rPr>
              <a:t>In </a:t>
            </a:r>
            <a:r>
              <a:rPr lang="en-US" dirty="0">
                <a:solidFill>
                  <a:schemeClr val="tx1"/>
                </a:solidFill>
                <a:latin typeface="Times New Roman" pitchFamily="18" charset="0"/>
                <a:cs typeface="Times New Roman" pitchFamily="18" charset="0"/>
              </a:rPr>
              <a:t>the preparation of software quality specifications</a:t>
            </a:r>
            <a:r>
              <a:rPr lang="en-US" dirty="0" smtClean="0">
                <a:solidFill>
                  <a:schemeClr val="tx1"/>
                </a:solidFill>
                <a:latin typeface="Times New Roman" pitchFamily="18" charset="0"/>
                <a:cs typeface="Times New Roman" pitchFamily="18" charset="0"/>
              </a:rPr>
              <a:t>.</a:t>
            </a:r>
          </a:p>
          <a:p>
            <a:pPr marL="457200" indent="-457200" algn="just">
              <a:buFont typeface="Arial" pitchFamily="34" charset="0"/>
              <a:buChar char="•"/>
            </a:pPr>
            <a:r>
              <a:rPr lang="en-US" dirty="0" smtClean="0">
                <a:solidFill>
                  <a:schemeClr val="tx1"/>
                </a:solidFill>
                <a:latin typeface="Times New Roman" pitchFamily="18" charset="0"/>
                <a:cs typeface="Times New Roman" pitchFamily="18" charset="0"/>
              </a:rPr>
              <a:t>In the verification of compliance of software systems requirements and specifications.</a:t>
            </a:r>
          </a:p>
          <a:p>
            <a:pPr marL="457200" indent="-457200" algn="just">
              <a:buFont typeface="Arial" pitchFamily="34" charset="0"/>
              <a:buChar char="•"/>
            </a:pPr>
            <a:r>
              <a:rPr lang="en-US" dirty="0" smtClean="0">
                <a:solidFill>
                  <a:schemeClr val="tx1"/>
                </a:solidFill>
                <a:latin typeface="Times New Roman" pitchFamily="18" charset="0"/>
                <a:cs typeface="Times New Roman" pitchFamily="18" charset="0"/>
              </a:rPr>
              <a:t>In making inference about the effort to be put in the design and development of the software systems.</a:t>
            </a:r>
          </a:p>
          <a:p>
            <a:pPr algn="just"/>
            <a:endParaRPr lang="en-US" dirty="0">
              <a:solidFill>
                <a:schemeClr val="tx1"/>
              </a:solidFill>
              <a:latin typeface="Times New Roman" pitchFamily="18" charset="0"/>
              <a:cs typeface="Times New Roman" pitchFamily="18" charset="0"/>
            </a:endParaRPr>
          </a:p>
          <a:p>
            <a:pPr algn="just"/>
            <a:endParaRPr lang="en-US"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150782452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228600"/>
            <a:ext cx="7772400" cy="1066800"/>
          </a:xfrm>
        </p:spPr>
        <p:txBody>
          <a:bodyPr>
            <a:normAutofit/>
          </a:bodyPr>
          <a:lstStyle/>
          <a:p>
            <a:pPr algn="just"/>
            <a:r>
              <a:rPr lang="en-US" u="sng" dirty="0" smtClean="0">
                <a:solidFill>
                  <a:srgbClr val="C00000"/>
                </a:solidFill>
              </a:rPr>
              <a:t>Advantage of Software Metrics</a:t>
            </a:r>
            <a:endParaRPr lang="en-US" u="sng" dirty="0" smtClean="0">
              <a:solidFill>
                <a:srgbClr val="C00000"/>
              </a:solidFill>
            </a:endParaRPr>
          </a:p>
        </p:txBody>
      </p:sp>
      <p:sp>
        <p:nvSpPr>
          <p:cNvPr id="3" name="Subtitle 2"/>
          <p:cNvSpPr>
            <a:spLocks noGrp="1"/>
          </p:cNvSpPr>
          <p:nvPr>
            <p:ph type="subTitle" idx="1"/>
          </p:nvPr>
        </p:nvSpPr>
        <p:spPr>
          <a:xfrm>
            <a:off x="685800" y="1600200"/>
            <a:ext cx="8001000" cy="5181600"/>
          </a:xfrm>
        </p:spPr>
        <p:txBody>
          <a:bodyPr>
            <a:normAutofit fontScale="85000" lnSpcReduction="10000"/>
          </a:bodyPr>
          <a:lstStyle/>
          <a:p>
            <a:pPr marL="457200" indent="-457200" algn="just">
              <a:buFont typeface="Arial" pitchFamily="34" charset="0"/>
              <a:buChar char="•"/>
            </a:pPr>
            <a:r>
              <a:rPr lang="en-US" dirty="0" smtClean="0">
                <a:solidFill>
                  <a:schemeClr val="tx1"/>
                </a:solidFill>
                <a:latin typeface="Times New Roman" pitchFamily="18" charset="0"/>
                <a:cs typeface="Times New Roman" pitchFamily="18" charset="0"/>
              </a:rPr>
              <a:t>In </a:t>
            </a:r>
            <a:r>
              <a:rPr lang="en-US" dirty="0">
                <a:solidFill>
                  <a:schemeClr val="tx1"/>
                </a:solidFill>
                <a:latin typeface="Times New Roman" pitchFamily="18" charset="0"/>
                <a:cs typeface="Times New Roman" pitchFamily="18" charset="0"/>
              </a:rPr>
              <a:t>getting an idea about the complexity of the code</a:t>
            </a:r>
            <a:r>
              <a:rPr lang="en-US" dirty="0" smtClean="0">
                <a:solidFill>
                  <a:schemeClr val="tx1"/>
                </a:solidFill>
                <a:latin typeface="Times New Roman" pitchFamily="18" charset="0"/>
                <a:cs typeface="Times New Roman" pitchFamily="18" charset="0"/>
              </a:rPr>
              <a:t>.</a:t>
            </a:r>
          </a:p>
          <a:p>
            <a:pPr marL="457200" indent="-457200" algn="just">
              <a:buFont typeface="Arial" pitchFamily="34" charset="0"/>
              <a:buChar char="•"/>
            </a:pPr>
            <a:r>
              <a:rPr lang="en-US" dirty="0" smtClean="0">
                <a:solidFill>
                  <a:schemeClr val="tx1"/>
                </a:solidFill>
                <a:latin typeface="Times New Roman" pitchFamily="18" charset="0"/>
                <a:cs typeface="Times New Roman" pitchFamily="18" charset="0"/>
              </a:rPr>
              <a:t>In </a:t>
            </a:r>
            <a:r>
              <a:rPr lang="en-US" dirty="0">
                <a:solidFill>
                  <a:schemeClr val="tx1"/>
                </a:solidFill>
                <a:latin typeface="Times New Roman" pitchFamily="18" charset="0"/>
                <a:cs typeface="Times New Roman" pitchFamily="18" charset="0"/>
              </a:rPr>
              <a:t>taking decisions regarding further division of a complex module is to be done or not</a:t>
            </a:r>
            <a:r>
              <a:rPr lang="en-US" dirty="0" smtClean="0">
                <a:solidFill>
                  <a:schemeClr val="tx1"/>
                </a:solidFill>
                <a:latin typeface="Times New Roman" pitchFamily="18" charset="0"/>
                <a:cs typeface="Times New Roman" pitchFamily="18" charset="0"/>
              </a:rPr>
              <a:t>.</a:t>
            </a:r>
          </a:p>
          <a:p>
            <a:pPr marL="457200" indent="-457200" algn="just">
              <a:buFont typeface="Arial" pitchFamily="34" charset="0"/>
              <a:buChar char="•"/>
            </a:pPr>
            <a:r>
              <a:rPr lang="en-US" dirty="0" smtClean="0">
                <a:solidFill>
                  <a:schemeClr val="tx1"/>
                </a:solidFill>
                <a:latin typeface="Times New Roman" pitchFamily="18" charset="0"/>
                <a:cs typeface="Times New Roman" pitchFamily="18" charset="0"/>
              </a:rPr>
              <a:t>In </a:t>
            </a:r>
            <a:r>
              <a:rPr lang="en-US" dirty="0">
                <a:solidFill>
                  <a:schemeClr val="tx1"/>
                </a:solidFill>
                <a:latin typeface="Times New Roman" pitchFamily="18" charset="0"/>
                <a:cs typeface="Times New Roman" pitchFamily="18" charset="0"/>
              </a:rPr>
              <a:t>guiding resource manager for their proper utilization</a:t>
            </a:r>
            <a:r>
              <a:rPr lang="en-US" dirty="0" smtClean="0">
                <a:solidFill>
                  <a:schemeClr val="tx1"/>
                </a:solidFill>
                <a:latin typeface="Times New Roman" pitchFamily="18" charset="0"/>
                <a:cs typeface="Times New Roman" pitchFamily="18" charset="0"/>
              </a:rPr>
              <a:t>.</a:t>
            </a:r>
          </a:p>
          <a:p>
            <a:pPr marL="457200" indent="-457200" algn="just">
              <a:buFont typeface="Arial" pitchFamily="34" charset="0"/>
              <a:buChar char="•"/>
            </a:pPr>
            <a:r>
              <a:rPr lang="en-US" dirty="0" smtClean="0">
                <a:solidFill>
                  <a:schemeClr val="tx1"/>
                </a:solidFill>
                <a:latin typeface="Times New Roman" pitchFamily="18" charset="0"/>
                <a:cs typeface="Times New Roman" pitchFamily="18" charset="0"/>
              </a:rPr>
              <a:t>In </a:t>
            </a:r>
            <a:r>
              <a:rPr lang="en-US" dirty="0">
                <a:solidFill>
                  <a:schemeClr val="tx1"/>
                </a:solidFill>
                <a:latin typeface="Times New Roman" pitchFamily="18" charset="0"/>
                <a:cs typeface="Times New Roman" pitchFamily="18" charset="0"/>
              </a:rPr>
              <a:t>comparison and making design tradeoffs between software development and maintenance cost</a:t>
            </a:r>
            <a:r>
              <a:rPr lang="en-US" dirty="0" smtClean="0">
                <a:solidFill>
                  <a:schemeClr val="tx1"/>
                </a:solidFill>
                <a:latin typeface="Times New Roman" pitchFamily="18" charset="0"/>
                <a:cs typeface="Times New Roman" pitchFamily="18" charset="0"/>
              </a:rPr>
              <a:t>.</a:t>
            </a:r>
          </a:p>
          <a:p>
            <a:pPr marL="457200" indent="-457200" algn="just">
              <a:buFont typeface="Arial" pitchFamily="34" charset="0"/>
              <a:buChar char="•"/>
            </a:pPr>
            <a:r>
              <a:rPr lang="en-US" dirty="0" smtClean="0">
                <a:solidFill>
                  <a:schemeClr val="tx1"/>
                </a:solidFill>
                <a:latin typeface="Times New Roman" pitchFamily="18" charset="0"/>
                <a:cs typeface="Times New Roman" pitchFamily="18" charset="0"/>
              </a:rPr>
              <a:t>In </a:t>
            </a:r>
            <a:r>
              <a:rPr lang="en-US" dirty="0">
                <a:solidFill>
                  <a:schemeClr val="tx1"/>
                </a:solidFill>
                <a:latin typeface="Times New Roman" pitchFamily="18" charset="0"/>
                <a:cs typeface="Times New Roman" pitchFamily="18" charset="0"/>
              </a:rPr>
              <a:t>providing feedback to software managers about the progress and quality during various phases of the software development life cycle</a:t>
            </a:r>
            <a:r>
              <a:rPr lang="en-US" dirty="0" smtClean="0">
                <a:solidFill>
                  <a:schemeClr val="tx1"/>
                </a:solidFill>
                <a:latin typeface="Times New Roman" pitchFamily="18" charset="0"/>
                <a:cs typeface="Times New Roman" pitchFamily="18" charset="0"/>
              </a:rPr>
              <a:t>.</a:t>
            </a:r>
          </a:p>
          <a:p>
            <a:pPr marL="457200" indent="-457200" algn="just">
              <a:buFont typeface="Arial" pitchFamily="34" charset="0"/>
              <a:buChar char="•"/>
            </a:pPr>
            <a:r>
              <a:rPr lang="en-US" dirty="0" smtClean="0">
                <a:solidFill>
                  <a:schemeClr val="tx1"/>
                </a:solidFill>
                <a:latin typeface="Times New Roman" pitchFamily="18" charset="0"/>
                <a:cs typeface="Times New Roman" pitchFamily="18" charset="0"/>
              </a:rPr>
              <a:t>In </a:t>
            </a:r>
            <a:r>
              <a:rPr lang="en-US" dirty="0">
                <a:solidFill>
                  <a:schemeClr val="tx1"/>
                </a:solidFill>
                <a:latin typeface="Times New Roman" pitchFamily="18" charset="0"/>
                <a:cs typeface="Times New Roman" pitchFamily="18" charset="0"/>
              </a:rPr>
              <a:t>the allocation of testing resources for testing the code.</a:t>
            </a:r>
          </a:p>
          <a:p>
            <a:pPr marL="457200" indent="-457200" algn="just">
              <a:buFont typeface="Arial" pitchFamily="34" charset="0"/>
              <a:buChar char="•"/>
            </a:pPr>
            <a:endParaRPr lang="en-US" dirty="0">
              <a:solidFill>
                <a:schemeClr val="tx1"/>
              </a:solidFill>
              <a:latin typeface="Times New Roman" pitchFamily="18" charset="0"/>
              <a:cs typeface="Times New Roman" pitchFamily="18" charset="0"/>
            </a:endParaRPr>
          </a:p>
          <a:p>
            <a:pPr algn="just"/>
            <a:endParaRPr lang="en-US" dirty="0">
              <a:solidFill>
                <a:schemeClr val="tx1"/>
              </a:solidFill>
              <a:latin typeface="Times New Roman" pitchFamily="18" charset="0"/>
              <a:cs typeface="Times New Roman" pitchFamily="18" charset="0"/>
            </a:endParaRPr>
          </a:p>
          <a:p>
            <a:pPr algn="just"/>
            <a:endParaRPr lang="en-US" dirty="0">
              <a:solidFill>
                <a:schemeClr val="tx1"/>
              </a:solidFill>
              <a:latin typeface="Times New Roman" pitchFamily="18" charset="0"/>
              <a:cs typeface="Times New Roman" pitchFamily="18" charset="0"/>
            </a:endParaRPr>
          </a:p>
          <a:p>
            <a:pPr algn="just"/>
            <a:endParaRPr lang="en-US"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365960149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38200" y="381000"/>
            <a:ext cx="7772400" cy="1066800"/>
          </a:xfrm>
        </p:spPr>
        <p:txBody>
          <a:bodyPr>
            <a:normAutofit fontScale="90000"/>
          </a:bodyPr>
          <a:lstStyle/>
          <a:p>
            <a:pPr algn="just"/>
            <a:r>
              <a:rPr lang="en-US" u="sng" dirty="0">
                <a:solidFill>
                  <a:srgbClr val="C00000"/>
                </a:solidFill>
              </a:rPr>
              <a:t>Disadvantage of Software Metrics</a:t>
            </a:r>
            <a:br>
              <a:rPr lang="en-US" u="sng" dirty="0">
                <a:solidFill>
                  <a:srgbClr val="C00000"/>
                </a:solidFill>
              </a:rPr>
            </a:br>
            <a:endParaRPr lang="en-US" u="sng" dirty="0" smtClean="0">
              <a:solidFill>
                <a:srgbClr val="C00000"/>
              </a:solidFill>
            </a:endParaRPr>
          </a:p>
        </p:txBody>
      </p:sp>
      <p:sp>
        <p:nvSpPr>
          <p:cNvPr id="3" name="Subtitle 2"/>
          <p:cNvSpPr>
            <a:spLocks noGrp="1"/>
          </p:cNvSpPr>
          <p:nvPr>
            <p:ph type="subTitle" idx="1"/>
          </p:nvPr>
        </p:nvSpPr>
        <p:spPr>
          <a:xfrm>
            <a:off x="685800" y="1371600"/>
            <a:ext cx="8001000" cy="5410200"/>
          </a:xfrm>
        </p:spPr>
        <p:txBody>
          <a:bodyPr>
            <a:normAutofit fontScale="77500" lnSpcReduction="20000"/>
          </a:bodyPr>
          <a:lstStyle/>
          <a:p>
            <a:pPr marL="457200" indent="-457200" algn="just">
              <a:buFont typeface="Arial" pitchFamily="34" charset="0"/>
              <a:buChar char="•"/>
            </a:pPr>
            <a:r>
              <a:rPr lang="en-US" dirty="0">
                <a:solidFill>
                  <a:schemeClr val="tx1"/>
                </a:solidFill>
                <a:latin typeface="Times New Roman" pitchFamily="18" charset="0"/>
                <a:cs typeface="Times New Roman" pitchFamily="18" charset="0"/>
              </a:rPr>
              <a:t>The application of software metrics is not always easy, and in some cases, it is difficult and costly</a:t>
            </a:r>
            <a:r>
              <a:rPr lang="en-US" dirty="0" smtClean="0">
                <a:solidFill>
                  <a:schemeClr val="tx1"/>
                </a:solidFill>
                <a:latin typeface="Times New Roman" pitchFamily="18" charset="0"/>
                <a:cs typeface="Times New Roman" pitchFamily="18" charset="0"/>
              </a:rPr>
              <a:t>.</a:t>
            </a:r>
          </a:p>
          <a:p>
            <a:pPr marL="457200" indent="-457200" algn="just">
              <a:buFont typeface="Arial" pitchFamily="34" charset="0"/>
              <a:buChar char="•"/>
            </a:pPr>
            <a:r>
              <a:rPr lang="en-US" dirty="0" smtClean="0">
                <a:solidFill>
                  <a:schemeClr val="tx1"/>
                </a:solidFill>
                <a:latin typeface="Times New Roman" pitchFamily="18" charset="0"/>
                <a:cs typeface="Times New Roman" pitchFamily="18" charset="0"/>
              </a:rPr>
              <a:t>The </a:t>
            </a:r>
            <a:r>
              <a:rPr lang="en-US" dirty="0">
                <a:solidFill>
                  <a:schemeClr val="tx1"/>
                </a:solidFill>
                <a:latin typeface="Times New Roman" pitchFamily="18" charset="0"/>
                <a:cs typeface="Times New Roman" pitchFamily="18" charset="0"/>
              </a:rPr>
              <a:t>verification and justification of software metrics are based on historical/empirical data whose validity is difficult to verify</a:t>
            </a:r>
            <a:r>
              <a:rPr lang="en-US" dirty="0" smtClean="0">
                <a:solidFill>
                  <a:schemeClr val="tx1"/>
                </a:solidFill>
                <a:latin typeface="Times New Roman" pitchFamily="18" charset="0"/>
                <a:cs typeface="Times New Roman" pitchFamily="18" charset="0"/>
              </a:rPr>
              <a:t>.</a:t>
            </a:r>
          </a:p>
          <a:p>
            <a:pPr marL="457200" indent="-457200" algn="just">
              <a:buFont typeface="Arial" pitchFamily="34" charset="0"/>
              <a:buChar char="•"/>
            </a:pPr>
            <a:r>
              <a:rPr lang="en-US" dirty="0" smtClean="0">
                <a:solidFill>
                  <a:schemeClr val="tx1"/>
                </a:solidFill>
                <a:latin typeface="Times New Roman" pitchFamily="18" charset="0"/>
                <a:cs typeface="Times New Roman" pitchFamily="18" charset="0"/>
              </a:rPr>
              <a:t>These </a:t>
            </a:r>
            <a:r>
              <a:rPr lang="en-US" dirty="0">
                <a:solidFill>
                  <a:schemeClr val="tx1"/>
                </a:solidFill>
                <a:latin typeface="Times New Roman" pitchFamily="18" charset="0"/>
                <a:cs typeface="Times New Roman" pitchFamily="18" charset="0"/>
              </a:rPr>
              <a:t>are useful for managing software products but not for evaluating the performance of the technical staff</a:t>
            </a:r>
            <a:r>
              <a:rPr lang="en-US" dirty="0" smtClean="0">
                <a:solidFill>
                  <a:schemeClr val="tx1"/>
                </a:solidFill>
                <a:latin typeface="Times New Roman" pitchFamily="18" charset="0"/>
                <a:cs typeface="Times New Roman" pitchFamily="18" charset="0"/>
              </a:rPr>
              <a:t>.</a:t>
            </a:r>
          </a:p>
          <a:p>
            <a:pPr marL="457200" indent="-457200" algn="just">
              <a:buFont typeface="Arial" pitchFamily="34" charset="0"/>
              <a:buChar char="•"/>
            </a:pPr>
            <a:r>
              <a:rPr lang="en-US" dirty="0" smtClean="0">
                <a:solidFill>
                  <a:schemeClr val="tx1"/>
                </a:solidFill>
                <a:latin typeface="Times New Roman" pitchFamily="18" charset="0"/>
                <a:cs typeface="Times New Roman" pitchFamily="18" charset="0"/>
              </a:rPr>
              <a:t>The </a:t>
            </a:r>
            <a:r>
              <a:rPr lang="en-US" dirty="0">
                <a:solidFill>
                  <a:schemeClr val="tx1"/>
                </a:solidFill>
                <a:latin typeface="Times New Roman" pitchFamily="18" charset="0"/>
                <a:cs typeface="Times New Roman" pitchFamily="18" charset="0"/>
              </a:rPr>
              <a:t>definition and derivation of Software metrics are usually based on assuming which are not standardized and may depend upon tools available and working environment</a:t>
            </a:r>
            <a:r>
              <a:rPr lang="en-US" dirty="0" smtClean="0">
                <a:solidFill>
                  <a:schemeClr val="tx1"/>
                </a:solidFill>
                <a:latin typeface="Times New Roman" pitchFamily="18" charset="0"/>
                <a:cs typeface="Times New Roman" pitchFamily="18" charset="0"/>
              </a:rPr>
              <a:t>. </a:t>
            </a:r>
          </a:p>
          <a:p>
            <a:pPr marL="457200" indent="-457200" algn="just">
              <a:buFont typeface="Arial" pitchFamily="34" charset="0"/>
              <a:buChar char="•"/>
            </a:pPr>
            <a:r>
              <a:rPr lang="en-US" dirty="0" smtClean="0">
                <a:solidFill>
                  <a:schemeClr val="tx1"/>
                </a:solidFill>
                <a:latin typeface="Times New Roman" pitchFamily="18" charset="0"/>
                <a:cs typeface="Times New Roman" pitchFamily="18" charset="0"/>
              </a:rPr>
              <a:t>Most </a:t>
            </a:r>
            <a:r>
              <a:rPr lang="en-US" dirty="0">
                <a:solidFill>
                  <a:schemeClr val="tx1"/>
                </a:solidFill>
                <a:latin typeface="Times New Roman" pitchFamily="18" charset="0"/>
                <a:cs typeface="Times New Roman" pitchFamily="18" charset="0"/>
              </a:rPr>
              <a:t>of the predictive models rely on estimates of certain variables which are often not known precisely.</a:t>
            </a:r>
          </a:p>
          <a:p>
            <a:pPr algn="just"/>
            <a:r>
              <a:rPr lang="en-US" dirty="0" smtClean="0">
                <a:solidFill>
                  <a:schemeClr val="tx1"/>
                </a:solidFill>
                <a:latin typeface="Times New Roman" pitchFamily="18" charset="0"/>
                <a:cs typeface="Times New Roman" pitchFamily="18" charset="0"/>
              </a:rPr>
              <a:t/>
            </a:r>
            <a:br>
              <a:rPr lang="en-US" dirty="0" smtClean="0">
                <a:solidFill>
                  <a:schemeClr val="tx1"/>
                </a:solidFill>
                <a:latin typeface="Times New Roman" pitchFamily="18" charset="0"/>
                <a:cs typeface="Times New Roman" pitchFamily="18" charset="0"/>
              </a:rPr>
            </a:br>
            <a:endParaRPr lang="en-US" dirty="0">
              <a:solidFill>
                <a:schemeClr val="tx1"/>
              </a:solidFill>
              <a:latin typeface="Times New Roman" pitchFamily="18" charset="0"/>
              <a:cs typeface="Times New Roman" pitchFamily="18" charset="0"/>
            </a:endParaRPr>
          </a:p>
          <a:p>
            <a:pPr algn="just"/>
            <a:endParaRPr lang="en-US" dirty="0">
              <a:solidFill>
                <a:schemeClr val="tx1"/>
              </a:solidFill>
              <a:latin typeface="Times New Roman" pitchFamily="18" charset="0"/>
              <a:cs typeface="Times New Roman" pitchFamily="18" charset="0"/>
            </a:endParaRPr>
          </a:p>
          <a:p>
            <a:pPr algn="just"/>
            <a:endParaRPr lang="en-US" dirty="0">
              <a:solidFill>
                <a:schemeClr val="tx1"/>
              </a:solidFill>
              <a:latin typeface="Times New Roman" pitchFamily="18" charset="0"/>
              <a:cs typeface="Times New Roman" pitchFamily="18" charset="0"/>
            </a:endParaRPr>
          </a:p>
          <a:p>
            <a:pPr algn="just"/>
            <a:endParaRPr lang="en-US"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483852574"/>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28</TotalTime>
  <Words>318</Words>
  <Application>Microsoft Office PowerPoint</Application>
  <PresentationFormat>On-screen Show (4:3)</PresentationFormat>
  <Paragraphs>42</Paragraphs>
  <Slides>9</Slides>
  <Notes>0</Notes>
  <HiddenSlides>0</HiddenSlides>
  <MMClips>0</MMClips>
  <ScaleCrop>false</ScaleCrop>
  <HeadingPairs>
    <vt:vector size="4" baseType="variant">
      <vt:variant>
        <vt:lpstr>Theme</vt:lpstr>
      </vt:variant>
      <vt:variant>
        <vt:i4>1</vt:i4>
      </vt:variant>
      <vt:variant>
        <vt:lpstr>Slide Titles</vt:lpstr>
      </vt:variant>
      <vt:variant>
        <vt:i4>9</vt:i4>
      </vt:variant>
    </vt:vector>
  </HeadingPairs>
  <TitlesOfParts>
    <vt:vector size="10" baseType="lpstr">
      <vt:lpstr>Office Theme</vt:lpstr>
      <vt:lpstr>Software Metrics </vt:lpstr>
      <vt:lpstr>Classification of Software Metrics  </vt:lpstr>
      <vt:lpstr>Classification of Software Metrics  </vt:lpstr>
      <vt:lpstr>Classification of Software Metrics  </vt:lpstr>
      <vt:lpstr>Types of Metrics  </vt:lpstr>
      <vt:lpstr>Types of Metrics  </vt:lpstr>
      <vt:lpstr>Advantage of Software Metrics  </vt:lpstr>
      <vt:lpstr>Advantage of Software Metrics</vt:lpstr>
      <vt:lpstr>Disadvantage of Software Metrics </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Software Metrics</dc:title>
  <dc:creator>tara</dc:creator>
  <cp:lastModifiedBy>tara</cp:lastModifiedBy>
  <cp:revision>3</cp:revision>
  <dcterms:created xsi:type="dcterms:W3CDTF">2022-09-19T06:00:29Z</dcterms:created>
  <dcterms:modified xsi:type="dcterms:W3CDTF">2022-09-19T06:28:55Z</dcterms:modified>
</cp:coreProperties>
</file>