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4DCEFBE-41DB-42F7-9AFA-1DB0E7461C15}"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1DBBBF-A123-428B-A1C1-D05EDE82A65D}" type="slidenum">
              <a:rPr lang="en-US" smtClean="0"/>
              <a:t>‹#›</a:t>
            </a:fld>
            <a:endParaRPr lang="en-US"/>
          </a:p>
        </p:txBody>
      </p:sp>
    </p:spTree>
    <p:extLst>
      <p:ext uri="{BB962C8B-B14F-4D97-AF65-F5344CB8AC3E}">
        <p14:creationId xmlns:p14="http://schemas.microsoft.com/office/powerpoint/2010/main" val="2625251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DCEFBE-41DB-42F7-9AFA-1DB0E7461C15}"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1DBBBF-A123-428B-A1C1-D05EDE82A65D}" type="slidenum">
              <a:rPr lang="en-US" smtClean="0"/>
              <a:t>‹#›</a:t>
            </a:fld>
            <a:endParaRPr lang="en-US"/>
          </a:p>
        </p:txBody>
      </p:sp>
    </p:spTree>
    <p:extLst>
      <p:ext uri="{BB962C8B-B14F-4D97-AF65-F5344CB8AC3E}">
        <p14:creationId xmlns:p14="http://schemas.microsoft.com/office/powerpoint/2010/main" val="4158988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4DCEFBE-41DB-42F7-9AFA-1DB0E7461C15}"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1DBBBF-A123-428B-A1C1-D05EDE82A65D}" type="slidenum">
              <a:rPr lang="en-US" smtClean="0"/>
              <a:t>‹#›</a:t>
            </a:fld>
            <a:endParaRPr lang="en-US"/>
          </a:p>
        </p:txBody>
      </p:sp>
    </p:spTree>
    <p:extLst>
      <p:ext uri="{BB962C8B-B14F-4D97-AF65-F5344CB8AC3E}">
        <p14:creationId xmlns:p14="http://schemas.microsoft.com/office/powerpoint/2010/main" val="1956369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4DCEFBE-41DB-42F7-9AFA-1DB0E7461C15}" type="datetimeFigureOut">
              <a:rPr lang="en-US" smtClean="0"/>
              <a:t>9/20/2022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1DBBBF-A123-428B-A1C1-D05EDE82A65D}" type="slidenum">
              <a:rPr lang="en-US" smtClean="0"/>
              <a:t>‹#›</a:t>
            </a:fld>
            <a:endParaRPr lang="en-US"/>
          </a:p>
        </p:txBody>
      </p:sp>
    </p:spTree>
    <p:extLst>
      <p:ext uri="{BB962C8B-B14F-4D97-AF65-F5344CB8AC3E}">
        <p14:creationId xmlns:p14="http://schemas.microsoft.com/office/powerpoint/2010/main" val="1081610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4DCEFBE-41DB-42F7-9AFA-1DB0E7461C15}" type="datetimeFigureOut">
              <a:rPr lang="en-US" smtClean="0"/>
              <a:t>9/20/2022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E1DBBBF-A123-428B-A1C1-D05EDE82A65D}" type="slidenum">
              <a:rPr lang="en-US" smtClean="0"/>
              <a:t>‹#›</a:t>
            </a:fld>
            <a:endParaRPr lang="en-US"/>
          </a:p>
        </p:txBody>
      </p:sp>
    </p:spTree>
    <p:extLst>
      <p:ext uri="{BB962C8B-B14F-4D97-AF65-F5344CB8AC3E}">
        <p14:creationId xmlns:p14="http://schemas.microsoft.com/office/powerpoint/2010/main" val="2793528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4DCEFBE-41DB-42F7-9AFA-1DB0E7461C15}" type="datetimeFigureOut">
              <a:rPr lang="en-US" smtClean="0"/>
              <a:t>9/20/2022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E1DBBBF-A123-428B-A1C1-D05EDE82A65D}" type="slidenum">
              <a:rPr lang="en-US" smtClean="0"/>
              <a:t>‹#›</a:t>
            </a:fld>
            <a:endParaRPr lang="en-US"/>
          </a:p>
        </p:txBody>
      </p:sp>
    </p:spTree>
    <p:extLst>
      <p:ext uri="{BB962C8B-B14F-4D97-AF65-F5344CB8AC3E}">
        <p14:creationId xmlns:p14="http://schemas.microsoft.com/office/powerpoint/2010/main" val="1482776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DCEFBE-41DB-42F7-9AFA-1DB0E7461C15}" type="datetimeFigureOut">
              <a:rPr lang="en-US" smtClean="0"/>
              <a:t>9/20/2022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E1DBBBF-A123-428B-A1C1-D05EDE82A65D}" type="slidenum">
              <a:rPr lang="en-US" smtClean="0"/>
              <a:t>‹#›</a:t>
            </a:fld>
            <a:endParaRPr lang="en-US"/>
          </a:p>
        </p:txBody>
      </p:sp>
    </p:spTree>
    <p:extLst>
      <p:ext uri="{BB962C8B-B14F-4D97-AF65-F5344CB8AC3E}">
        <p14:creationId xmlns:p14="http://schemas.microsoft.com/office/powerpoint/2010/main" val="3930552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4DCEFBE-41DB-42F7-9AFA-1DB0E7461C15}" type="datetimeFigureOut">
              <a:rPr lang="en-US" smtClean="0"/>
              <a:t>9/20/2022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1DBBBF-A123-428B-A1C1-D05EDE82A65D}" type="slidenum">
              <a:rPr lang="en-US" smtClean="0"/>
              <a:t>‹#›</a:t>
            </a:fld>
            <a:endParaRPr lang="en-US"/>
          </a:p>
        </p:txBody>
      </p:sp>
    </p:spTree>
    <p:extLst>
      <p:ext uri="{BB962C8B-B14F-4D97-AF65-F5344CB8AC3E}">
        <p14:creationId xmlns:p14="http://schemas.microsoft.com/office/powerpoint/2010/main" val="883274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4DCEFBE-41DB-42F7-9AFA-1DB0E7461C15}" type="datetimeFigureOut">
              <a:rPr lang="en-US" smtClean="0"/>
              <a:t>9/20/2022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1DBBBF-A123-428B-A1C1-D05EDE82A65D}" type="slidenum">
              <a:rPr lang="en-US" smtClean="0"/>
              <a:t>‹#›</a:t>
            </a:fld>
            <a:endParaRPr lang="en-US"/>
          </a:p>
        </p:txBody>
      </p:sp>
    </p:spTree>
    <p:extLst>
      <p:ext uri="{BB962C8B-B14F-4D97-AF65-F5344CB8AC3E}">
        <p14:creationId xmlns:p14="http://schemas.microsoft.com/office/powerpoint/2010/main" val="1921136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DCEFBE-41DB-42F7-9AFA-1DB0E7461C15}"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1DBBBF-A123-428B-A1C1-D05EDE82A65D}" type="slidenum">
              <a:rPr lang="en-US" smtClean="0"/>
              <a:t>‹#›</a:t>
            </a:fld>
            <a:endParaRPr lang="en-US"/>
          </a:p>
        </p:txBody>
      </p:sp>
    </p:spTree>
    <p:extLst>
      <p:ext uri="{BB962C8B-B14F-4D97-AF65-F5344CB8AC3E}">
        <p14:creationId xmlns:p14="http://schemas.microsoft.com/office/powerpoint/2010/main" val="1518794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DCEFBE-41DB-42F7-9AFA-1DB0E7461C15}"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1DBBBF-A123-428B-A1C1-D05EDE82A65D}" type="slidenum">
              <a:rPr lang="en-US" smtClean="0"/>
              <a:t>‹#›</a:t>
            </a:fld>
            <a:endParaRPr lang="en-US"/>
          </a:p>
        </p:txBody>
      </p:sp>
    </p:spTree>
    <p:extLst>
      <p:ext uri="{BB962C8B-B14F-4D97-AF65-F5344CB8AC3E}">
        <p14:creationId xmlns:p14="http://schemas.microsoft.com/office/powerpoint/2010/main" val="3758367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CEFBE-41DB-42F7-9AFA-1DB0E7461C15}" type="datetimeFigureOut">
              <a:rPr lang="en-US" smtClean="0"/>
              <a:t>9/20/2022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1DBBBF-A123-428B-A1C1-D05EDE82A65D}" type="slidenum">
              <a:rPr lang="en-US" smtClean="0"/>
              <a:t>‹#›</a:t>
            </a:fld>
            <a:endParaRPr lang="en-US"/>
          </a:p>
        </p:txBody>
      </p:sp>
    </p:spTree>
    <p:extLst>
      <p:ext uri="{BB962C8B-B14F-4D97-AF65-F5344CB8AC3E}">
        <p14:creationId xmlns:p14="http://schemas.microsoft.com/office/powerpoint/2010/main" val="39093521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p:spPr>
        <p:txBody>
          <a:bodyPr/>
          <a:lstStyle/>
          <a:p>
            <a:r>
              <a:rPr lang="en-US" dirty="0">
                <a:solidFill>
                  <a:srgbClr val="C00000"/>
                </a:solidFill>
              </a:rPr>
              <a:t>Functional Point (FP) Analysis</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990600" y="1828800"/>
            <a:ext cx="7391400" cy="4191000"/>
          </a:xfrm>
        </p:spPr>
        <p:txBody>
          <a:bodyPr>
            <a:normAutofit fontScale="85000" lnSpcReduction="10000"/>
          </a:bodyPr>
          <a:lstStyle/>
          <a:p>
            <a:pPr algn="just"/>
            <a:r>
              <a:rPr lang="en-US" dirty="0">
                <a:solidFill>
                  <a:schemeClr val="tx1"/>
                </a:solidFill>
              </a:rPr>
              <a:t>Allan J. Albrecht initially developed function Point Analysis in 1979 at IBM and it has been further modified by the International Function Point Users Group (IFPUG). FPA is used to make estimate of the software project, including its testing in terms of functionality or function size of the software product. However, functional point analysis may be used for the test estimation of the product. The functional size of the product is measured in terms of the function point, which is a standard of measurement to measure the software application.</a:t>
            </a:r>
          </a:p>
        </p:txBody>
      </p:sp>
    </p:spTree>
    <p:extLst>
      <p:ext uri="{BB962C8B-B14F-4D97-AF65-F5344CB8AC3E}">
        <p14:creationId xmlns:p14="http://schemas.microsoft.com/office/powerpoint/2010/main" val="403447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p:spPr>
        <p:txBody>
          <a:bodyPr>
            <a:normAutofit fontScale="90000"/>
          </a:bodyPr>
          <a:lstStyle/>
          <a:p>
            <a:r>
              <a:rPr lang="en-US" dirty="0">
                <a:solidFill>
                  <a:srgbClr val="C00000"/>
                </a:solidFill>
              </a:rPr>
              <a:t>Objectives of FPA</a:t>
            </a:r>
            <a:br>
              <a:rPr lang="en-US" dirty="0">
                <a:solidFill>
                  <a:srgbClr val="C00000"/>
                </a:solidFill>
              </a:rPr>
            </a:br>
            <a:r>
              <a:rPr lang="en-US" dirty="0">
                <a:solidFill>
                  <a:srgbClr val="C00000"/>
                </a:solidFill>
              </a:rPr>
              <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990600" y="1828800"/>
            <a:ext cx="7391400" cy="4191000"/>
          </a:xfrm>
        </p:spPr>
        <p:txBody>
          <a:bodyPr>
            <a:normAutofit fontScale="92500" lnSpcReduction="10000"/>
          </a:bodyPr>
          <a:lstStyle/>
          <a:p>
            <a:pPr algn="just"/>
            <a:r>
              <a:rPr lang="en-US" dirty="0">
                <a:solidFill>
                  <a:schemeClr val="tx1"/>
                </a:solidFill>
              </a:rPr>
              <a:t>The basic and primary purpose of the functional point analysis is to measure and provide the software application functional size to the client, customer, and the stakeholder on their request. Further, it is used to measure the software project development along with its maintenance, consistently throughout the project irrespective of the tools and the technologies.</a:t>
            </a:r>
          </a:p>
        </p:txBody>
      </p:sp>
    </p:spTree>
    <p:extLst>
      <p:ext uri="{BB962C8B-B14F-4D97-AF65-F5344CB8AC3E}">
        <p14:creationId xmlns:p14="http://schemas.microsoft.com/office/powerpoint/2010/main" val="3251241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01857" y="533400"/>
            <a:ext cx="7391400" cy="1905000"/>
          </a:xfrm>
        </p:spPr>
        <p:txBody>
          <a:bodyPr>
            <a:normAutofit fontScale="70000" lnSpcReduction="20000"/>
          </a:bodyPr>
          <a:lstStyle/>
          <a:p>
            <a:pPr algn="just"/>
            <a:r>
              <a:rPr lang="en-US" b="1" dirty="0">
                <a:solidFill>
                  <a:schemeClr val="tx1"/>
                </a:solidFill>
              </a:rPr>
              <a:t>Following are the points regarding FPs</a:t>
            </a:r>
            <a:endParaRPr lang="en-US" dirty="0">
              <a:solidFill>
                <a:schemeClr val="tx1"/>
              </a:solidFill>
            </a:endParaRPr>
          </a:p>
          <a:p>
            <a:pPr marL="514350" indent="-514350" algn="just">
              <a:buAutoNum type="arabicPeriod"/>
            </a:pPr>
            <a:r>
              <a:rPr lang="en-US" dirty="0" smtClean="0">
                <a:solidFill>
                  <a:schemeClr val="tx1"/>
                </a:solidFill>
              </a:rPr>
              <a:t>FPs </a:t>
            </a:r>
            <a:r>
              <a:rPr lang="en-US" dirty="0">
                <a:solidFill>
                  <a:schemeClr val="tx1"/>
                </a:solidFill>
              </a:rPr>
              <a:t>of an application is found out by counting the number and types of functions used in the applications. Various functions used in an application can be put under five types, as shown in Table</a:t>
            </a:r>
            <a:r>
              <a:rPr lang="en-US" dirty="0" smtClean="0">
                <a:solidFill>
                  <a:schemeClr val="tx1"/>
                </a:solidFill>
              </a:rPr>
              <a:t>:</a:t>
            </a:r>
          </a:p>
          <a:p>
            <a:pPr algn="just"/>
            <a:endParaRPr lang="en-US" dirty="0">
              <a:solidFill>
                <a:schemeClr val="tx1"/>
              </a:solidFill>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209800"/>
            <a:ext cx="792480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58523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8815" y="762001"/>
            <a:ext cx="7549385" cy="5496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90684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90600" y="990600"/>
            <a:ext cx="7391400" cy="5029200"/>
          </a:xfrm>
        </p:spPr>
        <p:txBody>
          <a:bodyPr>
            <a:normAutofit fontScale="85000" lnSpcReduction="10000"/>
          </a:bodyPr>
          <a:lstStyle/>
          <a:p>
            <a:pPr algn="just"/>
            <a:r>
              <a:rPr lang="en-US" dirty="0">
                <a:solidFill>
                  <a:schemeClr val="tx1"/>
                </a:solidFill>
              </a:rPr>
              <a:t>2. FP characterizes the complexity of the software system and hence can be used to depict the project time and the manpower requirement.</a:t>
            </a:r>
          </a:p>
          <a:p>
            <a:pPr algn="just"/>
            <a:r>
              <a:rPr lang="en-US" dirty="0">
                <a:solidFill>
                  <a:schemeClr val="tx1"/>
                </a:solidFill>
              </a:rPr>
              <a:t>3. The effort required to develop the project depends on what the software does.</a:t>
            </a:r>
          </a:p>
          <a:p>
            <a:pPr algn="just"/>
            <a:r>
              <a:rPr lang="en-US" dirty="0">
                <a:solidFill>
                  <a:schemeClr val="tx1"/>
                </a:solidFill>
              </a:rPr>
              <a:t>4. FP is programming language independent.</a:t>
            </a:r>
          </a:p>
          <a:p>
            <a:pPr algn="just"/>
            <a:r>
              <a:rPr lang="en-US" dirty="0">
                <a:solidFill>
                  <a:schemeClr val="tx1"/>
                </a:solidFill>
              </a:rPr>
              <a:t>5. FP method is used for data processing systems, business systems like information systems.</a:t>
            </a:r>
          </a:p>
          <a:p>
            <a:pPr algn="just"/>
            <a:r>
              <a:rPr lang="en-US" dirty="0">
                <a:solidFill>
                  <a:schemeClr val="tx1"/>
                </a:solidFill>
              </a:rPr>
              <a:t>6. The five parameters mentioned above are also known as information domain characteristics.</a:t>
            </a:r>
          </a:p>
        </p:txBody>
      </p:sp>
    </p:spTree>
    <p:extLst>
      <p:ext uri="{BB962C8B-B14F-4D97-AF65-F5344CB8AC3E}">
        <p14:creationId xmlns:p14="http://schemas.microsoft.com/office/powerpoint/2010/main" val="2979235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09600" y="609600"/>
            <a:ext cx="8077200" cy="1066800"/>
          </a:xfrm>
        </p:spPr>
        <p:txBody>
          <a:bodyPr>
            <a:normAutofit fontScale="77500" lnSpcReduction="20000"/>
          </a:bodyPr>
          <a:lstStyle/>
          <a:p>
            <a:pPr algn="just"/>
            <a:r>
              <a:rPr lang="en-US" dirty="0">
                <a:solidFill>
                  <a:schemeClr val="tx1"/>
                </a:solidFill>
              </a:rPr>
              <a:t>7. All the parameters mentioned above are assigned some weights that have been experimentally determined and are shown in Table</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520" y="1762125"/>
            <a:ext cx="7337280" cy="35384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ubtitle 2"/>
          <p:cNvSpPr txBox="1">
            <a:spLocks/>
          </p:cNvSpPr>
          <p:nvPr/>
        </p:nvSpPr>
        <p:spPr>
          <a:xfrm>
            <a:off x="609600" y="5562600"/>
            <a:ext cx="8077200" cy="1066800"/>
          </a:xfrm>
          <a:prstGeom prst="rect">
            <a:avLst/>
          </a:prstGeom>
        </p:spPr>
        <p:txBody>
          <a:bodyPr vert="horz" lIns="91440" tIns="45720" rIns="91440" bIns="45720" rtlCol="0">
            <a:normAutofit fontScale="700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dirty="0">
                <a:solidFill>
                  <a:schemeClr val="tx1"/>
                </a:solidFill>
              </a:rPr>
              <a:t>The functional complexities are multiplied with the corresponding weights against each function, and the values are added up to determine the UFP (Unadjusted Function Point) of the subsystem.</a:t>
            </a:r>
          </a:p>
        </p:txBody>
      </p:sp>
    </p:spTree>
    <p:extLst>
      <p:ext uri="{BB962C8B-B14F-4D97-AF65-F5344CB8AC3E}">
        <p14:creationId xmlns:p14="http://schemas.microsoft.com/office/powerpoint/2010/main" val="1444851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1" y="447675"/>
            <a:ext cx="7543800" cy="420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066800" y="5068669"/>
            <a:ext cx="7315200" cy="954107"/>
          </a:xfrm>
          <a:prstGeom prst="rect">
            <a:avLst/>
          </a:prstGeom>
        </p:spPr>
        <p:txBody>
          <a:bodyPr wrap="square">
            <a:spAutoFit/>
          </a:bodyPr>
          <a:lstStyle/>
          <a:p>
            <a:r>
              <a:rPr lang="en-US" sz="2800" dirty="0"/>
              <a:t>Here that weighing factor will be simple, average, or complex for a measurement parameter type.</a:t>
            </a:r>
          </a:p>
        </p:txBody>
      </p:sp>
    </p:spTree>
    <p:extLst>
      <p:ext uri="{BB962C8B-B14F-4D97-AF65-F5344CB8AC3E}">
        <p14:creationId xmlns:p14="http://schemas.microsoft.com/office/powerpoint/2010/main" val="1308549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38200" y="990600"/>
            <a:ext cx="7696200" cy="5105400"/>
          </a:xfrm>
        </p:spPr>
        <p:txBody>
          <a:bodyPr>
            <a:normAutofit fontScale="85000" lnSpcReduction="10000"/>
          </a:bodyPr>
          <a:lstStyle/>
          <a:p>
            <a:pPr algn="just"/>
            <a:r>
              <a:rPr lang="en-US" dirty="0">
                <a:solidFill>
                  <a:schemeClr val="tx1"/>
                </a:solidFill>
              </a:rPr>
              <a:t>The Function Point (FP) is thus calculated with the following formula</a:t>
            </a:r>
            <a:r>
              <a:rPr lang="en-US" dirty="0" smtClean="0">
                <a:solidFill>
                  <a:schemeClr val="tx1"/>
                </a:solidFill>
              </a:rPr>
              <a:t>.</a:t>
            </a:r>
          </a:p>
          <a:p>
            <a:pPr algn="just"/>
            <a:r>
              <a:rPr lang="en-US" dirty="0">
                <a:solidFill>
                  <a:schemeClr val="tx1"/>
                </a:solidFill>
              </a:rPr>
              <a:t> </a:t>
            </a:r>
            <a:r>
              <a:rPr lang="en-US" b="1" dirty="0">
                <a:solidFill>
                  <a:schemeClr val="tx1"/>
                </a:solidFill>
              </a:rPr>
              <a:t>FP = Count-total * [0.65 + 0.01 * ∑(f</a:t>
            </a:r>
            <a:r>
              <a:rPr lang="en-US" b="1" baseline="-25000" dirty="0">
                <a:solidFill>
                  <a:schemeClr val="tx1"/>
                </a:solidFill>
              </a:rPr>
              <a:t>i</a:t>
            </a:r>
            <a:r>
              <a:rPr lang="en-US" b="1" dirty="0">
                <a:solidFill>
                  <a:schemeClr val="tx1"/>
                </a:solidFill>
              </a:rPr>
              <a:t>)]</a:t>
            </a:r>
            <a:r>
              <a:rPr lang="en-US" dirty="0">
                <a:solidFill>
                  <a:schemeClr val="tx1"/>
                </a:solidFill>
              </a:rPr>
              <a:t/>
            </a:r>
            <a:br>
              <a:rPr lang="en-US" dirty="0">
                <a:solidFill>
                  <a:schemeClr val="tx1"/>
                </a:solidFill>
              </a:rPr>
            </a:br>
            <a:r>
              <a:rPr lang="en-US" dirty="0">
                <a:solidFill>
                  <a:schemeClr val="tx1"/>
                </a:solidFill>
              </a:rPr>
              <a:t>              </a:t>
            </a:r>
            <a:r>
              <a:rPr lang="en-US" b="1" dirty="0">
                <a:solidFill>
                  <a:schemeClr val="tx1"/>
                </a:solidFill>
              </a:rPr>
              <a:t>= Count-total * CAF</a:t>
            </a:r>
            <a:endParaRPr lang="en-US" dirty="0">
              <a:solidFill>
                <a:schemeClr val="tx1"/>
              </a:solidFill>
            </a:endParaRPr>
          </a:p>
          <a:p>
            <a:pPr algn="just"/>
            <a:r>
              <a:rPr lang="en-US" dirty="0">
                <a:solidFill>
                  <a:schemeClr val="tx1"/>
                </a:solidFill>
              </a:rPr>
              <a:t>where Count-total is obtained from the above Table.</a:t>
            </a:r>
          </a:p>
          <a:p>
            <a:pPr algn="just"/>
            <a:r>
              <a:rPr lang="en-US" dirty="0">
                <a:solidFill>
                  <a:schemeClr val="tx1"/>
                </a:solidFill>
              </a:rPr>
              <a:t>              </a:t>
            </a:r>
            <a:r>
              <a:rPr lang="en-US" b="1" dirty="0">
                <a:solidFill>
                  <a:schemeClr val="tx1"/>
                </a:solidFill>
              </a:rPr>
              <a:t>CAF = [0.65 + 0.01 *∑(f</a:t>
            </a:r>
            <a:r>
              <a:rPr lang="en-US" b="1" baseline="-25000" dirty="0">
                <a:solidFill>
                  <a:schemeClr val="tx1"/>
                </a:solidFill>
              </a:rPr>
              <a:t>i</a:t>
            </a:r>
            <a:r>
              <a:rPr lang="en-US" b="1" dirty="0">
                <a:solidFill>
                  <a:schemeClr val="tx1"/>
                </a:solidFill>
              </a:rPr>
              <a:t>)]</a:t>
            </a:r>
            <a:endParaRPr lang="en-US" dirty="0">
              <a:solidFill>
                <a:schemeClr val="tx1"/>
              </a:solidFill>
            </a:endParaRPr>
          </a:p>
          <a:p>
            <a:pPr algn="just"/>
            <a:r>
              <a:rPr lang="en-US" dirty="0">
                <a:solidFill>
                  <a:schemeClr val="tx1"/>
                </a:solidFill>
              </a:rPr>
              <a:t>and </a:t>
            </a:r>
            <a:r>
              <a:rPr lang="en-US" b="1" dirty="0">
                <a:solidFill>
                  <a:schemeClr val="tx1"/>
                </a:solidFill>
              </a:rPr>
              <a:t>∑(f</a:t>
            </a:r>
            <a:r>
              <a:rPr lang="en-US" b="1" baseline="-25000" dirty="0">
                <a:solidFill>
                  <a:schemeClr val="tx1"/>
                </a:solidFill>
              </a:rPr>
              <a:t>i</a:t>
            </a:r>
            <a:r>
              <a:rPr lang="en-US" b="1" dirty="0">
                <a:solidFill>
                  <a:schemeClr val="tx1"/>
                </a:solidFill>
              </a:rPr>
              <a:t>)</a:t>
            </a:r>
            <a:r>
              <a:rPr lang="en-US" dirty="0">
                <a:solidFill>
                  <a:schemeClr val="tx1"/>
                </a:solidFill>
              </a:rPr>
              <a:t> is the sum of all 14 questionnaires and show the complexity adjustment value/ factor-CAF (where i ranges from 1 to 14). Usually, a student is provided with the value of ∑(f</a:t>
            </a:r>
            <a:r>
              <a:rPr lang="en-US" baseline="-25000" dirty="0">
                <a:solidFill>
                  <a:schemeClr val="tx1"/>
                </a:solidFill>
              </a:rPr>
              <a:t>i</a:t>
            </a:r>
            <a:r>
              <a:rPr lang="en-US" dirty="0">
                <a:solidFill>
                  <a:schemeClr val="tx1"/>
                </a:solidFill>
              </a:rPr>
              <a:t>)</a:t>
            </a:r>
          </a:p>
          <a:p>
            <a:pPr algn="just"/>
            <a:r>
              <a:rPr lang="en-US" dirty="0">
                <a:solidFill>
                  <a:schemeClr val="tx1"/>
                </a:solidFill>
              </a:rPr>
              <a:t>Also note that </a:t>
            </a:r>
            <a:r>
              <a:rPr lang="en-US" b="1" dirty="0">
                <a:solidFill>
                  <a:schemeClr val="tx1"/>
                </a:solidFill>
              </a:rPr>
              <a:t>∑(f</a:t>
            </a:r>
            <a:r>
              <a:rPr lang="en-US" b="1" baseline="-25000" dirty="0">
                <a:solidFill>
                  <a:schemeClr val="tx1"/>
                </a:solidFill>
              </a:rPr>
              <a:t>i</a:t>
            </a:r>
            <a:r>
              <a:rPr lang="en-US" b="1" dirty="0">
                <a:solidFill>
                  <a:schemeClr val="tx1"/>
                </a:solidFill>
              </a:rPr>
              <a:t>)</a:t>
            </a:r>
            <a:r>
              <a:rPr lang="en-US" dirty="0">
                <a:solidFill>
                  <a:schemeClr val="tx1"/>
                </a:solidFill>
              </a:rPr>
              <a:t> ranges from 0 to 70, i.e.,</a:t>
            </a:r>
          </a:p>
          <a:p>
            <a:pPr algn="just"/>
            <a:r>
              <a:rPr lang="en-US" dirty="0">
                <a:solidFill>
                  <a:schemeClr val="tx1"/>
                </a:solidFill>
              </a:rPr>
              <a:t>              0 &lt;= ∑(f</a:t>
            </a:r>
            <a:r>
              <a:rPr lang="en-US" baseline="-25000" dirty="0">
                <a:solidFill>
                  <a:schemeClr val="tx1"/>
                </a:solidFill>
              </a:rPr>
              <a:t>i</a:t>
            </a:r>
            <a:r>
              <a:rPr lang="en-US" dirty="0">
                <a:solidFill>
                  <a:schemeClr val="tx1"/>
                </a:solidFill>
              </a:rPr>
              <a:t>) &lt;=70</a:t>
            </a:r>
          </a:p>
          <a:p>
            <a:pPr algn="just"/>
            <a:endParaRPr lang="en-US" dirty="0">
              <a:solidFill>
                <a:schemeClr val="tx1"/>
              </a:solidFill>
            </a:endParaRPr>
          </a:p>
        </p:txBody>
      </p:sp>
    </p:spTree>
    <p:extLst>
      <p:ext uri="{BB962C8B-B14F-4D97-AF65-F5344CB8AC3E}">
        <p14:creationId xmlns:p14="http://schemas.microsoft.com/office/powerpoint/2010/main" val="4081208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38200" y="990600"/>
            <a:ext cx="7696200" cy="5105400"/>
          </a:xfrm>
        </p:spPr>
        <p:txBody>
          <a:bodyPr>
            <a:normAutofit fontScale="70000" lnSpcReduction="20000"/>
          </a:bodyPr>
          <a:lstStyle/>
          <a:p>
            <a:pPr algn="just"/>
            <a:r>
              <a:rPr lang="en-US" dirty="0">
                <a:solidFill>
                  <a:schemeClr val="tx1"/>
                </a:solidFill>
              </a:rPr>
              <a:t>and CAF ranges from 0.65 to 1.35 because</a:t>
            </a:r>
          </a:p>
          <a:p>
            <a:pPr marL="514350" indent="-514350" algn="just">
              <a:buFont typeface="+mj-lt"/>
              <a:buAutoNum type="alphaLcParenR"/>
            </a:pPr>
            <a:r>
              <a:rPr lang="en-US" dirty="0">
                <a:solidFill>
                  <a:schemeClr val="tx1"/>
                </a:solidFill>
              </a:rPr>
              <a:t>When </a:t>
            </a:r>
            <a:r>
              <a:rPr lang="en-US" b="1" dirty="0">
                <a:solidFill>
                  <a:schemeClr val="tx1"/>
                </a:solidFill>
              </a:rPr>
              <a:t>∑(f</a:t>
            </a:r>
            <a:r>
              <a:rPr lang="en-US" b="1" baseline="-25000" dirty="0">
                <a:solidFill>
                  <a:schemeClr val="tx1"/>
                </a:solidFill>
              </a:rPr>
              <a:t>i</a:t>
            </a:r>
            <a:r>
              <a:rPr lang="en-US" b="1" dirty="0">
                <a:solidFill>
                  <a:schemeClr val="tx1"/>
                </a:solidFill>
              </a:rPr>
              <a:t>)</a:t>
            </a:r>
            <a:r>
              <a:rPr lang="en-US" dirty="0">
                <a:solidFill>
                  <a:schemeClr val="tx1"/>
                </a:solidFill>
              </a:rPr>
              <a:t> = 0 then CAF = </a:t>
            </a:r>
            <a:r>
              <a:rPr lang="en-US" dirty="0" smtClean="0">
                <a:solidFill>
                  <a:schemeClr val="tx1"/>
                </a:solidFill>
              </a:rPr>
              <a:t>0.65</a:t>
            </a:r>
          </a:p>
          <a:p>
            <a:pPr marL="514350" indent="-514350" algn="just">
              <a:buFont typeface="+mj-lt"/>
              <a:buAutoNum type="alphaLcParenR"/>
            </a:pPr>
            <a:r>
              <a:rPr lang="en-US" dirty="0" smtClean="0">
                <a:solidFill>
                  <a:schemeClr val="tx1"/>
                </a:solidFill>
              </a:rPr>
              <a:t>When</a:t>
            </a:r>
            <a:r>
              <a:rPr lang="en-US" dirty="0">
                <a:solidFill>
                  <a:schemeClr val="tx1"/>
                </a:solidFill>
              </a:rPr>
              <a:t> </a:t>
            </a:r>
            <a:r>
              <a:rPr lang="en-US" b="1" dirty="0">
                <a:solidFill>
                  <a:schemeClr val="tx1"/>
                </a:solidFill>
              </a:rPr>
              <a:t>∑(f</a:t>
            </a:r>
            <a:r>
              <a:rPr lang="en-US" b="1" baseline="-25000" dirty="0">
                <a:solidFill>
                  <a:schemeClr val="tx1"/>
                </a:solidFill>
              </a:rPr>
              <a:t>i</a:t>
            </a:r>
            <a:r>
              <a:rPr lang="en-US" b="1" dirty="0">
                <a:solidFill>
                  <a:schemeClr val="tx1"/>
                </a:solidFill>
              </a:rPr>
              <a:t>)</a:t>
            </a:r>
            <a:r>
              <a:rPr lang="en-US" dirty="0">
                <a:solidFill>
                  <a:schemeClr val="tx1"/>
                </a:solidFill>
              </a:rPr>
              <a:t> = 70 then CAF = 0.65 + (0.01 * 70) = 0.65 + 0.7 = 1.35</a:t>
            </a:r>
          </a:p>
          <a:p>
            <a:pPr algn="just"/>
            <a:r>
              <a:rPr lang="en-US" dirty="0">
                <a:solidFill>
                  <a:schemeClr val="tx1"/>
                </a:solidFill>
              </a:rPr>
              <a:t>Based on the FP measure of software many other metrics can be computed:</a:t>
            </a:r>
          </a:p>
          <a:p>
            <a:pPr marL="514350" indent="-514350" algn="just">
              <a:buFont typeface="+mj-lt"/>
              <a:buAutoNum type="alphaLcParenR"/>
            </a:pPr>
            <a:r>
              <a:rPr lang="en-US" dirty="0" smtClean="0">
                <a:solidFill>
                  <a:schemeClr val="tx1"/>
                </a:solidFill>
              </a:rPr>
              <a:t>Errors/FP</a:t>
            </a:r>
          </a:p>
          <a:p>
            <a:pPr marL="514350" indent="-514350" algn="just">
              <a:buFont typeface="+mj-lt"/>
              <a:buAutoNum type="alphaLcParenR"/>
            </a:pPr>
            <a:r>
              <a:rPr lang="en-US" dirty="0" smtClean="0">
                <a:solidFill>
                  <a:schemeClr val="tx1"/>
                </a:solidFill>
              </a:rPr>
              <a:t>$/</a:t>
            </a:r>
            <a:r>
              <a:rPr lang="en-US" dirty="0">
                <a:solidFill>
                  <a:schemeClr val="tx1"/>
                </a:solidFill>
              </a:rPr>
              <a:t>FP</a:t>
            </a:r>
            <a:r>
              <a:rPr lang="en-US" dirty="0" smtClean="0">
                <a:solidFill>
                  <a:schemeClr val="tx1"/>
                </a:solidFill>
              </a:rPr>
              <a:t>.</a:t>
            </a:r>
          </a:p>
          <a:p>
            <a:pPr marL="514350" indent="-514350" algn="just">
              <a:buFont typeface="+mj-lt"/>
              <a:buAutoNum type="alphaLcParenR"/>
            </a:pPr>
            <a:r>
              <a:rPr lang="en-US" dirty="0" smtClean="0">
                <a:solidFill>
                  <a:schemeClr val="tx1"/>
                </a:solidFill>
              </a:rPr>
              <a:t>Defects/FP</a:t>
            </a:r>
          </a:p>
          <a:p>
            <a:pPr marL="514350" indent="-514350" algn="just">
              <a:buFont typeface="+mj-lt"/>
              <a:buAutoNum type="alphaLcParenR"/>
            </a:pPr>
            <a:r>
              <a:rPr lang="en-US" dirty="0" smtClean="0">
                <a:solidFill>
                  <a:schemeClr val="tx1"/>
                </a:solidFill>
              </a:rPr>
              <a:t>Pages </a:t>
            </a:r>
            <a:r>
              <a:rPr lang="en-US" dirty="0">
                <a:solidFill>
                  <a:schemeClr val="tx1"/>
                </a:solidFill>
              </a:rPr>
              <a:t>of </a:t>
            </a:r>
            <a:r>
              <a:rPr lang="en-US" dirty="0" smtClean="0">
                <a:solidFill>
                  <a:schemeClr val="tx1"/>
                </a:solidFill>
              </a:rPr>
              <a:t>documentation/FP</a:t>
            </a:r>
          </a:p>
          <a:p>
            <a:pPr marL="514350" indent="-514350" algn="just">
              <a:buFont typeface="+mj-lt"/>
              <a:buAutoNum type="alphaLcParenR"/>
            </a:pPr>
            <a:r>
              <a:rPr lang="en-US" dirty="0" smtClean="0">
                <a:solidFill>
                  <a:schemeClr val="tx1"/>
                </a:solidFill>
              </a:rPr>
              <a:t>Errors/PM.</a:t>
            </a:r>
          </a:p>
          <a:p>
            <a:pPr marL="514350" indent="-514350" algn="just">
              <a:buFont typeface="+mj-lt"/>
              <a:buAutoNum type="alphaLcParenR"/>
            </a:pPr>
            <a:r>
              <a:rPr lang="en-US" dirty="0" smtClean="0">
                <a:solidFill>
                  <a:schemeClr val="tx1"/>
                </a:solidFill>
              </a:rPr>
              <a:t>Productivity </a:t>
            </a:r>
            <a:r>
              <a:rPr lang="en-US" dirty="0">
                <a:solidFill>
                  <a:schemeClr val="tx1"/>
                </a:solidFill>
              </a:rPr>
              <a:t>= FP/PM (effort is measured in person-months</a:t>
            </a:r>
            <a:r>
              <a:rPr lang="en-US" dirty="0" smtClean="0">
                <a:solidFill>
                  <a:schemeClr val="tx1"/>
                </a:solidFill>
              </a:rPr>
              <a:t>).</a:t>
            </a:r>
          </a:p>
          <a:p>
            <a:pPr marL="514350" indent="-514350" algn="just">
              <a:buFont typeface="+mj-lt"/>
              <a:buAutoNum type="alphaLcParenR"/>
            </a:pPr>
            <a:r>
              <a:rPr lang="en-US" dirty="0" smtClean="0">
                <a:solidFill>
                  <a:schemeClr val="tx1"/>
                </a:solidFill>
              </a:rPr>
              <a:t>$/</a:t>
            </a:r>
            <a:r>
              <a:rPr lang="en-US" dirty="0">
                <a:solidFill>
                  <a:schemeClr val="tx1"/>
                </a:solidFill>
              </a:rPr>
              <a:t>Page of Documentation.</a:t>
            </a:r>
          </a:p>
          <a:p>
            <a:pPr algn="just"/>
            <a:endParaRPr lang="en-US" dirty="0">
              <a:solidFill>
                <a:schemeClr val="tx1"/>
              </a:solidFill>
            </a:endParaRPr>
          </a:p>
        </p:txBody>
      </p:sp>
    </p:spTree>
    <p:extLst>
      <p:ext uri="{BB962C8B-B14F-4D97-AF65-F5344CB8AC3E}">
        <p14:creationId xmlns:p14="http://schemas.microsoft.com/office/powerpoint/2010/main" val="1751511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38200" y="990600"/>
            <a:ext cx="7696200" cy="5105400"/>
          </a:xfrm>
        </p:spPr>
        <p:txBody>
          <a:bodyPr>
            <a:normAutofit fontScale="92500" lnSpcReduction="20000"/>
          </a:bodyPr>
          <a:lstStyle/>
          <a:p>
            <a:pPr algn="just"/>
            <a:r>
              <a:rPr lang="en-US" dirty="0">
                <a:solidFill>
                  <a:schemeClr val="tx1"/>
                </a:solidFill>
              </a:rPr>
              <a:t>8. LOCs of an application can be estimated from FPs. That is, they are </a:t>
            </a:r>
            <a:r>
              <a:rPr lang="en-US" dirty="0" err="1">
                <a:solidFill>
                  <a:schemeClr val="tx1"/>
                </a:solidFill>
              </a:rPr>
              <a:t>interconvertible</a:t>
            </a:r>
            <a:r>
              <a:rPr lang="en-US" dirty="0">
                <a:solidFill>
                  <a:schemeClr val="tx1"/>
                </a:solidFill>
              </a:rPr>
              <a:t>. </a:t>
            </a:r>
            <a:r>
              <a:rPr lang="en-US" b="1" dirty="0">
                <a:solidFill>
                  <a:schemeClr val="tx1"/>
                </a:solidFill>
              </a:rPr>
              <a:t>This process is known as backfiring</a:t>
            </a:r>
            <a:r>
              <a:rPr lang="en-US" dirty="0">
                <a:solidFill>
                  <a:schemeClr val="tx1"/>
                </a:solidFill>
              </a:rPr>
              <a:t>. For example, 1 FP is equal to about 100 lines of COBOL code.</a:t>
            </a:r>
          </a:p>
          <a:p>
            <a:pPr algn="just"/>
            <a:r>
              <a:rPr lang="en-US" dirty="0">
                <a:solidFill>
                  <a:schemeClr val="tx1"/>
                </a:solidFill>
              </a:rPr>
              <a:t>9. FP metrics is used mostly for measuring the size of Management Information System (MIS) software.</a:t>
            </a:r>
          </a:p>
          <a:p>
            <a:pPr algn="just"/>
            <a:r>
              <a:rPr lang="en-US" dirty="0">
                <a:solidFill>
                  <a:schemeClr val="tx1"/>
                </a:solidFill>
              </a:rPr>
              <a:t>10. But the function points obtained above are unadjusted function points (UFPs). These (UFPs) of a subsystem are further adjusted by considering some more General System Characteristics (GSCs). It is a set of 14 GSCs that need to be considered. </a:t>
            </a:r>
          </a:p>
        </p:txBody>
      </p:sp>
    </p:spTree>
    <p:extLst>
      <p:ext uri="{BB962C8B-B14F-4D97-AF65-F5344CB8AC3E}">
        <p14:creationId xmlns:p14="http://schemas.microsoft.com/office/powerpoint/2010/main" val="2485606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38200" y="990600"/>
            <a:ext cx="7696200" cy="5105400"/>
          </a:xfrm>
        </p:spPr>
        <p:txBody>
          <a:bodyPr>
            <a:normAutofit fontScale="92500" lnSpcReduction="10000"/>
          </a:bodyPr>
          <a:lstStyle/>
          <a:p>
            <a:pPr algn="just"/>
            <a:r>
              <a:rPr lang="en-US" dirty="0" smtClean="0">
                <a:solidFill>
                  <a:schemeClr val="tx1"/>
                </a:solidFill>
              </a:rPr>
              <a:t>The </a:t>
            </a:r>
            <a:r>
              <a:rPr lang="en-US" dirty="0">
                <a:solidFill>
                  <a:schemeClr val="tx1"/>
                </a:solidFill>
              </a:rPr>
              <a:t>procedure for adjusting UFPs is as follows:</a:t>
            </a:r>
          </a:p>
          <a:p>
            <a:pPr marL="514350" indent="-514350" algn="just">
              <a:buFont typeface="+mj-lt"/>
              <a:buAutoNum type="alphaLcParenR"/>
            </a:pPr>
            <a:r>
              <a:rPr lang="en-US" dirty="0">
                <a:solidFill>
                  <a:schemeClr val="tx1"/>
                </a:solidFill>
              </a:rPr>
              <a:t>Degree of Influence (DI) for each of these 14 GSCs is assessed on a scale of 0 to 5. (b) If a particular GSC has no influence, then its weight is taken as 0 and if it has a strong influence then its weight is 5</a:t>
            </a:r>
            <a:r>
              <a:rPr lang="en-US" dirty="0" smtClean="0">
                <a:solidFill>
                  <a:schemeClr val="tx1"/>
                </a:solidFill>
              </a:rPr>
              <a:t>.</a:t>
            </a:r>
          </a:p>
          <a:p>
            <a:pPr marL="514350" indent="-514350" algn="just">
              <a:buFont typeface="+mj-lt"/>
              <a:buAutoNum type="alphaLcParenR"/>
            </a:pPr>
            <a:r>
              <a:rPr lang="en-US" dirty="0" smtClean="0">
                <a:solidFill>
                  <a:schemeClr val="tx1"/>
                </a:solidFill>
              </a:rPr>
              <a:t>The </a:t>
            </a:r>
            <a:r>
              <a:rPr lang="en-US" dirty="0">
                <a:solidFill>
                  <a:schemeClr val="tx1"/>
                </a:solidFill>
              </a:rPr>
              <a:t>score of all 14 GSCs is totaled to determine Total Degree of Influence (TDI</a:t>
            </a:r>
            <a:r>
              <a:rPr lang="en-US" dirty="0" smtClean="0">
                <a:solidFill>
                  <a:schemeClr val="tx1"/>
                </a:solidFill>
              </a:rPr>
              <a:t>).</a:t>
            </a:r>
          </a:p>
          <a:p>
            <a:pPr marL="514350" indent="-514350" algn="just">
              <a:buFont typeface="+mj-lt"/>
              <a:buAutoNum type="alphaLcParenR"/>
            </a:pPr>
            <a:r>
              <a:rPr lang="en-US" dirty="0" smtClean="0">
                <a:solidFill>
                  <a:schemeClr val="tx1"/>
                </a:solidFill>
              </a:rPr>
              <a:t>Then </a:t>
            </a:r>
            <a:r>
              <a:rPr lang="en-US" dirty="0">
                <a:solidFill>
                  <a:schemeClr val="tx1"/>
                </a:solidFill>
              </a:rPr>
              <a:t>Value Adjustment Factor (VAF) is computed from TDI by using the formula: </a:t>
            </a:r>
            <a:r>
              <a:rPr lang="en-US" b="1" dirty="0">
                <a:solidFill>
                  <a:schemeClr val="tx1"/>
                </a:solidFill>
              </a:rPr>
              <a:t>VAF = (TDI * 0.01) + 0.65</a:t>
            </a:r>
            <a:endParaRPr lang="en-US" dirty="0">
              <a:solidFill>
                <a:schemeClr val="tx1"/>
              </a:solidFill>
            </a:endParaRPr>
          </a:p>
          <a:p>
            <a:pPr algn="just"/>
            <a:endParaRPr lang="en-US" dirty="0">
              <a:solidFill>
                <a:schemeClr val="tx1"/>
              </a:solidFill>
            </a:endParaRPr>
          </a:p>
        </p:txBody>
      </p:sp>
    </p:spTree>
    <p:extLst>
      <p:ext uri="{BB962C8B-B14F-4D97-AF65-F5344CB8AC3E}">
        <p14:creationId xmlns:p14="http://schemas.microsoft.com/office/powerpoint/2010/main" val="1995940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38200" y="990600"/>
            <a:ext cx="7696200" cy="5105400"/>
          </a:xfrm>
        </p:spPr>
        <p:txBody>
          <a:bodyPr>
            <a:normAutofit/>
          </a:bodyPr>
          <a:lstStyle/>
          <a:p>
            <a:pPr algn="just"/>
            <a:r>
              <a:rPr lang="en-US" dirty="0">
                <a:solidFill>
                  <a:schemeClr val="tx1"/>
                </a:solidFill>
              </a:rPr>
              <a:t>Remember that the value of VAF lies within 0.65 to 1.35 </a:t>
            </a:r>
            <a:r>
              <a:rPr lang="en-US" dirty="0" smtClean="0">
                <a:solidFill>
                  <a:schemeClr val="tx1"/>
                </a:solidFill>
              </a:rPr>
              <a:t>because</a:t>
            </a:r>
          </a:p>
          <a:p>
            <a:pPr marL="514350" indent="-514350" algn="just">
              <a:buFont typeface="+mj-lt"/>
              <a:buAutoNum type="alphaLcParenR"/>
            </a:pPr>
            <a:r>
              <a:rPr lang="en-US" dirty="0">
                <a:solidFill>
                  <a:schemeClr val="tx1"/>
                </a:solidFill>
              </a:rPr>
              <a:t>When TDI = 0, VAF = </a:t>
            </a:r>
            <a:r>
              <a:rPr lang="en-US" dirty="0" smtClean="0">
                <a:solidFill>
                  <a:schemeClr val="tx1"/>
                </a:solidFill>
              </a:rPr>
              <a:t>0.65</a:t>
            </a:r>
          </a:p>
          <a:p>
            <a:pPr marL="514350" indent="-514350" algn="just">
              <a:buFont typeface="+mj-lt"/>
              <a:buAutoNum type="alphaLcParenR"/>
            </a:pPr>
            <a:r>
              <a:rPr lang="en-US" dirty="0">
                <a:solidFill>
                  <a:schemeClr val="tx1"/>
                </a:solidFill>
              </a:rPr>
              <a:t> </a:t>
            </a:r>
            <a:r>
              <a:rPr lang="en-US" dirty="0" smtClean="0">
                <a:solidFill>
                  <a:schemeClr val="tx1"/>
                </a:solidFill>
              </a:rPr>
              <a:t>When </a:t>
            </a:r>
            <a:r>
              <a:rPr lang="en-US" dirty="0">
                <a:solidFill>
                  <a:schemeClr val="tx1"/>
                </a:solidFill>
              </a:rPr>
              <a:t>TDI = 70, VAF = </a:t>
            </a:r>
            <a:r>
              <a:rPr lang="en-US" dirty="0" smtClean="0">
                <a:solidFill>
                  <a:schemeClr val="tx1"/>
                </a:solidFill>
              </a:rPr>
              <a:t>1.35</a:t>
            </a:r>
          </a:p>
          <a:p>
            <a:pPr marL="514350" indent="-514350" algn="just">
              <a:buFont typeface="+mj-lt"/>
              <a:buAutoNum type="alphaLcParenR"/>
            </a:pPr>
            <a:r>
              <a:rPr lang="en-US" dirty="0">
                <a:solidFill>
                  <a:schemeClr val="tx1"/>
                </a:solidFill>
              </a:rPr>
              <a:t> </a:t>
            </a:r>
            <a:r>
              <a:rPr lang="en-US" dirty="0" smtClean="0">
                <a:solidFill>
                  <a:schemeClr val="tx1"/>
                </a:solidFill>
              </a:rPr>
              <a:t>VAF </a:t>
            </a:r>
            <a:r>
              <a:rPr lang="en-US" dirty="0">
                <a:solidFill>
                  <a:schemeClr val="tx1"/>
                </a:solidFill>
              </a:rPr>
              <a:t>is then multiplied with the UFP to get the final FP count: </a:t>
            </a:r>
            <a:r>
              <a:rPr lang="en-US" b="1" dirty="0">
                <a:solidFill>
                  <a:schemeClr val="tx1"/>
                </a:solidFill>
              </a:rPr>
              <a:t>FP = VAF * UFP</a:t>
            </a:r>
            <a:endParaRPr lang="en-US" dirty="0">
              <a:solidFill>
                <a:schemeClr val="tx1"/>
              </a:solidFill>
            </a:endParaRPr>
          </a:p>
          <a:p>
            <a:pPr algn="just"/>
            <a:endParaRPr lang="en-US" dirty="0">
              <a:solidFill>
                <a:schemeClr val="tx1"/>
              </a:solidFill>
            </a:endParaRPr>
          </a:p>
        </p:txBody>
      </p:sp>
    </p:spTree>
    <p:extLst>
      <p:ext uri="{BB962C8B-B14F-4D97-AF65-F5344CB8AC3E}">
        <p14:creationId xmlns:p14="http://schemas.microsoft.com/office/powerpoint/2010/main" val="31276053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545</Words>
  <Application>Microsoft Office PowerPoint</Application>
  <PresentationFormat>On-screen Show (4:3)</PresentationFormat>
  <Paragraphs>43</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Functional Point (FP) Analysis </vt:lpstr>
      <vt:lpstr>Objectives of FPA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Functional Point (FP) Analysis</dc:title>
  <dc:creator>tara</dc:creator>
  <cp:lastModifiedBy>tara</cp:lastModifiedBy>
  <cp:revision>4</cp:revision>
  <dcterms:created xsi:type="dcterms:W3CDTF">2022-09-20T04:44:42Z</dcterms:created>
  <dcterms:modified xsi:type="dcterms:W3CDTF">2022-09-20T05:17:58Z</dcterms:modified>
</cp:coreProperties>
</file>