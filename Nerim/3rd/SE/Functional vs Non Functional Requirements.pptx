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4632F28-0B7F-485C-8B89-AF4F64BFC5F6}"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170657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632F28-0B7F-485C-8B89-AF4F64BFC5F6}"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3281711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632F28-0B7F-485C-8B89-AF4F64BFC5F6}"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1971763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4632F28-0B7F-485C-8B89-AF4F64BFC5F6}"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2768168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632F28-0B7F-485C-8B89-AF4F64BFC5F6}" type="datetimeFigureOut">
              <a:rPr lang="en-US" smtClean="0"/>
              <a:t>10/12/2022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130081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4632F28-0B7F-485C-8B89-AF4F64BFC5F6}" type="datetimeFigureOut">
              <a:rPr lang="en-US" smtClean="0"/>
              <a:t>10/12/2022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130131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632F28-0B7F-485C-8B89-AF4F64BFC5F6}" type="datetimeFigureOut">
              <a:rPr lang="en-US" smtClean="0"/>
              <a:t>10/12/2022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4080148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632F28-0B7F-485C-8B89-AF4F64BFC5F6}"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2305984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632F28-0B7F-485C-8B89-AF4F64BFC5F6}"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1419985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632F28-0B7F-485C-8B89-AF4F64BFC5F6}"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1075417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632F28-0B7F-485C-8B89-AF4F64BFC5F6}"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63C39-6C8C-4B4C-8B04-CB1B3511CC73}" type="slidenum">
              <a:rPr lang="en-US" smtClean="0"/>
              <a:t>‹#›</a:t>
            </a:fld>
            <a:endParaRPr lang="en-US"/>
          </a:p>
        </p:txBody>
      </p:sp>
    </p:spTree>
    <p:extLst>
      <p:ext uri="{BB962C8B-B14F-4D97-AF65-F5344CB8AC3E}">
        <p14:creationId xmlns:p14="http://schemas.microsoft.com/office/powerpoint/2010/main" val="629565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632F28-0B7F-485C-8B89-AF4F64BFC5F6}" type="datetimeFigureOut">
              <a:rPr lang="en-US" smtClean="0"/>
              <a:t>10/12/2022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763C39-6C8C-4B4C-8B04-CB1B3511CC73}" type="slidenum">
              <a:rPr lang="en-US" smtClean="0"/>
              <a:t>‹#›</a:t>
            </a:fld>
            <a:endParaRPr lang="en-US"/>
          </a:p>
        </p:txBody>
      </p:sp>
    </p:spTree>
    <p:extLst>
      <p:ext uri="{BB962C8B-B14F-4D97-AF65-F5344CB8AC3E}">
        <p14:creationId xmlns:p14="http://schemas.microsoft.com/office/powerpoint/2010/main" val="1492771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68590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19200"/>
          </a:xfrm>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sp>
        <p:nvSpPr>
          <p:cNvPr id="3" name="Subtitle 2"/>
          <p:cNvSpPr>
            <a:spLocks noGrp="1"/>
          </p:cNvSpPr>
          <p:nvPr>
            <p:ph type="subTitle" idx="1"/>
          </p:nvPr>
        </p:nvSpPr>
        <p:spPr>
          <a:xfrm>
            <a:off x="533400" y="1752600"/>
            <a:ext cx="8077200" cy="4724400"/>
          </a:xfrm>
        </p:spPr>
        <p:txBody>
          <a:bodyPr>
            <a:noAutofit/>
          </a:bodyPr>
          <a:lstStyle/>
          <a:p>
            <a:pPr algn="just" fontAlgn="base"/>
            <a:r>
              <a:rPr lang="en-US" sz="2400" dirty="0">
                <a:solidFill>
                  <a:schemeClr val="tx1"/>
                </a:solidFill>
                <a:latin typeface="Times New Roman" pitchFamily="18" charset="0"/>
                <a:cs typeface="Times New Roman" pitchFamily="18" charset="0"/>
              </a:rPr>
              <a:t>Requirements analysis is very critical process that enables the success of a system or software project to be assessed. Requirements are generally split into two types: </a:t>
            </a:r>
            <a:r>
              <a:rPr lang="en-US" sz="2400" i="1" dirty="0">
                <a:solidFill>
                  <a:schemeClr val="tx1"/>
                </a:solidFill>
                <a:latin typeface="Times New Roman" pitchFamily="18" charset="0"/>
                <a:cs typeface="Times New Roman" pitchFamily="18" charset="0"/>
              </a:rPr>
              <a:t>Functional</a:t>
            </a:r>
            <a:r>
              <a:rPr lang="en-US" sz="2400" dirty="0">
                <a:solidFill>
                  <a:schemeClr val="tx1"/>
                </a:solidFill>
                <a:latin typeface="Times New Roman" pitchFamily="18" charset="0"/>
                <a:cs typeface="Times New Roman" pitchFamily="18" charset="0"/>
              </a:rPr>
              <a:t> and </a:t>
            </a:r>
            <a:r>
              <a:rPr lang="en-US" sz="2400" i="1" dirty="0">
                <a:solidFill>
                  <a:schemeClr val="tx1"/>
                </a:solidFill>
                <a:latin typeface="Times New Roman" pitchFamily="18" charset="0"/>
                <a:cs typeface="Times New Roman" pitchFamily="18" charset="0"/>
              </a:rPr>
              <a:t>Non-functional requirements</a:t>
            </a:r>
            <a:r>
              <a:rPr lang="en-US" sz="2400" dirty="0">
                <a:solidFill>
                  <a:schemeClr val="tx1"/>
                </a:solidFill>
                <a:latin typeface="Times New Roman" pitchFamily="18" charset="0"/>
                <a:cs typeface="Times New Roman" pitchFamily="18" charset="0"/>
              </a:rPr>
              <a:t>.</a:t>
            </a:r>
          </a:p>
          <a:p>
            <a:pPr algn="just" fontAlgn="base"/>
            <a:r>
              <a:rPr lang="en-US" sz="2400" b="1" dirty="0">
                <a:solidFill>
                  <a:schemeClr val="tx1"/>
                </a:solidFill>
                <a:latin typeface="Times New Roman" pitchFamily="18" charset="0"/>
                <a:cs typeface="Times New Roman" pitchFamily="18" charset="0"/>
              </a:rPr>
              <a:t>Functional Requirements:</a:t>
            </a:r>
            <a:r>
              <a:rPr lang="en-US" sz="2400" dirty="0">
                <a:solidFill>
                  <a:schemeClr val="tx1"/>
                </a:solidFill>
                <a:latin typeface="Times New Roman" pitchFamily="18" charset="0"/>
                <a:cs typeface="Times New Roman"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a:p>
            <a:pPr algn="just"/>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16015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19200"/>
          </a:xfrm>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sp>
        <p:nvSpPr>
          <p:cNvPr id="3" name="Subtitle 2"/>
          <p:cNvSpPr>
            <a:spLocks noGrp="1"/>
          </p:cNvSpPr>
          <p:nvPr>
            <p:ph type="subTitle" idx="1"/>
          </p:nvPr>
        </p:nvSpPr>
        <p:spPr>
          <a:xfrm>
            <a:off x="533400" y="1752600"/>
            <a:ext cx="8077200" cy="4724400"/>
          </a:xfrm>
        </p:spPr>
        <p:txBody>
          <a:bodyPr>
            <a:noAutofit/>
          </a:bodyPr>
          <a:lstStyle/>
          <a:p>
            <a:pPr algn="just" fontAlgn="base"/>
            <a:r>
              <a:rPr lang="en-US" sz="2000" b="1" dirty="0">
                <a:solidFill>
                  <a:schemeClr val="tx1"/>
                </a:solidFill>
                <a:latin typeface="Times New Roman" pitchFamily="18" charset="0"/>
                <a:cs typeface="Times New Roman" pitchFamily="18" charset="0"/>
              </a:rPr>
              <a:t>Non-functional requirements:</a:t>
            </a:r>
            <a:r>
              <a:rPr lang="en-US" sz="2000" dirty="0">
                <a:solidFill>
                  <a:schemeClr val="tx1"/>
                </a:solidFill>
                <a:latin typeface="Times New Roman" pitchFamily="18" charset="0"/>
                <a:cs typeface="Times New Roman"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solidFill>
                  <a:schemeClr val="tx1"/>
                </a:solidFill>
                <a:latin typeface="Times New Roman" pitchFamily="18" charset="0"/>
                <a:cs typeface="Times New Roman" pitchFamily="18" charset="0"/>
              </a:rPr>
            </a:br>
            <a:r>
              <a:rPr lang="en-US" sz="2000" dirty="0">
                <a:solidFill>
                  <a:schemeClr val="tx1"/>
                </a:solidFill>
                <a:latin typeface="Times New Roman" pitchFamily="18" charset="0"/>
                <a:cs typeface="Times New Roman" pitchFamily="18" charset="0"/>
              </a:rPr>
              <a:t>They basically deal with issues like:</a:t>
            </a:r>
          </a:p>
          <a:p>
            <a:pPr algn="just" fontAlgn="base"/>
            <a:r>
              <a:rPr lang="en-US" sz="2000" dirty="0">
                <a:solidFill>
                  <a:schemeClr val="tx1"/>
                </a:solidFill>
                <a:latin typeface="Times New Roman" pitchFamily="18" charset="0"/>
                <a:cs typeface="Times New Roman" pitchFamily="18" charset="0"/>
              </a:rPr>
              <a:t>Portability</a:t>
            </a:r>
          </a:p>
          <a:p>
            <a:pPr algn="just" fontAlgn="base"/>
            <a:r>
              <a:rPr lang="en-US" sz="2000" dirty="0">
                <a:solidFill>
                  <a:schemeClr val="tx1"/>
                </a:solidFill>
                <a:latin typeface="Times New Roman" pitchFamily="18" charset="0"/>
                <a:cs typeface="Times New Roman" pitchFamily="18" charset="0"/>
              </a:rPr>
              <a:t>Security</a:t>
            </a:r>
          </a:p>
          <a:p>
            <a:pPr algn="just" fontAlgn="base"/>
            <a:r>
              <a:rPr lang="en-US" sz="2000" dirty="0">
                <a:solidFill>
                  <a:schemeClr val="tx1"/>
                </a:solidFill>
                <a:latin typeface="Times New Roman" pitchFamily="18" charset="0"/>
                <a:cs typeface="Times New Roman" pitchFamily="18" charset="0"/>
              </a:rPr>
              <a:t>Maintainability</a:t>
            </a:r>
          </a:p>
          <a:p>
            <a:pPr algn="just" fontAlgn="base"/>
            <a:r>
              <a:rPr lang="en-US" sz="2000" dirty="0">
                <a:solidFill>
                  <a:schemeClr val="tx1"/>
                </a:solidFill>
                <a:latin typeface="Times New Roman" pitchFamily="18" charset="0"/>
                <a:cs typeface="Times New Roman" pitchFamily="18" charset="0"/>
              </a:rPr>
              <a:t>Reliability</a:t>
            </a:r>
          </a:p>
          <a:p>
            <a:pPr algn="just" fontAlgn="base"/>
            <a:r>
              <a:rPr lang="en-US" sz="2000" dirty="0">
                <a:solidFill>
                  <a:schemeClr val="tx1"/>
                </a:solidFill>
                <a:latin typeface="Times New Roman" pitchFamily="18" charset="0"/>
                <a:cs typeface="Times New Roman" pitchFamily="18" charset="0"/>
              </a:rPr>
              <a:t>Scalability</a:t>
            </a:r>
          </a:p>
          <a:p>
            <a:pPr algn="just" fontAlgn="base"/>
            <a:r>
              <a:rPr lang="en-US" sz="2000" dirty="0">
                <a:solidFill>
                  <a:schemeClr val="tx1"/>
                </a:solidFill>
                <a:latin typeface="Times New Roman" pitchFamily="18" charset="0"/>
                <a:cs typeface="Times New Roman" pitchFamily="18" charset="0"/>
              </a:rPr>
              <a:t>Performance</a:t>
            </a:r>
          </a:p>
          <a:p>
            <a:pPr algn="just" fontAlgn="base"/>
            <a:r>
              <a:rPr lang="en-US" sz="2000" dirty="0">
                <a:solidFill>
                  <a:schemeClr val="tx1"/>
                </a:solidFill>
                <a:latin typeface="Times New Roman" pitchFamily="18" charset="0"/>
                <a:cs typeface="Times New Roman" pitchFamily="18" charset="0"/>
              </a:rPr>
              <a:t>Reusability</a:t>
            </a:r>
          </a:p>
          <a:p>
            <a:pPr algn="just" fontAlgn="base"/>
            <a:r>
              <a:rPr lang="en-US" sz="2000" dirty="0">
                <a:solidFill>
                  <a:schemeClr val="tx1"/>
                </a:solidFill>
                <a:latin typeface="Times New Roman" pitchFamily="18" charset="0"/>
                <a:cs typeface="Times New Roman" pitchFamily="18" charset="0"/>
              </a:rPr>
              <a:t>Flexibility</a:t>
            </a:r>
          </a:p>
          <a:p>
            <a:pPr algn="just"/>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68142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19200"/>
          </a:xfrm>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sp>
        <p:nvSpPr>
          <p:cNvPr id="3" name="Subtitle 2"/>
          <p:cNvSpPr>
            <a:spLocks noGrp="1"/>
          </p:cNvSpPr>
          <p:nvPr>
            <p:ph type="subTitle" idx="1"/>
          </p:nvPr>
        </p:nvSpPr>
        <p:spPr>
          <a:xfrm>
            <a:off x="533400" y="1752600"/>
            <a:ext cx="8077200" cy="4724400"/>
          </a:xfrm>
        </p:spPr>
        <p:txBody>
          <a:bodyPr>
            <a:noAutofit/>
          </a:bodyPr>
          <a:lstStyle/>
          <a:p>
            <a:pPr algn="just" fontAlgn="base"/>
            <a:r>
              <a:rPr lang="en-US" sz="2000" b="1" dirty="0">
                <a:solidFill>
                  <a:schemeClr val="tx1"/>
                </a:solidFill>
              </a:rPr>
              <a:t>Following are the differences between Functional and Non Functional </a:t>
            </a:r>
            <a:r>
              <a:rPr lang="en-US" sz="2000" b="1" dirty="0" smtClean="0">
                <a:solidFill>
                  <a:schemeClr val="tx1"/>
                </a:solidFill>
              </a:rPr>
              <a:t>Requirements</a:t>
            </a:r>
          </a:p>
          <a:p>
            <a:pPr algn="just" fontAlgn="base"/>
            <a:endParaRPr lang="en-US" sz="2000"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743200"/>
            <a:ext cx="743638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723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19200"/>
          </a:xfrm>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46" y="1657350"/>
            <a:ext cx="7922854" cy="489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8530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19200"/>
          </a:xfrm>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47863"/>
            <a:ext cx="8163429" cy="422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613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1219200"/>
          </a:xfrm>
        </p:spPr>
        <p:txBody>
          <a:bodyPr>
            <a:normAutofit fontScale="90000"/>
          </a:bodyPr>
          <a:lstStyle/>
          <a:p>
            <a:r>
              <a:rPr lang="en-US" b="1" dirty="0">
                <a:solidFill>
                  <a:schemeClr val="tx2"/>
                </a:solidFill>
              </a:rPr>
              <a:t>Functional </a:t>
            </a:r>
            <a:r>
              <a:rPr lang="en-US" b="1" dirty="0" err="1">
                <a:solidFill>
                  <a:schemeClr val="tx2"/>
                </a:solidFill>
              </a:rPr>
              <a:t>vs</a:t>
            </a:r>
            <a:r>
              <a:rPr lang="en-US" b="1" dirty="0">
                <a:solidFill>
                  <a:schemeClr val="tx2"/>
                </a:solidFill>
              </a:rPr>
              <a:t> Non Functional Requirements</a:t>
            </a:r>
            <a:br>
              <a:rPr lang="en-US" b="1" dirty="0">
                <a:solidFill>
                  <a:schemeClr val="tx2"/>
                </a:solidFill>
              </a:rPr>
            </a:br>
            <a:endParaRPr lang="en-US" dirty="0">
              <a:solidFill>
                <a:schemeClr val="tx2"/>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71613"/>
            <a:ext cx="7851763"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0528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76</Words>
  <Application>Microsoft Office PowerPoint</Application>
  <PresentationFormat>On-screen Show (4:3)</PresentationFormat>
  <Paragraphs>19</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Functional vs Non Functional Requirements </vt:lpstr>
      <vt:lpstr>Functional vs Non Functional Requirements </vt:lpstr>
      <vt:lpstr>Functional vs Non Functional Requirements </vt:lpstr>
      <vt:lpstr>Functional vs Non Functional Requirements </vt:lpstr>
      <vt:lpstr>Functional vs Non Functional Requirements </vt:lpstr>
      <vt:lpstr>Functional vs Non Functional Requirements </vt:lpstr>
      <vt:lpstr>Functional vs Non Functional Requirements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vs Non Functional Requirements</dc:title>
  <dc:creator>tara</dc:creator>
  <cp:lastModifiedBy>tara</cp:lastModifiedBy>
  <cp:revision>2</cp:revision>
  <dcterms:created xsi:type="dcterms:W3CDTF">2022-10-12T07:50:08Z</dcterms:created>
  <dcterms:modified xsi:type="dcterms:W3CDTF">2022-10-12T08:10:43Z</dcterms:modified>
</cp:coreProperties>
</file>